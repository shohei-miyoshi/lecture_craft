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78318f76c44057" /><Relationship Type="http://schemas.openxmlformats.org/officeDocument/2006/relationships/extended-properties" Target="/docProps/app.xml" Id="Rcc658fd276dd4e1b" /><Relationship Type="http://schemas.openxmlformats.org/officeDocument/2006/relationships/officeDocument" Target="/ppt/presentation.xml" Id="R728dfdd44f4743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8a73483fa44cf6"/>
  </p:sldMasterIdLst>
  <p:notesMasterIdLst>
    <p:notesMasterId xmlns:r="http://schemas.openxmlformats.org/officeDocument/2006/relationships" r:id="R24d59ea8e2574d35"/>
  </p:notesMasterIdLst>
  <p:sldIdLst>
    <p:sldId xmlns:r="http://schemas.openxmlformats.org/officeDocument/2006/relationships" id="256" r:id="Ref3a5b3be52d42a6"/>
    <p:sldId xmlns:r="http://schemas.openxmlformats.org/officeDocument/2006/relationships" id="257" r:id="R4af873908a3e4869"/>
    <p:sldId xmlns:r="http://schemas.openxmlformats.org/officeDocument/2006/relationships" id="258" r:id="R9159453006eb4fe0"/>
    <p:sldId xmlns:r="http://schemas.openxmlformats.org/officeDocument/2006/relationships" id="259" r:id="R0042e1d8c5ed4f36"/>
    <p:sldId xmlns:r="http://schemas.openxmlformats.org/officeDocument/2006/relationships" id="260" r:id="R1176fb521c024352"/>
    <p:sldId xmlns:r="http://schemas.openxmlformats.org/officeDocument/2006/relationships" id="261" r:id="R5617182471c843ce"/>
    <p:sldId xmlns:r="http://schemas.openxmlformats.org/officeDocument/2006/relationships" id="262" r:id="R644b3949393e44b3"/>
    <p:sldId xmlns:r="http://schemas.openxmlformats.org/officeDocument/2006/relationships" id="263" r:id="R503000503acc4bc9"/>
    <p:sldId xmlns:r="http://schemas.openxmlformats.org/officeDocument/2006/relationships" id="264" r:id="Ra27059a42602422c"/>
    <p:sldId xmlns:r="http://schemas.openxmlformats.org/officeDocument/2006/relationships" id="265" r:id="R6eb77aa2b3544370"/>
    <p:sldId xmlns:r="http://schemas.openxmlformats.org/officeDocument/2006/relationships" id="266" r:id="Rb54f22f6a18642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d098ee002e425b" /><Relationship Type="http://schemas.openxmlformats.org/officeDocument/2006/relationships/slideMaster" Target="/ppt/slideMasters/slideMaster1.xml" Id="Rc88a73483fa44cf6" /><Relationship Type="http://schemas.openxmlformats.org/officeDocument/2006/relationships/notesMaster" Target="/ppt/notesMasters/notesMaster1.xml" Id="R24d59ea8e2574d35" /><Relationship Type="http://schemas.openxmlformats.org/officeDocument/2006/relationships/presProps" Target="/ppt/presProps.xml" Id="Rcb2c509e3c5e44ac" /><Relationship Type="http://schemas.openxmlformats.org/officeDocument/2006/relationships/tableStyles" Target="/ppt/tableStyles.xml" Id="R74c1c7e00287481c" /><Relationship Type="http://schemas.openxmlformats.org/officeDocument/2006/relationships/slide" Target="/ppt/slides/slide1.xml" Id="Ref3a5b3be52d42a6" /><Relationship Type="http://schemas.openxmlformats.org/officeDocument/2006/relationships/slide" Target="/ppt/slides/slide2.xml" Id="R4af873908a3e4869" /><Relationship Type="http://schemas.openxmlformats.org/officeDocument/2006/relationships/slide" Target="/ppt/slides/slide3.xml" Id="R9159453006eb4fe0" /><Relationship Type="http://schemas.openxmlformats.org/officeDocument/2006/relationships/slide" Target="/ppt/slides/slide4.xml" Id="R0042e1d8c5ed4f36" /><Relationship Type="http://schemas.openxmlformats.org/officeDocument/2006/relationships/slide" Target="/ppt/slides/slide5.xml" Id="R1176fb521c024352" /><Relationship Type="http://schemas.openxmlformats.org/officeDocument/2006/relationships/slide" Target="/ppt/slides/slide6.xml" Id="R5617182471c843ce" /><Relationship Type="http://schemas.openxmlformats.org/officeDocument/2006/relationships/slide" Target="/ppt/slides/slide7.xml" Id="R644b3949393e44b3" /><Relationship Type="http://schemas.openxmlformats.org/officeDocument/2006/relationships/slide" Target="/ppt/slides/slide8.xml" Id="R503000503acc4bc9" /><Relationship Type="http://schemas.openxmlformats.org/officeDocument/2006/relationships/slide" Target="/ppt/slides/slide9.xml" Id="Ra27059a42602422c" /><Relationship Type="http://schemas.openxmlformats.org/officeDocument/2006/relationships/slide" Target="/ppt/slides/slide10.xml" Id="R6eb77aa2b3544370" /><Relationship Type="http://schemas.openxmlformats.org/officeDocument/2006/relationships/slide" Target="/ppt/slides/slide11.xml" Id="Rb54f22f6a18642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33773d87b04f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8d89e6a48a4dbb" /><Relationship Type="http://schemas.openxmlformats.org/officeDocument/2006/relationships/notesMaster" Target="/ppt/notesMasters/notesMaster1.xml" Id="Rf534a3bf4e4d44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59ad9137e4465c" /><Relationship Type="http://schemas.openxmlformats.org/officeDocument/2006/relationships/notesMaster" Target="/ppt/notesMasters/notesMaster1.xml" Id="R5509dac9623049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fce11f1baf4696" /><Relationship Type="http://schemas.openxmlformats.org/officeDocument/2006/relationships/notesMaster" Target="/ppt/notesMasters/notesMaster1.xml" Id="R3f6b608ce19646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1816b1b0344618" /><Relationship Type="http://schemas.openxmlformats.org/officeDocument/2006/relationships/notesMaster" Target="/ppt/notesMasters/notesMaster1.xml" Id="R5887d850464544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8bef71e9d4564" /><Relationship Type="http://schemas.openxmlformats.org/officeDocument/2006/relationships/notesMaster" Target="/ppt/notesMasters/notesMaster1.xml" Id="R6a6c134ca48342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73c8903b504d01" /><Relationship Type="http://schemas.openxmlformats.org/officeDocument/2006/relationships/notesMaster" Target="/ppt/notesMasters/notesMaster1.xml" Id="R2f0297359a9441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e092848a8741fb" /><Relationship Type="http://schemas.openxmlformats.org/officeDocument/2006/relationships/notesMaster" Target="/ppt/notesMasters/notesMaster1.xml" Id="R9e1513ef3a5742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c8378637884e45" /><Relationship Type="http://schemas.openxmlformats.org/officeDocument/2006/relationships/notesMaster" Target="/ppt/notesMasters/notesMaster1.xml" Id="R496b692b49df48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d8179311e249d7" /><Relationship Type="http://schemas.openxmlformats.org/officeDocument/2006/relationships/notesMaster" Target="/ppt/notesMasters/notesMaster1.xml" Id="Re12b04cf20d544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caa32d6eba4950" /><Relationship Type="http://schemas.openxmlformats.org/officeDocument/2006/relationships/notesMaster" Target="/ppt/notesMasters/notesMaster1.xml" Id="R68f980cbaa0140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bbe1b08679404d" /><Relationship Type="http://schemas.openxmlformats.org/officeDocument/2006/relationships/notesMaster" Target="/ppt/notesMasters/notesMaster1.xml" Id="R1ba0beaefaf646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今回の報告は、好み学習の効果を確定するものではなく、実装成立性と失敗モードを確認した予備実験です。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/Users/shohei/Documents/dev/lecture_craft/backend/experiments/preference_growth/reports/pilot-20260815.md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KGのオン・オフ比較ではありません。KGを常時利用した状態で、好み記憶による差を見ています。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/Users/shohei/Documents/dev/lecture_craft/backend/experiments/preference_growth/reports/pilot-20260815.md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模擬編集では、研究者が設定した各好み方針に照らして、違和感のある箇所だけを編集しました。編集回数は固定していません。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/Users/shohei/Documents/dev/lecture_craft/backend/experiments/preference_growth/reports/pilot-20260815.md</a:t>
            </a:r>
          </a:p>
          <a:p xmlns:a="http://schemas.openxmlformats.org/drawingml/2006/main">
            <a:r>
              <a:t>- /Users/shohei/Documents/dev/lecture_craft/backend/experiments/preference_growth/local/pilot-20260815-a/reports/process_and_edit_examples.md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1回目で学習し、2・3回目でControlとTreatmentを比較しました。模擬編集は必要な文だけを対象としました。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/Users/shohei/Documents/dev/lecture_craft/backend/experiments/preference_growth/reports/pilot-20260815.md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主要指標は編集負担と編集文率です。好み適合度、内容忠実度、自然さ、過剰適用数はLLMによる補助評価としてのみ使いました。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/Users/shohei/Documents/dev/lecture_craft/backend/experiments/preference_growth/reports/pilot-20260815.md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結論先行3回目はControlの編集負担が0で相対削減率を計算できないため、グラフから除外しています。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/Users/shohei/Documents/dev/lecture_craft/backend/experiments/preference_growth/reports/pilot-20260815.md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この表は全ラウンド・両条件を合計した編集頻度です。編集者に件数や割合は指定していません。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/Users/shohei/Documents/dev/lecture_craft/backend/experiments/preference_growth/local/pilot-20260815-a/reports/process_and_edit_examples.md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この事例では、編集から抽出した好みが後続生成に反映され、同じ方針による修正が不要になりました。ただし1生成の事例であり、再現性は今後確認します。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/Users/shohei/Documents/dev/lecture_craft/backend/experiments/preference_growth/local/pilot-20260815-a/reports/process_and_edit_examples.md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悪化例も結果としてそのまま示します。原因は断定せず、重複した指示が過剰適用を誘発した可能性として扱います。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/Users/shohei/Documents/dev/lecture_craft/backend/experiments/preference_growth/reports/pilot-20260815.md</a:t>
            </a:r>
          </a:p>
          <a:p xmlns:a="http://schemas.openxmlformats.org/drawingml/2006/main">
            <a:r>
              <a:t>- /Users/shohei/Documents/dev/lecture_craft/backend/experiments/preference_growth/local/pilot-20260815-a/reports/process_and_edit_examples.md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補助評価の一部では、好みの過剰適用と教材外情報の追加が混同されました。その数値は主要結論には使っていません。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/Users/shohei/Documents/dev/lecture_craft/backend/experiments/preference_growth/reports/pilot-20260815.md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次回は重複統合あり・なしを比較し、各条件を複数回生成します。その後、実ユーザで編集量と主観評価を確認します。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/Users/shohei/Documents/dev/lecture_craft/backend/experiments/preference_growth/reports/pilot-20260815.md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feb6c6beb4b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18b15e61e04be1" /><Relationship Type="http://schemas.openxmlformats.org/officeDocument/2006/relationships/slideLayout" Target="/ppt/slideLayouts/slideLayout1.xml" Id="R53463921df164a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463921df164a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6280ffb9e4cc0" /><Relationship Type="http://schemas.openxmlformats.org/officeDocument/2006/relationships/notesSlide" Target="/ppt/notesSlides/notesSlide1.xml" Id="R54877c234d8a4b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1eda2dda04e5e" /><Relationship Type="http://schemas.openxmlformats.org/officeDocument/2006/relationships/notesSlide" Target="/ppt/notesSlides/notesSlide2.xml" Id="R9719928536374a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929483db848a8" /><Relationship Type="http://schemas.openxmlformats.org/officeDocument/2006/relationships/notesSlide" Target="/ppt/notesSlides/notesSlide3.xml" Id="R45164af8b77c4e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b14ff2c974bcc" /><Relationship Type="http://schemas.openxmlformats.org/officeDocument/2006/relationships/notesSlide" Target="/ppt/notesSlides/notesSlide4.xml" Id="Rdcd4ce2b604f44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741370385453b" /><Relationship Type="http://schemas.openxmlformats.org/officeDocument/2006/relationships/notesSlide" Target="/ppt/notesSlides/notesSlide5.xml" Id="R2fe45256879b44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b81b25f4d4700" /><Relationship Type="http://schemas.openxmlformats.org/officeDocument/2006/relationships/chart" Target="/ppt/slides/charts/chart1.xml" Id="Re45fd3b7a7154bfc" /><Relationship Type="http://schemas.openxmlformats.org/officeDocument/2006/relationships/notesSlide" Target="/ppt/notesSlides/notesSlide6.xml" Id="R0b1f217b106549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6b5ba37644692" /><Relationship Type="http://schemas.openxmlformats.org/officeDocument/2006/relationships/notesSlide" Target="/ppt/notesSlides/notesSlide7.xml" Id="Rd369c575c2794f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198b78b0746ad" /><Relationship Type="http://schemas.openxmlformats.org/officeDocument/2006/relationships/notesSlide" Target="/ppt/notesSlides/notesSlide8.xml" Id="R1f5be51e59714b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d43a36ecd48a1" /><Relationship Type="http://schemas.openxmlformats.org/officeDocument/2006/relationships/notesSlide" Target="/ppt/notesSlides/notesSlide9.xml" Id="R0d33a5ae854148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3130fc3dd404d" /><Relationship Type="http://schemas.openxmlformats.org/officeDocument/2006/relationships/notesSlide" Target="/ppt/notesSlides/notesSlide10.xml" Id="Rb69b2b2bb80845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dd05e43b447e9" /><Relationship Type="http://schemas.openxmlformats.org/officeDocument/2006/relationships/notesSlide" Target="/ppt/notesSlides/notesSlide11.xml" Id="R73cf066f2ae54f5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編集負担の相対変化（%）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Lit>
              <c:ptCount val="7"/>
              <c:pt idx="0">
                <c:v>定義 2回目</c:v>
              </c:pt>
              <c:pt idx="1">
                <c:v>定義 3回目</c:v>
              </c:pt>
              <c:pt idx="2">
                <c:v>具体例 2回目</c:v>
              </c:pt>
              <c:pt idx="3">
                <c:v>具体例 3回目</c:v>
              </c:pt>
              <c:pt idx="4">
                <c:v>結論 2回目</c:v>
              </c:pt>
              <c:pt idx="5">
                <c:v>簡潔 2回目</c:v>
              </c:pt>
              <c:pt idx="6">
                <c:v>簡潔 3回目</c:v>
              </c:pt>
            </c:strLit>
          </c:cat>
          <c:val>
            <c:numLit>
              <c:formatCode>General</c:formatCode>
              <c:ptCount val="7"/>
              <c:pt idx="0">
                <c:v>55.2</c:v>
              </c:pt>
              <c:pt idx="1">
                <c:v>27.3</c:v>
              </c:pt>
              <c:pt idx="2">
                <c:v>22.8</c:v>
              </c:pt>
              <c:pt idx="3">
                <c:v>-23.9</c:v>
              </c:pt>
              <c:pt idx="4">
                <c:v>100</c:v>
              </c:pt>
              <c:pt idx="5">
                <c:v>48.2</c:v>
              </c:pt>
              <c:pt idx="6">
                <c:v>27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-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5AAEB54-C6E7-4242-A3C3-D3C5B5C2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研究進捗報告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1CFED20-4502-4900-813D-9485DF62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952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編集履歴から成長する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講義台本生成システム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4006BB99-227B-4E44-ADF1-2961D789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好み抽出・反映機能の試作と予備実験</a:t>
            </a:r>
          </a:p>
        </p:txBody>
      </p:sp>
    </p:spTree>
    <p:extLst>
      <p:ext uri="{BB962C8B-B14F-4D97-AF65-F5344CB8AC3E}">
        <p14:creationId xmlns:p14="http://schemas.microsoft.com/office/powerpoint/2010/main" val="196768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389675A8-16C6-47C3-92E1-99F49F77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KGと好み記憶は、異なる役割を持つ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7560BC68-9E86-4AE5-AC74-27220EA9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kg-panel">
            <a:extLst xmlns:a="http://schemas.openxmlformats.org/drawingml/2006/main">
              <a:ext uri="{FF2B5EF4-FFF2-40B4-BE49-F238E27FC236}">
                <a16:creationId xmlns:a16="http://schemas.microsoft.com/office/drawing/2014/main" id="{888070DA-D2DA-42DE-A560-1A711775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334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f-panel">
            <a:extLst xmlns:a="http://schemas.openxmlformats.org/drawingml/2006/main">
              <a:ext uri="{FF2B5EF4-FFF2-40B4-BE49-F238E27FC236}">
                <a16:creationId xmlns:a16="http://schemas.microsoft.com/office/drawing/2014/main" id="{A32B1FB5-3CAC-4522-A60F-602C8CE3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24000"/>
            <a:ext cx="5334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g-head">
            <a:extLst xmlns:a="http://schemas.openxmlformats.org/drawingml/2006/main">
              <a:ext uri="{FF2B5EF4-FFF2-40B4-BE49-F238E27FC236}">
                <a16:creationId xmlns:a16="http://schemas.microsoft.com/office/drawing/2014/main" id="{D901BB5D-7562-40AD-A84D-2504F0E9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KG</a:t>
            </a:r>
          </a:p>
        </p:txBody>
      </p:sp>
      <p:sp>
        <p:nvSpPr>
          <p:cNvPr id="6" name="kg-copy">
            <a:extLst xmlns:a="http://schemas.openxmlformats.org/drawingml/2006/main">
              <a:ext uri="{FF2B5EF4-FFF2-40B4-BE49-F238E27FC236}">
                <a16:creationId xmlns:a16="http://schemas.microsoft.com/office/drawing/2014/main" id="{86B5FB8A-D7D4-4C51-9005-B1D85CCD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スライド内容の理解を補助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初回から常に使用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今回の比較対象ではない</a:t>
            </a:r>
          </a:p>
        </p:txBody>
      </p:sp>
      <p:sp>
        <p:nvSpPr>
          <p:cNvPr id="7" name="pref-head">
            <a:extLst xmlns:a="http://schemas.openxmlformats.org/drawingml/2006/main">
              <a:ext uri="{FF2B5EF4-FFF2-40B4-BE49-F238E27FC236}">
                <a16:creationId xmlns:a16="http://schemas.microsoft.com/office/drawing/2014/main" id="{60A9641A-7EE5-41C8-9B39-026F8BEA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好み記憶</a:t>
            </a:r>
          </a:p>
        </p:txBody>
      </p:sp>
      <p:sp>
        <p:nvSpPr>
          <p:cNvPr id="8" name="pref-copy">
            <a:extLst xmlns:a="http://schemas.openxmlformats.org/drawingml/2006/main">
              <a:ext uri="{FF2B5EF4-FFF2-40B4-BE49-F238E27FC236}">
                <a16:creationId xmlns:a16="http://schemas.microsoft.com/office/drawing/2014/main" id="{5E5CEC6E-8CFA-42ED-8B0E-11406A88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19375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編集履歴から好みを抽出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2回目以降の台本生成へ反映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今回の比較対象</a:t>
            </a:r>
          </a:p>
        </p:txBody>
      </p:sp>
      <p:sp>
        <p:nvSpPr>
          <p:cNvPr id="9" name="fixed">
            <a:extLst xmlns:a="http://schemas.openxmlformats.org/drawingml/2006/main">
              <a:ext uri="{FF2B5EF4-FFF2-40B4-BE49-F238E27FC236}">
                <a16:creationId xmlns:a16="http://schemas.microsoft.com/office/drawing/2014/main" id="{FBD2CE1D-7112-4944-88C3-81688730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全条件で同じKGを使用し、好み記憶の有無だけを比較</a:t>
            </a:r>
          </a:p>
        </p:txBody>
      </p:sp>
    </p:spTree>
    <p:extLst>
      <p:ext uri="{BB962C8B-B14F-4D97-AF65-F5344CB8AC3E}">
        <p14:creationId xmlns:p14="http://schemas.microsoft.com/office/powerpoint/2010/main" val="15499759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3">
            <a:extLst xmlns:a="http://schemas.openxmlformats.org/drawingml/2006/main">
              <a:ext uri="{FF2B5EF4-FFF2-40B4-BE49-F238E27FC236}">
                <a16:creationId xmlns:a16="http://schemas.microsoft.com/office/drawing/2014/main" id="{B4A481CF-CAD6-44FE-BED9-98F1DED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編集から次回生成までを一つのループとして実装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81F524AF-A968-4003-ACCF-FBC71392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edge-0">
            <a:extLst xmlns:a="http://schemas.openxmlformats.org/drawingml/2006/main">
              <a:ext uri="{FF2B5EF4-FFF2-40B4-BE49-F238E27FC236}">
                <a16:creationId xmlns:a16="http://schemas.microsoft.com/office/drawing/2014/main" id="{F7403FBA-7DEE-42E5-9541-0394812D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0375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ge-1">
            <a:extLst xmlns:a="http://schemas.openxmlformats.org/drawingml/2006/main">
              <a:ext uri="{FF2B5EF4-FFF2-40B4-BE49-F238E27FC236}">
                <a16:creationId xmlns:a16="http://schemas.microsoft.com/office/drawing/2014/main" id="{2A880900-BD33-4DD2-950D-D6291D82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dge-2">
            <a:extLst xmlns:a="http://schemas.openxmlformats.org/drawingml/2006/main">
              <a:ext uri="{FF2B5EF4-FFF2-40B4-BE49-F238E27FC236}">
                <a16:creationId xmlns:a16="http://schemas.microsoft.com/office/drawing/2014/main" id="{0153E0B2-70F6-4D74-AAEB-D6D2C989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00375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dge-3">
            <a:extLst xmlns:a="http://schemas.openxmlformats.org/drawingml/2006/main">
              <a:ext uri="{FF2B5EF4-FFF2-40B4-BE49-F238E27FC236}">
                <a16:creationId xmlns:a16="http://schemas.microsoft.com/office/drawing/2014/main" id="{F5DDA9A4-900C-4615-BB0A-C5DC227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0">
            <a:extLst xmlns:a="http://schemas.openxmlformats.org/drawingml/2006/main">
              <a:ext uri="{FF2B5EF4-FFF2-40B4-BE49-F238E27FC236}">
                <a16:creationId xmlns:a16="http://schemas.microsoft.com/office/drawing/2014/main" id="{C19F9144-601B-476B-979E-6DFC25A9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45042C50-C5A2-42FD-8096-F1519A2E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8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copy-0">
            <a:extLst xmlns:a="http://schemas.openxmlformats.org/drawingml/2006/main">
              <a:ext uri="{FF2B5EF4-FFF2-40B4-BE49-F238E27FC236}">
                <a16:creationId xmlns:a16="http://schemas.microsoft.com/office/drawing/2014/main" id="{464850AD-CC1E-4213-801F-B04DF2CE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57500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KGを用いて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台本生成</a:t>
            </a:r>
          </a:p>
        </p:txBody>
      </p:sp>
      <p:sp>
        <p:nvSpPr>
          <p:cNvPr id="10" name="step-1">
            <a:extLst xmlns:a="http://schemas.openxmlformats.org/drawingml/2006/main">
              <a:ext uri="{FF2B5EF4-FFF2-40B4-BE49-F238E27FC236}">
                <a16:creationId xmlns:a16="http://schemas.microsoft.com/office/drawing/2014/main" id="{E1A7F38B-9B85-4022-9281-A76423CF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-1">
            <a:extLst xmlns:a="http://schemas.openxmlformats.org/drawingml/2006/main">
              <a:ext uri="{FF2B5EF4-FFF2-40B4-BE49-F238E27FC236}">
                <a16:creationId xmlns:a16="http://schemas.microsoft.com/office/drawing/2014/main" id="{8BEB3EAA-AD0C-482A-BB09-CD0D163D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8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step-copy-1">
            <a:extLst xmlns:a="http://schemas.openxmlformats.org/drawingml/2006/main">
              <a:ext uri="{FF2B5EF4-FFF2-40B4-BE49-F238E27FC236}">
                <a16:creationId xmlns:a16="http://schemas.microsoft.com/office/drawing/2014/main" id="{A0CE7D03-8234-49EB-9122-B5A6700F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必要な箇所を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模擬編集</a:t>
            </a:r>
          </a:p>
        </p:txBody>
      </p:sp>
      <p:sp>
        <p:nvSpPr>
          <p:cNvPr id="13" name="step-2">
            <a:extLst xmlns:a="http://schemas.openxmlformats.org/drawingml/2006/main">
              <a:ext uri="{FF2B5EF4-FFF2-40B4-BE49-F238E27FC236}">
                <a16:creationId xmlns:a16="http://schemas.microsoft.com/office/drawing/2014/main" id="{D07D1277-3A02-41B0-A080-C4FA4B84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38375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-2">
            <a:extLst xmlns:a="http://schemas.openxmlformats.org/drawingml/2006/main">
              <a:ext uri="{FF2B5EF4-FFF2-40B4-BE49-F238E27FC236}">
                <a16:creationId xmlns:a16="http://schemas.microsoft.com/office/drawing/2014/main" id="{DAF2206A-B643-4A2B-A206-1AAD36C0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8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step-copy-2">
            <a:extLst xmlns:a="http://schemas.openxmlformats.org/drawingml/2006/main">
              <a:ext uri="{FF2B5EF4-FFF2-40B4-BE49-F238E27FC236}">
                <a16:creationId xmlns:a16="http://schemas.microsoft.com/office/drawing/2014/main" id="{33152745-B123-48D5-B215-929E32C3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57500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編集前後から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好みを抽出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F8D40A6A-EDE6-434E-879F-310F3B45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22A34285-655B-4ACB-ACEA-8C9C9932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step-copy-3">
            <a:extLst xmlns:a="http://schemas.openxmlformats.org/drawingml/2006/main">
              <a:ext uri="{FF2B5EF4-FFF2-40B4-BE49-F238E27FC236}">
                <a16:creationId xmlns:a16="http://schemas.microsoft.com/office/drawing/2014/main" id="{1C866ABD-B8E2-4B91-89A6-4AA9CF19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好み記憶として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保存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03C807BB-279A-42D0-B07E-8D190ADD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4">
            <a:extLst xmlns:a="http://schemas.openxmlformats.org/drawingml/2006/main">
              <a:ext uri="{FF2B5EF4-FFF2-40B4-BE49-F238E27FC236}">
                <a16:creationId xmlns:a16="http://schemas.microsoft.com/office/drawing/2014/main" id="{614285B4-FD90-43AE-9DDB-CC404A4D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8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step-copy-4">
            <a:extLst xmlns:a="http://schemas.openxmlformats.org/drawingml/2006/main">
              <a:ext uri="{FF2B5EF4-FFF2-40B4-BE49-F238E27FC236}">
                <a16:creationId xmlns:a16="http://schemas.microsoft.com/office/drawing/2014/main" id="{8F51F33D-4276-43D2-99CB-8C2DE455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857500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次回生成へ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反映</a:t>
            </a:r>
          </a:p>
        </p:txBody>
      </p:sp>
      <p:sp>
        <p:nvSpPr>
          <p:cNvPr id="22" name="process-note">
            <a:extLst xmlns:a="http://schemas.openxmlformats.org/drawingml/2006/main">
              <a:ext uri="{FF2B5EF4-FFF2-40B4-BE49-F238E27FC236}">
                <a16:creationId xmlns:a16="http://schemas.microsoft.com/office/drawing/2014/main" id="{E3900947-3F06-4887-AC0F-A18CD6D9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生成には生の編集前後ではなく、抽出済みの好みだけを渡す</a:t>
            </a:r>
          </a:p>
        </p:txBody>
      </p:sp>
    </p:spTree>
    <p:extLst>
      <p:ext uri="{BB962C8B-B14F-4D97-AF65-F5344CB8AC3E}">
        <p14:creationId xmlns:p14="http://schemas.microsoft.com/office/powerpoint/2010/main" val="615616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4">
            <a:extLst xmlns:a="http://schemas.openxmlformats.org/drawingml/2006/main">
              <a:ext uri="{FF2B5EF4-FFF2-40B4-BE49-F238E27FC236}">
                <a16:creationId xmlns:a16="http://schemas.microsoft.com/office/drawing/2014/main" id="{4D9E91C1-4A6F-4930-9729-3A03BA3B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4種類の好みを、3回の連続利用で比較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3A014C67-60E9-400A-BC20-CF9F2747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pref-0">
            <a:extLst xmlns:a="http://schemas.openxmlformats.org/drawingml/2006/main">
              <a:ext uri="{FF2B5EF4-FFF2-40B4-BE49-F238E27FC236}">
                <a16:creationId xmlns:a16="http://schemas.microsoft.com/office/drawing/2014/main" id="{35F12D86-89EC-4494-AEDC-A4703B5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定義重視</a:t>
            </a:r>
          </a:p>
        </p:txBody>
      </p:sp>
      <p:sp>
        <p:nvSpPr>
          <p:cNvPr id="4" name="pref-rule-0">
            <a:extLst xmlns:a="http://schemas.openxmlformats.org/drawingml/2006/main">
              <a:ext uri="{FF2B5EF4-FFF2-40B4-BE49-F238E27FC236}">
                <a16:creationId xmlns:a16="http://schemas.microsoft.com/office/drawing/2014/main" id="{AFB497CB-35AB-4471-8995-96A131F9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ef-1">
            <a:extLst xmlns:a="http://schemas.openxmlformats.org/drawingml/2006/main">
              <a:ext uri="{FF2B5EF4-FFF2-40B4-BE49-F238E27FC236}">
                <a16:creationId xmlns:a16="http://schemas.microsoft.com/office/drawing/2014/main" id="{EC18CB92-F864-4BAB-B9BE-E90027DE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811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具体例重視</a:t>
            </a:r>
          </a:p>
        </p:txBody>
      </p:sp>
      <p:sp>
        <p:nvSpPr>
          <p:cNvPr id="6" name="pref-rule-1">
            <a:extLst xmlns:a="http://schemas.openxmlformats.org/drawingml/2006/main">
              <a:ext uri="{FF2B5EF4-FFF2-40B4-BE49-F238E27FC236}">
                <a16:creationId xmlns:a16="http://schemas.microsoft.com/office/drawing/2014/main" id="{339A341A-AB3F-48FE-8830-28DBA7D5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240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f-2">
            <a:extLst xmlns:a="http://schemas.openxmlformats.org/drawingml/2006/main">
              <a:ext uri="{FF2B5EF4-FFF2-40B4-BE49-F238E27FC236}">
                <a16:creationId xmlns:a16="http://schemas.microsoft.com/office/drawing/2014/main" id="{0897BD06-5E77-4971-9831-56614AE9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結論先行</a:t>
            </a:r>
          </a:p>
        </p:txBody>
      </p:sp>
      <p:sp>
        <p:nvSpPr>
          <p:cNvPr id="8" name="pref-rule-2">
            <a:extLst xmlns:a="http://schemas.openxmlformats.org/drawingml/2006/main">
              <a:ext uri="{FF2B5EF4-FFF2-40B4-BE49-F238E27FC236}">
                <a16:creationId xmlns:a16="http://schemas.microsoft.com/office/drawing/2014/main" id="{E3F42939-00EE-4EF4-A507-733E5460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240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ef-3">
            <a:extLst xmlns:a="http://schemas.openxmlformats.org/drawingml/2006/main">
              <a:ext uri="{FF2B5EF4-FFF2-40B4-BE49-F238E27FC236}">
                <a16:creationId xmlns:a16="http://schemas.microsoft.com/office/drawing/2014/main" id="{90478C39-7B2D-4E4E-9021-AA75BEAE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811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簡潔さ重視</a:t>
            </a:r>
          </a:p>
        </p:txBody>
      </p:sp>
      <p:sp>
        <p:nvSpPr>
          <p:cNvPr id="10" name="pref-rule-3">
            <a:extLst xmlns:a="http://schemas.openxmlformats.org/drawingml/2006/main">
              <a:ext uri="{FF2B5EF4-FFF2-40B4-BE49-F238E27FC236}">
                <a16:creationId xmlns:a16="http://schemas.microsoft.com/office/drawing/2014/main" id="{DE98BB28-624F-443E-8B4E-B1C4D81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und-h-0">
            <a:extLst xmlns:a="http://schemas.openxmlformats.org/drawingml/2006/main">
              <a:ext uri="{FF2B5EF4-FFF2-40B4-BE49-F238E27FC236}">
                <a16:creationId xmlns:a16="http://schemas.microsoft.com/office/drawing/2014/main" id="{5D9626ED-454C-4A20-928B-8208042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1回目</a:t>
            </a:r>
          </a:p>
        </p:txBody>
      </p:sp>
      <p:sp>
        <p:nvSpPr>
          <p:cNvPr id="12" name="round-b-0">
            <a:extLst xmlns:a="http://schemas.openxmlformats.org/drawingml/2006/main">
              <a:ext uri="{FF2B5EF4-FFF2-40B4-BE49-F238E27FC236}">
                <a16:creationId xmlns:a16="http://schemas.microsoft.com/office/drawing/2014/main" id="{8E3D24E1-D22F-436B-B3F7-9FD9873B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und-c-0">
            <a:extLst xmlns:a="http://schemas.openxmlformats.org/drawingml/2006/main">
              <a:ext uri="{FF2B5EF4-FFF2-40B4-BE49-F238E27FC236}">
                <a16:creationId xmlns:a16="http://schemas.microsoft.com/office/drawing/2014/main" id="{48DC9AC7-BC32-45F7-A968-62D44989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00450"/>
            <a:ext cx="243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好みなしで生成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模擬編集から好みを抽出</a:t>
            </a:r>
          </a:p>
        </p:txBody>
      </p:sp>
      <p:sp>
        <p:nvSpPr>
          <p:cNvPr id="14" name="round-e-0">
            <a:extLst xmlns:a="http://schemas.openxmlformats.org/drawingml/2006/main">
              <a:ext uri="{FF2B5EF4-FFF2-40B4-BE49-F238E27FC236}">
                <a16:creationId xmlns:a16="http://schemas.microsoft.com/office/drawing/2014/main" id="{0510CFDC-7947-4EFB-A310-B8471D3E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76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nd-h-1">
            <a:extLst xmlns:a="http://schemas.openxmlformats.org/drawingml/2006/main">
              <a:ext uri="{FF2B5EF4-FFF2-40B4-BE49-F238E27FC236}">
                <a16:creationId xmlns:a16="http://schemas.microsoft.com/office/drawing/2014/main" id="{739959D5-BD3B-4B9F-BA7B-9E7372BC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62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2回目</a:t>
            </a:r>
          </a:p>
        </p:txBody>
      </p:sp>
      <p:sp>
        <p:nvSpPr>
          <p:cNvPr id="16" name="round-b-1">
            <a:extLst xmlns:a="http://schemas.openxmlformats.org/drawingml/2006/main">
              <a:ext uri="{FF2B5EF4-FFF2-40B4-BE49-F238E27FC236}">
                <a16:creationId xmlns:a16="http://schemas.microsoft.com/office/drawing/2014/main" id="{8D3A6E8A-133B-4F96-9790-C28934E1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337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und-c-1">
            <a:extLst xmlns:a="http://schemas.openxmlformats.org/drawingml/2006/main">
              <a:ext uri="{FF2B5EF4-FFF2-40B4-BE49-F238E27FC236}">
                <a16:creationId xmlns:a16="http://schemas.microsoft.com/office/drawing/2014/main" id="{63CD86D6-E28C-4821-B94F-9F3DE8C7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00450"/>
            <a:ext cx="243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Control：好みなし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Treatment：過去の好みあり</a:t>
            </a:r>
          </a:p>
        </p:txBody>
      </p:sp>
      <p:sp>
        <p:nvSpPr>
          <p:cNvPr id="18" name="round-e-1">
            <a:extLst xmlns:a="http://schemas.openxmlformats.org/drawingml/2006/main">
              <a:ext uri="{FF2B5EF4-FFF2-40B4-BE49-F238E27FC236}">
                <a16:creationId xmlns:a16="http://schemas.microsoft.com/office/drawing/2014/main" id="{BFFABFE0-041F-488D-88D6-69670744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767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und-h-2">
            <a:extLst xmlns:a="http://schemas.openxmlformats.org/drawingml/2006/main">
              <a:ext uri="{FF2B5EF4-FFF2-40B4-BE49-F238E27FC236}">
                <a16:creationId xmlns:a16="http://schemas.microsoft.com/office/drawing/2014/main" id="{B2AC08F5-6898-44F6-8A74-1B37BDC0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62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3回目</a:t>
            </a:r>
          </a:p>
        </p:txBody>
      </p:sp>
      <p:sp>
        <p:nvSpPr>
          <p:cNvPr id="20" name="round-b-2">
            <a:extLst xmlns:a="http://schemas.openxmlformats.org/drawingml/2006/main">
              <a:ext uri="{FF2B5EF4-FFF2-40B4-BE49-F238E27FC236}">
                <a16:creationId xmlns:a16="http://schemas.microsoft.com/office/drawing/2014/main" id="{7F2C3438-9615-4D05-A4F3-AABCA87F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337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und-c-2">
            <a:extLst xmlns:a="http://schemas.openxmlformats.org/drawingml/2006/main">
              <a:ext uri="{FF2B5EF4-FFF2-40B4-BE49-F238E27FC236}">
                <a16:creationId xmlns:a16="http://schemas.microsoft.com/office/drawing/2014/main" id="{EC958575-7C0A-4477-A4D9-2DFE405E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00450"/>
            <a:ext cx="243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Control：好みなし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Treatment：複数履歴あり</a:t>
            </a:r>
          </a:p>
        </p:txBody>
      </p:sp>
      <p:sp>
        <p:nvSpPr>
          <p:cNvPr id="22" name="condition-foot">
            <a:extLst xmlns:a="http://schemas.openxmlformats.org/drawingml/2006/main">
              <a:ext uri="{FF2B5EF4-FFF2-40B4-BE49-F238E27FC236}">
                <a16:creationId xmlns:a16="http://schemas.microsoft.com/office/drawing/2014/main" id="{59FC51B9-5433-4C08-B1D4-7687095F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教材3種 × 各3スライド／ControlとTreatmentは同一教材・同一KG</a:t>
            </a:r>
          </a:p>
        </p:txBody>
      </p:sp>
    </p:spTree>
    <p:extLst>
      <p:ext uri="{BB962C8B-B14F-4D97-AF65-F5344CB8AC3E}">
        <p14:creationId xmlns:p14="http://schemas.microsoft.com/office/powerpoint/2010/main" val="1073395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5">
            <a:extLst xmlns:a="http://schemas.openxmlformats.org/drawingml/2006/main">
              <a:ext uri="{FF2B5EF4-FFF2-40B4-BE49-F238E27FC236}">
                <a16:creationId xmlns:a16="http://schemas.microsoft.com/office/drawing/2014/main" id="{DA18A03D-968D-4A71-A666-D4A0F442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主要指標は、完成形までの正規化トークン編集量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FAF9A59A-D543-4E7C-8DB8-E7C6FCC7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metric-def">
            <a:extLst xmlns:a="http://schemas.openxmlformats.org/drawingml/2006/main">
              <a:ext uri="{FF2B5EF4-FFF2-40B4-BE49-F238E27FC236}">
                <a16:creationId xmlns:a16="http://schemas.microsoft.com/office/drawing/2014/main" id="{6A0B9141-6C3B-4557-B9C8-60EF4D1B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編集負担 ＝ 各文の正規化トークン編集距離の合計 ÷ 台本の全文数</a:t>
            </a:r>
          </a:p>
        </p:txBody>
      </p:sp>
      <p:sp>
        <p:nvSpPr>
          <p:cNvPr id="4" name="formula">
            <a:extLst xmlns:a="http://schemas.openxmlformats.org/drawingml/2006/main">
              <a:ext uri="{FF2B5EF4-FFF2-40B4-BE49-F238E27FC236}">
                <a16:creationId xmlns:a16="http://schemas.microsoft.com/office/drawing/2014/main" id="{1866DE21-0937-4329-B8AA-D5E9BB3D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990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rmula-text">
            <a:extLst xmlns:a="http://schemas.openxmlformats.org/drawingml/2006/main">
              <a:ext uri="{FF2B5EF4-FFF2-40B4-BE49-F238E27FC236}">
                <a16:creationId xmlns:a16="http://schemas.microsoft.com/office/drawing/2014/main" id="{09C45641-5233-48FE-8FBF-9BEBBFD1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670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各文：追加・削除・置換の最小回数 ÷ max（編集前語数, 編集後語数, 1）</a:t>
            </a:r>
          </a:p>
        </p:txBody>
      </p:sp>
      <p:sp>
        <p:nvSpPr>
          <p:cNvPr id="6" name="m-h-0">
            <a:extLst xmlns:a="http://schemas.openxmlformats.org/drawingml/2006/main">
              <a:ext uri="{FF2B5EF4-FFF2-40B4-BE49-F238E27FC236}">
                <a16:creationId xmlns:a16="http://schemas.microsoft.com/office/drawing/2014/main" id="{63D7EAAD-3FD3-4FB3-85D2-A59F428C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編集負担</a:t>
            </a:r>
          </a:p>
        </p:txBody>
      </p:sp>
      <p:sp>
        <p:nvSpPr>
          <p:cNvPr id="7" name="m-d-0">
            <a:extLst xmlns:a="http://schemas.openxmlformats.org/drawingml/2006/main">
              <a:ext uri="{FF2B5EF4-FFF2-40B4-BE49-F238E27FC236}">
                <a16:creationId xmlns:a16="http://schemas.microsoft.com/office/drawing/2014/main" id="{33142F6D-FEA0-4056-871B-4EBE04BA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変更の大きさ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小さいほど好みに近い</a:t>
            </a:r>
          </a:p>
        </p:txBody>
      </p:sp>
      <p:sp>
        <p:nvSpPr>
          <p:cNvPr id="8" name="m-h-1">
            <a:extLst xmlns:a="http://schemas.openxmlformats.org/drawingml/2006/main">
              <a:ext uri="{FF2B5EF4-FFF2-40B4-BE49-F238E27FC236}">
                <a16:creationId xmlns:a16="http://schemas.microsoft.com/office/drawing/2014/main" id="{C6EB9895-AA84-40CF-BB4E-31022A4F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編集文率</a:t>
            </a:r>
          </a:p>
        </p:txBody>
      </p:sp>
      <p:sp>
        <p:nvSpPr>
          <p:cNvPr id="9" name="m-d-1">
            <a:extLst xmlns:a="http://schemas.openxmlformats.org/drawingml/2006/main">
              <a:ext uri="{FF2B5EF4-FFF2-40B4-BE49-F238E27FC236}">
                <a16:creationId xmlns:a16="http://schemas.microsoft.com/office/drawing/2014/main" id="{D87AFB9C-6E09-4CD4-9E9B-DA8E1C29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9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変更が必要だった文の割合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変更量の大小は問わない</a:t>
            </a:r>
          </a:p>
        </p:txBody>
      </p:sp>
      <p:sp>
        <p:nvSpPr>
          <p:cNvPr id="10" name="m-h-2">
            <a:extLst xmlns:a="http://schemas.openxmlformats.org/drawingml/2006/main">
              <a:ext uri="{FF2B5EF4-FFF2-40B4-BE49-F238E27FC236}">
                <a16:creationId xmlns:a16="http://schemas.microsoft.com/office/drawing/2014/main" id="{31388183-E35B-47D3-9CA8-CD95575E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相対削減率</a:t>
            </a:r>
          </a:p>
        </p:txBody>
      </p:sp>
      <p:sp>
        <p:nvSpPr>
          <p:cNvPr id="11" name="m-d-2">
            <a:extLst xmlns:a="http://schemas.openxmlformats.org/drawingml/2006/main">
              <a:ext uri="{FF2B5EF4-FFF2-40B4-BE49-F238E27FC236}">
                <a16:creationId xmlns:a16="http://schemas.microsoft.com/office/drawing/2014/main" id="{F8D4D423-2049-4257-8316-78B90AD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9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Controlに対して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何％負担が減ったか</a:t>
            </a:r>
          </a:p>
        </p:txBody>
      </p:sp>
      <p:sp>
        <p:nvSpPr>
          <p:cNvPr id="12" name="metric-caveat">
            <a:extLst xmlns:a="http://schemas.openxmlformats.org/drawingml/2006/main">
              <a:ext uri="{FF2B5EF4-FFF2-40B4-BE49-F238E27FC236}">
                <a16:creationId xmlns:a16="http://schemas.microsoft.com/office/drawing/2014/main" id="{147D2EFF-65E0-4DCB-B80E-56D91C99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実時間や心理的負担ではないため、厳密には「正規化トークン編集量」</a:t>
            </a:r>
          </a:p>
        </p:txBody>
      </p:sp>
    </p:spTree>
    <p:extLst>
      <p:ext uri="{BB962C8B-B14F-4D97-AF65-F5344CB8AC3E}">
        <p14:creationId xmlns:p14="http://schemas.microsoft.com/office/powerpoint/2010/main" val="142122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6933748-DFAA-4B79-B074-09397E71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改善は見られたが、好みと利用回で結果が分かれた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E043A058-F9F6-4B00-8A9A-A73ED6E7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7239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5fd3b7a7154bfc"/>
          </a:graphicData>
        </a:graphic>
      </p:graphicFrame>
      <p:sp>
        <p:nvSpPr>
          <p:cNvPr id="4" name="result-note-1">
            <a:extLst xmlns:a="http://schemas.openxmlformats.org/drawingml/2006/main">
              <a:ext uri="{FF2B5EF4-FFF2-40B4-BE49-F238E27FC236}">
                <a16:creationId xmlns:a16="http://schemas.microsoft.com/office/drawing/2014/main" id="{F7C192A3-F2EB-4C8F-940C-F07CFE24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sult-n1">
            <a:extLst xmlns:a="http://schemas.openxmlformats.org/drawingml/2006/main">
              <a:ext uri="{FF2B5EF4-FFF2-40B4-BE49-F238E27FC236}">
                <a16:creationId xmlns:a16="http://schemas.microsoft.com/office/drawing/2014/main" id="{1D0CE4B6-087E-4D74-9FC1-0280ED89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5737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平均 32.1%減</a:t>
            </a:r>
          </a:p>
        </p:txBody>
      </p:sp>
      <p:sp>
        <p:nvSpPr>
          <p:cNvPr id="6" name="result-n1b">
            <a:extLst xmlns:a="http://schemas.openxmlformats.org/drawingml/2006/main">
              <a:ext uri="{FF2B5EF4-FFF2-40B4-BE49-F238E27FC236}">
                <a16:creationId xmlns:a16="http://schemas.microsoft.com/office/drawing/2014/main" id="{C0ADC3B6-D269-40BF-B5B8-144710B9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8比較の便宜的平均</a:t>
            </a:r>
          </a:p>
        </p:txBody>
      </p:sp>
      <p:sp>
        <p:nvSpPr>
          <p:cNvPr id="7" name="result-note-2">
            <a:extLst xmlns:a="http://schemas.openxmlformats.org/drawingml/2006/main">
              <a:ext uri="{FF2B5EF4-FFF2-40B4-BE49-F238E27FC236}">
                <a16:creationId xmlns:a16="http://schemas.microsoft.com/office/drawing/2014/main" id="{0519C74A-6AE4-4729-8379-10480374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3286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-n2">
            <a:extLst xmlns:a="http://schemas.openxmlformats.org/drawingml/2006/main">
              <a:ext uri="{FF2B5EF4-FFF2-40B4-BE49-F238E27FC236}">
                <a16:creationId xmlns:a16="http://schemas.microsoft.com/office/drawing/2014/main" id="{55F5581D-C43E-4B96-A6EC-D29B1658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8612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具体例・3回目</a:t>
            </a:r>
          </a:p>
        </p:txBody>
      </p:sp>
      <p:sp>
        <p:nvSpPr>
          <p:cNvPr id="9" name="result-n2b">
            <a:extLst xmlns:a="http://schemas.openxmlformats.org/drawingml/2006/main">
              <a:ext uri="{FF2B5EF4-FFF2-40B4-BE49-F238E27FC236}">
                <a16:creationId xmlns:a16="http://schemas.microsoft.com/office/drawing/2014/main" id="{462E2FA6-8883-4BC3-8B72-51E3362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62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23.9%悪化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履歴の重複が影響</a:t>
            </a:r>
          </a:p>
        </p:txBody>
      </p:sp>
      <p:sp>
        <p:nvSpPr>
          <p:cNvPr id="10" name="result-caution">
            <a:extLst xmlns:a="http://schemas.openxmlformats.org/drawingml/2006/main">
              <a:ext uri="{FF2B5EF4-FFF2-40B4-BE49-F238E27FC236}">
                <a16:creationId xmlns:a16="http://schemas.microsoft.com/office/drawing/2014/main" id="{90C6EB1C-47B1-49C3-B9E3-05FF38D5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00625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反復なしの予備実験。効果量の確定値としては扱わない</a:t>
            </a:r>
          </a:p>
        </p:txBody>
      </p:sp>
    </p:spTree>
    <p:extLst>
      <p:ext uri="{BB962C8B-B14F-4D97-AF65-F5344CB8AC3E}">
        <p14:creationId xmlns:p14="http://schemas.microsoft.com/office/powerpoint/2010/main" val="2113034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7">
            <a:extLst xmlns:a="http://schemas.openxmlformats.org/drawingml/2006/main">
              <a:ext uri="{FF2B5EF4-FFF2-40B4-BE49-F238E27FC236}">
                <a16:creationId xmlns:a16="http://schemas.microsoft.com/office/drawing/2014/main" id="{36373FA2-DA25-4066-8B4D-143C73F9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好みの性質に応じて、編集される文の割合も異なる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A0736695-3B9E-4C4A-B741-044ADF39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904875" y="1619250"/>
          <a:ext xmlns:a="http://schemas.openxmlformats.org/drawingml/2006/main" cx="103822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810000"/>
                <a:gridCol w="2190750"/>
                <a:gridCol w="2190750"/>
                <a:gridCol w="2190750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好み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編集文数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全文数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編集文率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定義重視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22.9%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具体例重視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12.6%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結論先行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4.7%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簡潔さ重視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25.5%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rate-note">
            <a:extLst xmlns:a="http://schemas.openxmlformats.org/drawingml/2006/main">
              <a:ext uri="{FF2B5EF4-FFF2-40B4-BE49-F238E27FC236}">
                <a16:creationId xmlns:a16="http://schemas.microsoft.com/office/drawing/2014/main" id="{0AACAAF6-C1BB-4B00-8CD8-B2F83A98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編集回数は固定していない。すでに方針を満たす文は変更しない</a:t>
            </a:r>
          </a:p>
        </p:txBody>
      </p:sp>
      <p:sp>
        <p:nvSpPr>
          <p:cNvPr id="5" name="rate-why">
            <a:extLst xmlns:a="http://schemas.openxmlformats.org/drawingml/2006/main">
              <a:ext uri="{FF2B5EF4-FFF2-40B4-BE49-F238E27FC236}">
                <a16:creationId xmlns:a16="http://schemas.microsoft.com/office/drawing/2014/main" id="{C093CF05-2CC3-48BB-8EFF-B4B1DAE9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6262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結論先行は主にスライド冒頭が対象となるため、編集率が低い</a:t>
            </a:r>
          </a:p>
        </p:txBody>
      </p:sp>
    </p:spTree>
    <p:extLst>
      <p:ext uri="{BB962C8B-B14F-4D97-AF65-F5344CB8AC3E}">
        <p14:creationId xmlns:p14="http://schemas.microsoft.com/office/powerpoint/2010/main" val="1973072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8">
            <a:extLst xmlns:a="http://schemas.openxmlformats.org/drawingml/2006/main">
              <a:ext uri="{FF2B5EF4-FFF2-40B4-BE49-F238E27FC236}">
                <a16:creationId xmlns:a16="http://schemas.microsoft.com/office/drawing/2014/main" id="{BB69FE5B-532C-49A9-9D41-A40DC2DE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成功例：結論先行では、2回目の再編集が不要になった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F1894BA4-DF02-4524-AE54-C4644AF3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63A58385-C961-44D6-A9D6-5285D82C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1回目の編集前</a:t>
            </a:r>
          </a:p>
        </p:txBody>
      </p:sp>
      <p:sp>
        <p:nvSpPr>
          <p:cNvPr id="4" name="before-box">
            <a:extLst xmlns:a="http://schemas.openxmlformats.org/drawingml/2006/main">
              <a:ext uri="{FF2B5EF4-FFF2-40B4-BE49-F238E27FC236}">
                <a16:creationId xmlns:a16="http://schemas.microsoft.com/office/drawing/2014/main" id="{B45E0945-C40E-49EE-B679-A43E8AB1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5143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efore-text">
            <a:extLst xmlns:a="http://schemas.openxmlformats.org/drawingml/2006/main">
              <a:ext uri="{FF2B5EF4-FFF2-40B4-BE49-F238E27FC236}">
                <a16:creationId xmlns:a16="http://schemas.microsoft.com/office/drawing/2014/main" id="{B50BC5A9-677D-4EB2-86D9-6DE31659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669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「キーの役割を具体化します。」</a:t>
            </a:r>
          </a:p>
        </p:txBody>
      </p:sp>
      <p:sp>
        <p:nvSpPr>
          <p:cNvPr id="6" name="after-label">
            <a:extLst xmlns:a="http://schemas.openxmlformats.org/drawingml/2006/main">
              <a:ext uri="{FF2B5EF4-FFF2-40B4-BE49-F238E27FC236}">
                <a16:creationId xmlns:a16="http://schemas.microsoft.com/office/drawing/2014/main" id="{0449EB3E-10B4-440C-B804-F3080630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81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1回目の編集後</a:t>
            </a:r>
          </a:p>
        </p:txBody>
      </p:sp>
      <p:sp>
        <p:nvSpPr>
          <p:cNvPr id="7" name="after-box">
            <a:extLst xmlns:a="http://schemas.openxmlformats.org/drawingml/2006/main">
              <a:ext uri="{FF2B5EF4-FFF2-40B4-BE49-F238E27FC236}">
                <a16:creationId xmlns:a16="http://schemas.microsoft.com/office/drawing/2014/main" id="{7B310337-39F1-45C3-A384-23B0DD04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5143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fter-text">
            <a:extLst xmlns:a="http://schemas.openxmlformats.org/drawingml/2006/main">
              <a:ext uri="{FF2B5EF4-FFF2-40B4-BE49-F238E27FC236}">
                <a16:creationId xmlns:a16="http://schemas.microsoft.com/office/drawing/2014/main" id="{DE719627-CA8A-4443-8323-19D85899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43125"/>
            <a:ext cx="4619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「主キーは行を一意に識別し、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外部キーは表同士を結び付けます。」</a:t>
            </a:r>
          </a:p>
        </p:txBody>
      </p:sp>
      <p:sp>
        <p:nvSpPr>
          <p:cNvPr id="9" name="extracted">
            <a:extLst xmlns:a="http://schemas.openxmlformats.org/drawingml/2006/main">
              <a:ext uri="{FF2B5EF4-FFF2-40B4-BE49-F238E27FC236}">
                <a16:creationId xmlns:a16="http://schemas.microsoft.com/office/drawing/2014/main" id="{D8F2F1E0-9CBE-40C0-B321-55CCCDC2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抽出：曖昧な予告ではなく、主要内容を先に明示する</a:t>
            </a:r>
          </a:p>
        </p:txBody>
      </p:sp>
      <p:sp>
        <p:nvSpPr>
          <p:cNvPr id="10" name="c-res">
            <a:extLst xmlns:a="http://schemas.openxmlformats.org/drawingml/2006/main">
              <a:ext uri="{FF2B5EF4-FFF2-40B4-BE49-F238E27FC236}">
                <a16:creationId xmlns:a16="http://schemas.microsoft.com/office/drawing/2014/main" id="{F0378FDC-2E48-4A3B-B4AA-C327A402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3810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-res-h">
            <a:extLst xmlns:a="http://schemas.openxmlformats.org/drawingml/2006/main">
              <a:ext uri="{FF2B5EF4-FFF2-40B4-BE49-F238E27FC236}">
                <a16:creationId xmlns:a16="http://schemas.microsoft.com/office/drawing/2014/main" id="{386103AD-2F55-48C8-94A9-350BCC68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0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12" name="c-res-v">
            <a:extLst xmlns:a="http://schemas.openxmlformats.org/drawingml/2006/main">
              <a:ext uri="{FF2B5EF4-FFF2-40B4-BE49-F238E27FC236}">
                <a16:creationId xmlns:a16="http://schemas.microsoft.com/office/drawing/2014/main" id="{E3890583-B1D0-406D-8733-03ECE326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91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31文中 4文を編集</a:t>
            </a:r>
          </a:p>
        </p:txBody>
      </p:sp>
      <p:sp>
        <p:nvSpPr>
          <p:cNvPr id="13" name="t-res">
            <a:extLst xmlns:a="http://schemas.openxmlformats.org/drawingml/2006/main">
              <a:ext uri="{FF2B5EF4-FFF2-40B4-BE49-F238E27FC236}">
                <a16:creationId xmlns:a16="http://schemas.microsoft.com/office/drawing/2014/main" id="{043AC46D-9905-48C3-862E-82951EBE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3810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-res-h">
            <a:extLst xmlns:a="http://schemas.openxmlformats.org/drawingml/2006/main">
              <a:ext uri="{FF2B5EF4-FFF2-40B4-BE49-F238E27FC236}">
                <a16:creationId xmlns:a16="http://schemas.microsoft.com/office/drawing/2014/main" id="{5E599536-6FC6-4C3C-8671-AE83EC98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10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Treatment</a:t>
            </a:r>
          </a:p>
        </p:txBody>
      </p:sp>
      <p:sp>
        <p:nvSpPr>
          <p:cNvPr id="15" name="t-res-v">
            <a:extLst xmlns:a="http://schemas.openxmlformats.org/drawingml/2006/main">
              <a:ext uri="{FF2B5EF4-FFF2-40B4-BE49-F238E27FC236}">
                <a16:creationId xmlns:a16="http://schemas.microsoft.com/office/drawing/2014/main" id="{ACC4DC60-AB9C-4FA3-B602-FCD5DE6D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91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31文中 0文</a:t>
            </a:r>
          </a:p>
        </p:txBody>
      </p:sp>
    </p:spTree>
    <p:extLst>
      <p:ext uri="{BB962C8B-B14F-4D97-AF65-F5344CB8AC3E}">
        <p14:creationId xmlns:p14="http://schemas.microsoft.com/office/powerpoint/2010/main" val="9247207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9">
            <a:extLst xmlns:a="http://schemas.openxmlformats.org/drawingml/2006/main">
              <a:ext uri="{FF2B5EF4-FFF2-40B4-BE49-F238E27FC236}">
                <a16:creationId xmlns:a16="http://schemas.microsoft.com/office/drawing/2014/main" id="{C32FB6E0-4998-49C4-BD17-6CF5FF7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失敗例：似た好みの蓄積が、具体例の過剰追加につながった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05541CD9-C292-4C07-815F-643358F8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3" name="dup-0">
            <a:extLst xmlns:a="http://schemas.openxmlformats.org/drawingml/2006/main">
              <a:ext uri="{FF2B5EF4-FFF2-40B4-BE49-F238E27FC236}">
                <a16:creationId xmlns:a16="http://schemas.microsoft.com/office/drawing/2014/main" id="{24A54BB3-B4D0-499A-9DC4-B5F3DC07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81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up-t-0">
            <a:extLst xmlns:a="http://schemas.openxmlformats.org/drawingml/2006/main">
              <a:ext uri="{FF2B5EF4-FFF2-40B4-BE49-F238E27FC236}">
                <a16:creationId xmlns:a16="http://schemas.microsoft.com/office/drawing/2014/main" id="{924B2E90-33DA-466F-A9CD-BC1D2443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抽象説明には具体例を加える</a:t>
            </a:r>
          </a:p>
        </p:txBody>
      </p:sp>
      <p:sp>
        <p:nvSpPr>
          <p:cNvPr id="5" name="dup-1">
            <a:extLst xmlns:a="http://schemas.openxmlformats.org/drawingml/2006/main">
              <a:ext uri="{FF2B5EF4-FFF2-40B4-BE49-F238E27FC236}">
                <a16:creationId xmlns:a16="http://schemas.microsoft.com/office/drawing/2014/main" id="{ADC7F134-8BDB-4147-8B62-CF53603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581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up-t-1">
            <a:extLst xmlns:a="http://schemas.openxmlformats.org/drawingml/2006/main">
              <a:ext uri="{FF2B5EF4-FFF2-40B4-BE49-F238E27FC236}">
                <a16:creationId xmlns:a16="http://schemas.microsoft.com/office/drawing/2014/main" id="{B67596F3-E57D-4A17-B74C-5B55A09C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身近な例を一つ添える</a:t>
            </a:r>
          </a:p>
        </p:txBody>
      </p:sp>
      <p:sp>
        <p:nvSpPr>
          <p:cNvPr id="7" name="dup-2">
            <a:extLst xmlns:a="http://schemas.openxmlformats.org/drawingml/2006/main">
              <a:ext uri="{FF2B5EF4-FFF2-40B4-BE49-F238E27FC236}">
                <a16:creationId xmlns:a16="http://schemas.microsoft.com/office/drawing/2014/main" id="{7D2D12CD-D4E4-45FD-BC85-E2E71661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581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up-t-2">
            <a:extLst xmlns:a="http://schemas.openxmlformats.org/drawingml/2006/main">
              <a:ext uri="{FF2B5EF4-FFF2-40B4-BE49-F238E27FC236}">
                <a16:creationId xmlns:a16="http://schemas.microsoft.com/office/drawing/2014/main" id="{95FCFDBC-94A9-4CF0-9A24-0D21E340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実務的な例で補足する</a:t>
            </a:r>
          </a:p>
        </p:txBody>
      </p:sp>
      <p:sp>
        <p:nvSpPr>
          <p:cNvPr id="9" name="dup-3">
            <a:extLst xmlns:a="http://schemas.openxmlformats.org/drawingml/2006/main">
              <a:ext uri="{FF2B5EF4-FFF2-40B4-BE49-F238E27FC236}">
                <a16:creationId xmlns:a16="http://schemas.microsoft.com/office/drawing/2014/main" id="{6E2FFEF0-2726-4FB8-B3FA-E8D096B3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71900"/>
            <a:ext cx="581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up-t-3">
            <a:extLst xmlns:a="http://schemas.openxmlformats.org/drawingml/2006/main">
              <a:ext uri="{FF2B5EF4-FFF2-40B4-BE49-F238E27FC236}">
                <a16:creationId xmlns:a16="http://schemas.microsoft.com/office/drawing/2014/main" id="{C3A09BEA-8235-4BBB-B64E-2364A4F9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概念を利用場面と対応付ける</a:t>
            </a:r>
          </a:p>
        </p:txBody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6AA7D075-535D-46DB-B19D-7F0B7554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384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failure-result">
            <a:extLst xmlns:a="http://schemas.openxmlformats.org/drawingml/2006/main">
              <a:ext uri="{FF2B5EF4-FFF2-40B4-BE49-F238E27FC236}">
                <a16:creationId xmlns:a16="http://schemas.microsoft.com/office/drawing/2014/main" id="{7DEFE55B-71C5-4B7E-B8A4-477A2608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66875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il-h">
            <a:extLst xmlns:a="http://schemas.openxmlformats.org/drawingml/2006/main">
              <a:ext uri="{FF2B5EF4-FFF2-40B4-BE49-F238E27FC236}">
                <a16:creationId xmlns:a16="http://schemas.microsoft.com/office/drawing/2014/main" id="{EBD87C5C-A34F-45CB-B0D8-FE0EE8F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具体例重視・3回目</a:t>
            </a:r>
          </a:p>
        </p:txBody>
      </p:sp>
      <p:sp>
        <p:nvSpPr>
          <p:cNvPr id="14" name="fail-v">
            <a:extLst xmlns:a="http://schemas.openxmlformats.org/drawingml/2006/main">
              <a:ext uri="{FF2B5EF4-FFF2-40B4-BE49-F238E27FC236}">
                <a16:creationId xmlns:a16="http://schemas.microsoft.com/office/drawing/2014/main" id="{DD580C02-B3FF-4EF3-8F8D-C6475A9B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670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編集負担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0.0674 → 0.0835</a:t>
            </a:r>
          </a:p>
        </p:txBody>
      </p:sp>
      <p:sp>
        <p:nvSpPr>
          <p:cNvPr id="15" name="fail-d">
            <a:extLst xmlns:a="http://schemas.openxmlformats.org/drawingml/2006/main">
              <a:ext uri="{FF2B5EF4-FFF2-40B4-BE49-F238E27FC236}">
                <a16:creationId xmlns:a16="http://schemas.microsoft.com/office/drawing/2014/main" id="{531F03E0-DB80-4D36-B987-D171C4DC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718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6A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66A5E"/>
                </a:solidFill>
                <a:latin typeface="Helvetica Neue"/>
                <a:ea typeface="Helvetica Neue"/>
                <a:cs typeface="Helvetica Neue"/>
              </a:rPr>
              <a:t>23.9%悪化</a:t>
            </a:r>
          </a:p>
        </p:txBody>
      </p:sp>
      <p:sp>
        <p:nvSpPr>
          <p:cNvPr id="16" name="fail-meaning">
            <a:extLst xmlns:a="http://schemas.openxmlformats.org/drawingml/2006/main">
              <a:ext uri="{FF2B5EF4-FFF2-40B4-BE49-F238E27FC236}">
                <a16:creationId xmlns:a16="http://schemas.microsoft.com/office/drawing/2014/main" id="{6F5205E3-E0C2-4996-AF04-F4ACFF17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履歴は単純に増やすのではなく、意味の近い好みの統合と適用抑制が必要</a:t>
            </a:r>
          </a:p>
        </p:txBody>
      </p:sp>
    </p:spTree>
    <p:extLst>
      <p:ext uri="{BB962C8B-B14F-4D97-AF65-F5344CB8AC3E}">
        <p14:creationId xmlns:p14="http://schemas.microsoft.com/office/powerpoint/2010/main" val="1102896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0">
            <a:extLst xmlns:a="http://schemas.openxmlformats.org/drawingml/2006/main">
              <a:ext uri="{FF2B5EF4-FFF2-40B4-BE49-F238E27FC236}">
                <a16:creationId xmlns:a16="http://schemas.microsoft.com/office/drawing/2014/main" id="{C157C4B8-EC9B-4FD4-9C52-E0909276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今回言えるのは、反映経路の成立と設計課題まで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DD91DA4D-03CC-4B4E-84F7-E0D7DFF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lim-h-0">
            <a:extLst xmlns:a="http://schemas.openxmlformats.org/drawingml/2006/main">
              <a:ext uri="{FF2B5EF4-FFF2-40B4-BE49-F238E27FC236}">
                <a16:creationId xmlns:a16="http://schemas.microsoft.com/office/drawing/2014/main" id="{15E283B3-C77F-43CE-BBA6-DDEE0529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言えること</a:t>
            </a:r>
          </a:p>
        </p:txBody>
      </p:sp>
      <p:sp>
        <p:nvSpPr>
          <p:cNvPr id="4" name="lim-b-0">
            <a:extLst xmlns:a="http://schemas.openxmlformats.org/drawingml/2006/main">
              <a:ext uri="{FF2B5EF4-FFF2-40B4-BE49-F238E27FC236}">
                <a16:creationId xmlns:a16="http://schemas.microsoft.com/office/drawing/2014/main" id="{7D4D89F5-E7D2-4CDB-ABEB-0001FBE3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143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m-t-0">
            <a:extLst xmlns:a="http://schemas.openxmlformats.org/drawingml/2006/main">
              <a:ext uri="{FF2B5EF4-FFF2-40B4-BE49-F238E27FC236}">
                <a16:creationId xmlns:a16="http://schemas.microsoft.com/office/drawing/2014/main" id="{F9B85E6C-8104-4841-9D9B-04619C19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524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編集から好みを抽出できた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次回生成を変化させられた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改善例と悪化例を確認した</a:t>
            </a:r>
          </a:p>
        </p:txBody>
      </p:sp>
      <p:sp>
        <p:nvSpPr>
          <p:cNvPr id="6" name="lim-h-1">
            <a:extLst xmlns:a="http://schemas.openxmlformats.org/drawingml/2006/main">
              <a:ext uri="{FF2B5EF4-FFF2-40B4-BE49-F238E27FC236}">
                <a16:creationId xmlns:a16="http://schemas.microsoft.com/office/drawing/2014/main" id="{6ECDD7E8-B100-4A82-9BD4-6B15D73E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763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まだ言えないこと</a:t>
            </a:r>
          </a:p>
        </p:txBody>
      </p:sp>
      <p:sp>
        <p:nvSpPr>
          <p:cNvPr id="7" name="lim-b-1">
            <a:extLst xmlns:a="http://schemas.openxmlformats.org/drawingml/2006/main">
              <a:ext uri="{FF2B5EF4-FFF2-40B4-BE49-F238E27FC236}">
                <a16:creationId xmlns:a16="http://schemas.microsoft.com/office/drawing/2014/main" id="{E33D2D2A-3996-4623-8371-E3A9E1BE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5143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im-t-1">
            <a:extLst xmlns:a="http://schemas.openxmlformats.org/drawingml/2006/main">
              <a:ext uri="{FF2B5EF4-FFF2-40B4-BE49-F238E27FC236}">
                <a16:creationId xmlns:a16="http://schemas.microsoft.com/office/drawing/2014/main" id="{03716488-F892-453D-9253-F49106FB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4524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実ユーザで有効か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平均32.1%が再現するか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教育効果が向上するか</a:t>
            </a:r>
          </a:p>
        </p:txBody>
      </p:sp>
      <p:sp>
        <p:nvSpPr>
          <p:cNvPr id="9" name="lim-foot">
            <a:extLst xmlns:a="http://schemas.openxmlformats.org/drawingml/2006/main">
              <a:ext uri="{FF2B5EF4-FFF2-40B4-BE49-F238E27FC236}">
                <a16:creationId xmlns:a16="http://schemas.microsoft.com/office/drawing/2014/main" id="{B5F2057E-D610-4B64-A0B9-E5CA9769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模擬ユーザ・各条件1生成・LLM補助評価という制約を前提に解釈</a:t>
            </a:r>
          </a:p>
        </p:txBody>
      </p:sp>
    </p:spTree>
    <p:extLst>
      <p:ext uri="{BB962C8B-B14F-4D97-AF65-F5344CB8AC3E}">
        <p14:creationId xmlns:p14="http://schemas.microsoft.com/office/powerpoint/2010/main" val="16420575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E45EE40E-7B31-4B10-9337-244295F6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次の段階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3F65487-0C28-418E-8035-5B865727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好みを蓄積する仕組みから、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安定して統合・抑制する仕組みへ</a:t>
            </a:r>
          </a:p>
        </p:txBody>
      </p:sp>
      <p:sp>
        <p:nvSpPr>
          <p:cNvPr id="3" name="next-num-0">
            <a:extLst xmlns:a="http://schemas.openxmlformats.org/drawingml/2006/main">
              <a:ext uri="{FF2B5EF4-FFF2-40B4-BE49-F238E27FC236}">
                <a16:creationId xmlns:a16="http://schemas.microsoft.com/office/drawing/2014/main" id="{0C730C92-2E8D-45D5-9184-469AD793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3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next-0">
            <a:extLst xmlns:a="http://schemas.openxmlformats.org/drawingml/2006/main">
              <a:ext uri="{FF2B5EF4-FFF2-40B4-BE49-F238E27FC236}">
                <a16:creationId xmlns:a16="http://schemas.microsoft.com/office/drawing/2014/main" id="{E80D21F2-543A-4AF7-B736-8167F3AD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重複する好みを意味的に統合</a:t>
            </a:r>
          </a:p>
        </p:txBody>
      </p:sp>
      <p:sp>
        <p:nvSpPr>
          <p:cNvPr id="5" name="next-num-1">
            <a:extLst xmlns:a="http://schemas.openxmlformats.org/drawingml/2006/main">
              <a:ext uri="{FF2B5EF4-FFF2-40B4-BE49-F238E27FC236}">
                <a16:creationId xmlns:a16="http://schemas.microsoft.com/office/drawing/2014/main" id="{D4CF5CEF-89F1-4AF4-A8DE-E6A2F0BB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3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next-1">
            <a:extLst xmlns:a="http://schemas.openxmlformats.org/drawingml/2006/main">
              <a:ext uri="{FF2B5EF4-FFF2-40B4-BE49-F238E27FC236}">
                <a16:creationId xmlns:a16="http://schemas.microsoft.com/office/drawing/2014/main" id="{9ADA881C-9369-4A0E-BACE-4A7013B4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反復生成と順序ランダム化</a:t>
            </a:r>
          </a:p>
        </p:txBody>
      </p:sp>
      <p:sp>
        <p:nvSpPr>
          <p:cNvPr id="7" name="next-num-2">
            <a:extLst xmlns:a="http://schemas.openxmlformats.org/drawingml/2006/main">
              <a:ext uri="{FF2B5EF4-FFF2-40B4-BE49-F238E27FC236}">
                <a16:creationId xmlns:a16="http://schemas.microsoft.com/office/drawing/2014/main" id="{7B53A93E-D5D1-44D4-88CF-A4F4747F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3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next-2">
            <a:extLst xmlns:a="http://schemas.openxmlformats.org/drawingml/2006/main">
              <a:ext uri="{FF2B5EF4-FFF2-40B4-BE49-F238E27FC236}">
                <a16:creationId xmlns:a16="http://schemas.microsoft.com/office/drawing/2014/main" id="{8CA46A39-FD2B-4BC1-8CAE-0210C7ED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672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実ユーザによる編集・評価</a:t>
            </a:r>
          </a:p>
        </p:txBody>
      </p:sp>
      <p:sp>
        <p:nvSpPr>
          <p:cNvPr id="9" name="close-line">
            <a:extLst xmlns:a="http://schemas.openxmlformats.org/drawingml/2006/main">
              <a:ext uri="{FF2B5EF4-FFF2-40B4-BE49-F238E27FC236}">
                <a16:creationId xmlns:a16="http://schemas.microsoft.com/office/drawing/2014/main" id="{2F101B7F-1BE8-4189-A281-D4851611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今回：好み反映の成立可能性と、成長を安定させる設計課題を確認</a:t>
            </a:r>
          </a:p>
        </p:txBody>
      </p:sp>
    </p:spTree>
    <p:extLst>
      <p:ext uri="{BB962C8B-B14F-4D97-AF65-F5344CB8AC3E}">
        <p14:creationId xmlns:p14="http://schemas.microsoft.com/office/powerpoint/2010/main" val="1837203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2026-08-16T12:07:58.6820000Z</dcterms:created>
  <dcterms:modified xsi:type="dcterms:W3CDTF">2026-08-16T12:07:58.6820000Z</dcterms:modified>
</coreProperties>
</file>
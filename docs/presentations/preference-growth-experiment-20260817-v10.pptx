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19d7e1482147d4" /><Relationship Type="http://schemas.openxmlformats.org/officeDocument/2006/relationships/extended-properties" Target="/docProps/app.xml" Id="R5bdf50e7d77e4169" /><Relationship Type="http://schemas.openxmlformats.org/officeDocument/2006/relationships/officeDocument" Target="/ppt/presentation.xml" Id="Rd5905e7aeb1e4437" /></Relationships>
</file>

<file path=ppt/presentation.xml><?xml version="1.0" encoding="utf-8"?>
<p:presentation xmlns:p="http://schemas.openxmlformats.org/presentationml/2006/main">
  <p:sldMasterIdLst>
    <p:sldMasterId xmlns:r="http://schemas.openxmlformats.org/officeDocument/2006/relationships" id="2147483648" r:id="Rb209af53bfb84d65"/>
  </p:sldMasterIdLst>
  <p:notesMasterIdLst>
    <p:notesMasterId xmlns:r="http://schemas.openxmlformats.org/officeDocument/2006/relationships" r:id="Ree28f457ba494485"/>
  </p:notesMasterIdLst>
  <p:sldIdLst>
    <p:sldId xmlns:r="http://schemas.openxmlformats.org/officeDocument/2006/relationships" id="256" r:id="Ref9a424d5c944391"/>
    <p:sldId xmlns:r="http://schemas.openxmlformats.org/officeDocument/2006/relationships" id="257" r:id="R69f3b0e11f084aff"/>
    <p:sldId xmlns:r="http://schemas.openxmlformats.org/officeDocument/2006/relationships" id="258" r:id="R613f882a298547d8"/>
    <p:sldId xmlns:r="http://schemas.openxmlformats.org/officeDocument/2006/relationships" id="259" r:id="Rcaf10655f5fb4b9a"/>
    <p:sldId xmlns:r="http://schemas.openxmlformats.org/officeDocument/2006/relationships" id="260" r:id="R252f2a445b4d4061"/>
    <p:sldId xmlns:r="http://schemas.openxmlformats.org/officeDocument/2006/relationships" id="261" r:id="Ra8292551ee8247f8"/>
    <p:sldId xmlns:r="http://schemas.openxmlformats.org/officeDocument/2006/relationships" id="262" r:id="Rd04a1c9e2bb24c4f"/>
    <p:sldId xmlns:r="http://schemas.openxmlformats.org/officeDocument/2006/relationships" id="263" r:id="R98663b3fa2374164"/>
    <p:sldId xmlns:r="http://schemas.openxmlformats.org/officeDocument/2006/relationships" id="264" r:id="R914382286ce044a2"/>
    <p:sldId xmlns:r="http://schemas.openxmlformats.org/officeDocument/2006/relationships" id="265" r:id="R164f359696a649eb"/>
    <p:sldId xmlns:r="http://schemas.openxmlformats.org/officeDocument/2006/relationships" id="266" r:id="Rc379af251f3e4cd9"/>
    <p:sldId xmlns:r="http://schemas.openxmlformats.org/officeDocument/2006/relationships" id="267" r:id="R86e75cdf2cd64789"/>
    <p:sldId xmlns:r="http://schemas.openxmlformats.org/officeDocument/2006/relationships" id="268" r:id="R584c16b657df49ea"/>
    <p:sldId xmlns:r="http://schemas.openxmlformats.org/officeDocument/2006/relationships" id="269" r:id="Rd2ed5d9545864d6c"/>
    <p:sldId xmlns:r="http://schemas.openxmlformats.org/officeDocument/2006/relationships" id="270" r:id="R96743440ba474327"/>
    <p:sldId xmlns:r="http://schemas.openxmlformats.org/officeDocument/2006/relationships" id="271" r:id="R9abfcc31c71e4a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48bec54b6941ff" /><Relationship Type="http://schemas.openxmlformats.org/officeDocument/2006/relationships/slideMaster" Target="/ppt/slideMasters/slideMaster1.xml" Id="Rb209af53bfb84d65" /><Relationship Type="http://schemas.openxmlformats.org/officeDocument/2006/relationships/notesMaster" Target="/ppt/notesMasters/notesMaster1.xml" Id="Ree28f457ba494485" /><Relationship Type="http://schemas.openxmlformats.org/officeDocument/2006/relationships/presProps" Target="/ppt/presProps.xml" Id="Rba549566462e478f" /><Relationship Type="http://schemas.openxmlformats.org/officeDocument/2006/relationships/tableStyles" Target="/ppt/tableStyles.xml" Id="Rcd8734ecd0504f0a" /><Relationship Type="http://schemas.openxmlformats.org/officeDocument/2006/relationships/slide" Target="/ppt/slides/slide1.xml" Id="Ref9a424d5c944391" /><Relationship Type="http://schemas.openxmlformats.org/officeDocument/2006/relationships/slide" Target="/ppt/slides/slide2.xml" Id="R69f3b0e11f084aff" /><Relationship Type="http://schemas.openxmlformats.org/officeDocument/2006/relationships/slide" Target="/ppt/slides/slide3.xml" Id="R613f882a298547d8" /><Relationship Type="http://schemas.openxmlformats.org/officeDocument/2006/relationships/slide" Target="/ppt/slides/slide4.xml" Id="Rcaf10655f5fb4b9a" /><Relationship Type="http://schemas.openxmlformats.org/officeDocument/2006/relationships/slide" Target="/ppt/slides/slide5.xml" Id="R252f2a445b4d4061" /><Relationship Type="http://schemas.openxmlformats.org/officeDocument/2006/relationships/slide" Target="/ppt/slides/slide6.xml" Id="Ra8292551ee8247f8" /><Relationship Type="http://schemas.openxmlformats.org/officeDocument/2006/relationships/slide" Target="/ppt/slides/slide7.xml" Id="Rd04a1c9e2bb24c4f" /><Relationship Type="http://schemas.openxmlformats.org/officeDocument/2006/relationships/slide" Target="/ppt/slides/slide8.xml" Id="R98663b3fa2374164" /><Relationship Type="http://schemas.openxmlformats.org/officeDocument/2006/relationships/slide" Target="/ppt/slides/slide9.xml" Id="R914382286ce044a2" /><Relationship Type="http://schemas.openxmlformats.org/officeDocument/2006/relationships/slide" Target="/ppt/slides/slide10.xml" Id="R164f359696a649eb" /><Relationship Type="http://schemas.openxmlformats.org/officeDocument/2006/relationships/slide" Target="/ppt/slides/slide11.xml" Id="Rc379af251f3e4cd9" /><Relationship Type="http://schemas.openxmlformats.org/officeDocument/2006/relationships/slide" Target="/ppt/slides/slide12.xml" Id="R86e75cdf2cd64789" /><Relationship Type="http://schemas.openxmlformats.org/officeDocument/2006/relationships/slide" Target="/ppt/slides/slide13.xml" Id="R584c16b657df49ea" /><Relationship Type="http://schemas.openxmlformats.org/officeDocument/2006/relationships/slide" Target="/ppt/slides/slide14.xml" Id="Rd2ed5d9545864d6c" /><Relationship Type="http://schemas.openxmlformats.org/officeDocument/2006/relationships/slide" Target="/ppt/slides/slide15.xml" Id="R96743440ba474327" /><Relationship Type="http://schemas.openxmlformats.org/officeDocument/2006/relationships/slide" Target="/ppt/slides/slide16.xml" Id="R9abfcc31c71e4a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fb3b79c4df4f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3c0a54288f4e93" /><Relationship Type="http://schemas.openxmlformats.org/officeDocument/2006/relationships/notesMaster" Target="/ppt/notesMasters/notesMaster1.xml" Id="Ra0fe3071a2da43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fdce515ed84f7b" /><Relationship Type="http://schemas.openxmlformats.org/officeDocument/2006/relationships/notesMaster" Target="/ppt/notesMasters/notesMaster1.xml" Id="R04279b691b0241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70cdcfb1e24b5f" /><Relationship Type="http://schemas.openxmlformats.org/officeDocument/2006/relationships/notesMaster" Target="/ppt/notesMasters/notesMaster1.xml" Id="Re7c307bcac264a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30f50d18424a63" /><Relationship Type="http://schemas.openxmlformats.org/officeDocument/2006/relationships/notesMaster" Target="/ppt/notesMasters/notesMaster1.xml" Id="R6243dd9c20b04f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9ce015fe0b43bc" /><Relationship Type="http://schemas.openxmlformats.org/officeDocument/2006/relationships/notesMaster" Target="/ppt/notesMasters/notesMaster1.xml" Id="R9f0c246c063940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6c8413c2d84501" /><Relationship Type="http://schemas.openxmlformats.org/officeDocument/2006/relationships/notesMaster" Target="/ppt/notesMasters/notesMaster1.xml" Id="R75c4dabacb8845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56ec0c40fb4411" /><Relationship Type="http://schemas.openxmlformats.org/officeDocument/2006/relationships/notesMaster" Target="/ppt/notesMasters/notesMaster1.xml" Id="Rdc2c9fd5fed441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2ce0da3ade4894" /><Relationship Type="http://schemas.openxmlformats.org/officeDocument/2006/relationships/notesMaster" Target="/ppt/notesMasters/notesMaster1.xml" Id="Rc0c0f7ec53e0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6d86b92ecf4244" /><Relationship Type="http://schemas.openxmlformats.org/officeDocument/2006/relationships/notesMaster" Target="/ppt/notesMasters/notesMaster1.xml" Id="Rc1e8f6a2376a46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758bf16e9c4d78" /><Relationship Type="http://schemas.openxmlformats.org/officeDocument/2006/relationships/notesMaster" Target="/ppt/notesMasters/notesMaster1.xml" Id="Rb027f9adafc34c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d4b9f293e84112" /><Relationship Type="http://schemas.openxmlformats.org/officeDocument/2006/relationships/notesMaster" Target="/ppt/notesMasters/notesMaster1.xml" Id="R04402b2ba44440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58d7fa59f34b06" /><Relationship Type="http://schemas.openxmlformats.org/officeDocument/2006/relationships/notesMaster" Target="/ppt/notesMasters/notesMaster1.xml" Id="Re99048dd91a441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65c6cb42ac43f6" /><Relationship Type="http://schemas.openxmlformats.org/officeDocument/2006/relationships/notesMaster" Target="/ppt/notesMasters/notesMaster1.xml" Id="R3ceb9b9dd1be4e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aa08cd93fb49e5" /><Relationship Type="http://schemas.openxmlformats.org/officeDocument/2006/relationships/notesMaster" Target="/ppt/notesMasters/notesMaster1.xml" Id="Rcc88a859ac7548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56ff566cbc4d04" /><Relationship Type="http://schemas.openxmlformats.org/officeDocument/2006/relationships/notesMaster" Target="/ppt/notesMasters/notesMaster1.xml" Id="Raf56cef6d3aa42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9937c96bb34797" /><Relationship Type="http://schemas.openxmlformats.org/officeDocument/2006/relationships/notesMaster" Target="/ppt/notesMasters/notesMaster1.xml" Id="R7314c98691684b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では手法の組み合わせを説明します。正規化編集距離で小さすぎる編集を除外し、LLMで編集意図を分類・一般化します。再利用可能な好みだけをscopeと文脈埋め込み付きで保存します。次回生成時はscopeで絞った後、コサイン類似度で上位8件を検索し、LLMで統合して生成プロンプトへ追加します。現状は類似度閾値がなく、順位付けだけに利用している点が制限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/Users/shohei/Documents/dev/lecture_craft/backend/app/persistence.py</a:t>
            </a:r>
          </a:p>
          <a:p xmlns:a="http://schemas.openxmlformats.org/drawingml/2006/main">
            <a:r>
              <a:t>- /Users/shohei/Documents/dev/lecture_craft/backend/app/service.py</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要修正文率です。生成台本の全文数に対し、模擬ユーザが1か所でも変更した文の割合を計算します。例では比較用が31文中4文で12.9%、実利用側が31文中0文で0%です。この指標は直感的ですが、小さな語句修正と全面書き換えを同じ1文として数えるため、編集距離と具体例を補助的に使い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要修正文率です。2回目と3回目はともに0%から50%、10ポイント刻みに統一しています。簡潔さ重視ではcontrolが3/32文、treatmentが3/25文で、修正文数は同じですが分母が短くなったため率が上昇しました。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優先課題は記憶量を増やすことではなく、重複統合と適用抑制です。現状も生成前の統合処理と文脈類似度検索はありますが、予備実験では似た指示が複数残りました。そのため、保存時の意味的統合、適用閾値、取り消し編集を使った負のフィードバックを強化します。検証では各条件を複数回繰り返し、生成順を無作為化し、実ユーザの編集時間と主観評価も追加し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/Users/shohei/Documents/dev/lecture_craft/backend/experiments/preference_growth/reports/pilot-20260815.md</a:t>
            </a:r>
          </a:p>
          <a:p xmlns:a="http://schemas.openxmlformats.org/drawingml/2006/main">
            <a:r>
              <a:t>- /Users/shohei/Documents/dev/lecture_craft/docs/research-progress-design-lecturecraft.md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元論文の主指標はT=200ラウンドにわたるtoken-level Levenshtein edit distanceの累積です。補助的に正規化編集距離、zero-edit response fraction、人手のwin rateを報告しています。LectureCraftは文単位編集UIで、発表時の解釈を優先して要修正文率を主指標とします。ただし修正規模を区別しないため、編集距離と具体例を補助的に残します。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https://arxiv.org/abs/2404.15269</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規化編集距離は、好み抽出を実行するかどうかのゲートとして使います。ここでの3%は台本全体の変更割合ではありません。編集前後の1文をトークン列にし、Levenshtein距離を長い方のトークン数で割った値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には編集前後とスライド文脈を渡し、JSONだけを返すよう要求します。kindがpreference以外なら、preference欄に文字列があっても保存しません。scopeもLLM出力であるため、正しさは保証されず、今後の検証対象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/Users/shohei/Documents/dev/lecture_craft/backend/src/auto_lecture/config.py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では同一ユーザの新しい履歴を最大80件取得します。実験IDがある場合は同じ実験または実験IDなしの履歴に限定します。その後kind、本文、scopeでフィルタし、埋め込みが取得できればコサイン類似度で並べます。埋め込み生成に失敗した場合は、新しい順のまま最大8件を返します。</a:t>
            </a:r>
          </a:p>
          <a:p xmlns:a="http://schemas.openxmlformats.org/drawingml/2006/main">
            <a:r>
              <a:t/>
            </a:r>
          </a:p>
          <a:p xmlns:a="http://schemas.openxmlformats.org/drawingml/2006/main">
            <a:r>
              <a:t>[Sources]</a:t>
            </a:r>
          </a:p>
          <a:p xmlns:a="http://schemas.openxmlformats.org/drawingml/2006/main">
            <a:r>
              <a:t>- /Users/shohei/Documents/dev/lecture_craft/backend/app/persistence.py</a:t>
            </a:r>
          </a:p>
          <a:p xmlns:a="http://schemas.openxmlformats.org/drawingml/2006/main">
            <a:r>
              <a:t>- /Users/shohei/Documents/dev/lecture_craft/backend/app/preference_memory.py</a:t>
            </a:r>
          </a:p>
          <a:p xmlns:a="http://schemas.openxmlformats.org/drawingml/2006/main">
            <a:r>
              <a:t>- /Users/shohei/Documents/dev/lecture_craft/backend/app/main.py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ならそのまま、2件以上ならLLMで短い箇条書きへ統合します。統合結果は最大1500文字です。生成コンテキストには統合結果に加えて検索された元の好みもEvidenceとして入るため、現在は重複が完全には消えない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1799729c644e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138cefe1ac4050" /><Relationship Type="http://schemas.openxmlformats.org/officeDocument/2006/relationships/slideLayout" Target="/ppt/slideLayouts/slideLayout1.xml" Id="Rf622955a493c42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22955a493c42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18fe96b6d546c3" /><Relationship Type="http://schemas.openxmlformats.org/officeDocument/2006/relationships/notesSlide" Target="/ppt/notesSlides/notesSlide1.xml" Id="R35a218f9639848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31fa9262424374" /><Relationship Type="http://schemas.openxmlformats.org/officeDocument/2006/relationships/notesSlide" Target="/ppt/notesSlides/notesSlide2.xml" Id="Rbccbf602de794e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7f98ce97f7465f" /><Relationship Type="http://schemas.openxmlformats.org/officeDocument/2006/relationships/notesSlide" Target="/ppt/notesSlides/notesSlide3.xml" Id="R73129b3e8f54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6fad2eef514ee6" /><Relationship Type="http://schemas.openxmlformats.org/officeDocument/2006/relationships/notesSlide" Target="/ppt/notesSlides/notesSlide4.xml" Id="R6121dd2a2cab44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671794612d496c" /><Relationship Type="http://schemas.openxmlformats.org/officeDocument/2006/relationships/notesSlide" Target="/ppt/notesSlides/notesSlide5.xml" Id="Reeb8b273acb14b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22b1bc8f3244c1" /><Relationship Type="http://schemas.openxmlformats.org/officeDocument/2006/relationships/chart" Target="/ppt/slides/charts/chart1.xml" Id="Rbbfc53be9e5047c8" /><Relationship Type="http://schemas.openxmlformats.org/officeDocument/2006/relationships/notesSlide" Target="/ppt/notesSlides/notesSlide6.xml" Id="R13e9f2afab4348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4f9fb883d44dd9" /><Relationship Type="http://schemas.openxmlformats.org/officeDocument/2006/relationships/chart" Target="/ppt/slides/charts/chart2.xml" Id="Rc148827c46624df0" /><Relationship Type="http://schemas.openxmlformats.org/officeDocument/2006/relationships/notesSlide" Target="/ppt/notesSlides/notesSlide7.xml" Id="R95049b8591134f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1706ac7be5410b" /><Relationship Type="http://schemas.openxmlformats.org/officeDocument/2006/relationships/notesSlide" Target="/ppt/notesSlides/notesSlide8.xml" Id="R73a32bfd0b4f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271992274541f1" /><Relationship Type="http://schemas.openxmlformats.org/officeDocument/2006/relationships/notesSlide" Target="/ppt/notesSlides/notesSlide9.xml" Id="R4330f3ebc1bc4c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582835e9364f1b" /><Relationship Type="http://schemas.openxmlformats.org/officeDocument/2006/relationships/notesSlide" Target="/ppt/notesSlides/notesSlide10.xml" Id="Rc34af6c4ab5547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581951ceed4ceb" /><Relationship Type="http://schemas.openxmlformats.org/officeDocument/2006/relationships/notesSlide" Target="/ppt/notesSlides/notesSlide11.xml" Id="R0f8f879f20184b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f41d10cff64148" /><Relationship Type="http://schemas.openxmlformats.org/officeDocument/2006/relationships/notesSlide" Target="/ppt/notesSlides/notesSlide12.xml" Id="Raeac1c189d4746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eeb10a5cd04087" /><Relationship Type="http://schemas.openxmlformats.org/officeDocument/2006/relationships/notesSlide" Target="/ppt/notesSlides/notesSlide13.xml" Id="R0a7f975c0f954f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855e054a7743e7" /><Relationship Type="http://schemas.openxmlformats.org/officeDocument/2006/relationships/notesSlide" Target="/ppt/notesSlides/notesSlide14.xml" Id="Radf340a7faa846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542fb6f7dd4fc2" /><Relationship Type="http://schemas.openxmlformats.org/officeDocument/2006/relationships/notesSlide" Target="/ppt/notesSlides/notesSlide15.xml" Id="Rcad6e60969d241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3fa17b96da4720" /><Relationship Type="http://schemas.openxmlformats.org/officeDocument/2006/relationships/notesSlide" Target="/ppt/notesSlides/notesSlide16.xml" Id="Ra5a91006932646e0"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26.32</c:v>
              </c:pt>
              <c:pt idx="1">
                <c:v>14.29</c:v>
              </c:pt>
              <c:pt idx="2">
                <c:v>12.9</c:v>
              </c:pt>
              <c:pt idx="3">
                <c:v>9.38</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12.5</c:v>
              </c:pt>
              <c:pt idx="1">
                <c:v>12.82</c:v>
              </c:pt>
              <c:pt idx="2">
                <c:v>0</c:v>
              </c:pt>
              <c:pt idx="3">
                <c:v>12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40</c:v>
              </c:pt>
              <c:pt idx="1">
                <c:v>12.9</c:v>
              </c:pt>
              <c:pt idx="2">
                <c:v>0</c:v>
              </c:pt>
              <c:pt idx="3">
                <c:v>40.74</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28.95</c:v>
              </c:pt>
              <c:pt idx="1">
                <c:v>16.67</c:v>
              </c:pt>
              <c:pt idx="2">
                <c:v>3.45</c:v>
              </c:pt>
              <c:pt idx="3">
                <c:v>31.82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654C437D-4ABF-4021-B604-C1FBF98F2EAF}"/>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C4AC40C3-52A9-4DC2-97CC-594DDC31B1F4}"/>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B2A0ED84-1B3D-4600-B2B5-CB0605B5361E}"/>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3549302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2">
            <a:extLst xmlns:a="http://schemas.openxmlformats.org/drawingml/2006/main">
              <a:ext uri="{FF2B5EF4-FFF2-40B4-BE49-F238E27FC236}">
                <a16:creationId xmlns:a16="http://schemas.microsoft.com/office/drawing/2014/main" id="{454E4027-064B-4D6C-BC4C-BF2341932AE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編集差を一般化し、関連する好みだけを次回生成へ渡す</a:t>
            </a:r>
          </a:p>
        </p:txBody>
      </p:sp>
      <p:sp>
        <p:nvSpPr>
          <p:cNvPr id="2" name="page-2">
            <a:extLst xmlns:a="http://schemas.openxmlformats.org/drawingml/2006/main">
              <a:ext uri="{FF2B5EF4-FFF2-40B4-BE49-F238E27FC236}">
                <a16:creationId xmlns:a16="http://schemas.microsoft.com/office/drawing/2014/main" id="{863E188B-8001-43C2-A545-40D9E1A5664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extract-head">
            <a:extLst xmlns:a="http://schemas.openxmlformats.org/drawingml/2006/main">
              <a:ext uri="{FF2B5EF4-FFF2-40B4-BE49-F238E27FC236}">
                <a16:creationId xmlns:a16="http://schemas.microsoft.com/office/drawing/2014/main" id="{E287531B-B3E4-4D5E-9E80-B91902D6EBF0}"/>
              </a:ext>
            </a:extLst>
          </p:cNvPr>
          <p:cNvSpPr>
            <a:spLocks xmlns:a="http://schemas.openxmlformats.org/drawingml/2006/main" noGrp="1"/>
          </p:cNvSpPr>
          <p:nvPr/>
        </p:nvSpPr>
        <p:spPr>
          <a:xfrm xmlns:a="http://schemas.openxmlformats.org/drawingml/2006/main">
            <a:off x="619125" y="1143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好みの抽出</a:t>
            </a:r>
          </a:p>
        </p:txBody>
      </p:sp>
      <p:sp>
        <p:nvSpPr>
          <p:cNvPr id="4" name="apply-head">
            <a:extLst xmlns:a="http://schemas.openxmlformats.org/drawingml/2006/main">
              <a:ext uri="{FF2B5EF4-FFF2-40B4-BE49-F238E27FC236}">
                <a16:creationId xmlns:a16="http://schemas.microsoft.com/office/drawing/2014/main" id="{31E150F4-2541-4E6B-A144-7BCA11A77AC4}"/>
              </a:ext>
            </a:extLst>
          </p:cNvPr>
          <p:cNvSpPr>
            <a:spLocks xmlns:a="http://schemas.openxmlformats.org/drawingml/2006/main" noGrp="1"/>
          </p:cNvSpPr>
          <p:nvPr/>
        </p:nvSpPr>
        <p:spPr>
          <a:xfrm xmlns:a="http://schemas.openxmlformats.org/drawingml/2006/main">
            <a:off x="6810375" y="1143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E8A34B"/>
                </a:solidFill>
                <a:latin typeface="Helvetica Neue"/>
                <a:ea typeface="Helvetica Neue"/>
                <a:cs typeface="Helvetica Neue"/>
              </a:defRPr>
            </a:pPr>
            <a:r>
              <a:rPr sz="1875" b="1">
                <a:solidFill>
                  <a:srgbClr val="E8A34B"/>
                </a:solidFill>
                <a:latin typeface="Helvetica Neue"/>
                <a:ea typeface="Helvetica Neue"/>
                <a:cs typeface="Helvetica Neue"/>
              </a:rPr>
              <a:t>好みの反映</a:t>
            </a:r>
          </a:p>
        </p:txBody>
      </p:sp>
      <p:sp>
        <p:nvSpPr>
          <p:cNvPr id="5" name="left-a1">
            <a:extLst xmlns:a="http://schemas.openxmlformats.org/drawingml/2006/main">
              <a:ext uri="{FF2B5EF4-FFF2-40B4-BE49-F238E27FC236}">
                <a16:creationId xmlns:a16="http://schemas.microsoft.com/office/drawing/2014/main" id="{E78DE085-B54D-415B-ACBA-22737A9E72CC}"/>
              </a:ext>
            </a:extLst>
          </p:cNvPr>
          <p:cNvSpPr>
            <a:spLocks xmlns:a="http://schemas.openxmlformats.org/drawingml/2006/main" noGrp="1"/>
          </p:cNvSpPr>
          <p:nvPr/>
        </p:nvSpPr>
        <p:spPr>
          <a:xfrm xmlns:a="http://schemas.openxmlformats.org/drawingml/2006/main">
            <a:off x="2333625"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ft-a2">
            <a:extLst xmlns:a="http://schemas.openxmlformats.org/drawingml/2006/main">
              <a:ext uri="{FF2B5EF4-FFF2-40B4-BE49-F238E27FC236}">
                <a16:creationId xmlns:a16="http://schemas.microsoft.com/office/drawing/2014/main" id="{84FD134B-8B0A-4D36-B5A3-8B5630678596}"/>
              </a:ext>
            </a:extLst>
          </p:cNvPr>
          <p:cNvSpPr>
            <a:spLocks xmlns:a="http://schemas.openxmlformats.org/drawingml/2006/main" noGrp="1"/>
          </p:cNvSpPr>
          <p:nvPr/>
        </p:nvSpPr>
        <p:spPr>
          <a:xfrm xmlns:a="http://schemas.openxmlformats.org/drawingml/2006/main">
            <a:off x="4476750"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bridge">
            <a:extLst xmlns:a="http://schemas.openxmlformats.org/drawingml/2006/main">
              <a:ext uri="{FF2B5EF4-FFF2-40B4-BE49-F238E27FC236}">
                <a16:creationId xmlns:a16="http://schemas.microsoft.com/office/drawing/2014/main" id="{9FE3651F-7EA5-49E8-9C49-D0180C67FDCE}"/>
              </a:ext>
            </a:extLst>
          </p:cNvPr>
          <p:cNvSpPr>
            <a:spLocks xmlns:a="http://schemas.openxmlformats.org/drawingml/2006/main" noGrp="1"/>
          </p:cNvSpPr>
          <p:nvPr/>
        </p:nvSpPr>
        <p:spPr>
          <a:xfrm xmlns:a="http://schemas.openxmlformats.org/drawingml/2006/main">
            <a:off x="6619875" y="231457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right-a1">
            <a:extLst xmlns:a="http://schemas.openxmlformats.org/drawingml/2006/main">
              <a:ext uri="{FF2B5EF4-FFF2-40B4-BE49-F238E27FC236}">
                <a16:creationId xmlns:a16="http://schemas.microsoft.com/office/drawing/2014/main" id="{66F8F05D-D080-44AA-85AC-C12A9051AF6C}"/>
              </a:ext>
            </a:extLst>
          </p:cNvPr>
          <p:cNvSpPr>
            <a:spLocks xmlns:a="http://schemas.openxmlformats.org/drawingml/2006/main" noGrp="1"/>
          </p:cNvSpPr>
          <p:nvPr/>
        </p:nvSpPr>
        <p:spPr>
          <a:xfrm xmlns:a="http://schemas.openxmlformats.org/drawingml/2006/main">
            <a:off x="9144000"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left-0">
            <a:extLst xmlns:a="http://schemas.openxmlformats.org/drawingml/2006/main">
              <a:ext uri="{FF2B5EF4-FFF2-40B4-BE49-F238E27FC236}">
                <a16:creationId xmlns:a16="http://schemas.microsoft.com/office/drawing/2014/main" id="{8330F57F-21D3-4C56-AE11-31EB78B7A247}"/>
              </a:ext>
            </a:extLst>
          </p:cNvPr>
          <p:cNvSpPr>
            <a:spLocks xmlns:a="http://schemas.openxmlformats.org/drawingml/2006/main" noGrp="1"/>
          </p:cNvSpPr>
          <p:nvPr/>
        </p:nvSpPr>
        <p:spPr>
          <a:xfrm xmlns:a="http://schemas.openxmlformats.org/drawingml/2006/main">
            <a:off x="523875" y="1714500"/>
            <a:ext cx="1809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left-h-0">
            <a:extLst xmlns:a="http://schemas.openxmlformats.org/drawingml/2006/main">
              <a:ext uri="{FF2B5EF4-FFF2-40B4-BE49-F238E27FC236}">
                <a16:creationId xmlns:a16="http://schemas.microsoft.com/office/drawing/2014/main" id="{F297AADD-41B8-4D5A-B7BD-20B55F751717}"/>
              </a:ext>
            </a:extLst>
          </p:cNvPr>
          <p:cNvSpPr>
            <a:spLocks xmlns:a="http://schemas.openxmlformats.org/drawingml/2006/main" noGrp="1"/>
          </p:cNvSpPr>
          <p:nvPr/>
        </p:nvSpPr>
        <p:spPr>
          <a:xfrm xmlns:a="http://schemas.openxmlformats.org/drawingml/2006/main">
            <a:off x="619125"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① 正規化編集距離</a:t>
            </a:r>
          </a:p>
        </p:txBody>
      </p:sp>
      <p:sp>
        <p:nvSpPr>
          <p:cNvPr id="11" name="left-b-0">
            <a:extLst xmlns:a="http://schemas.openxmlformats.org/drawingml/2006/main">
              <a:ext uri="{FF2B5EF4-FFF2-40B4-BE49-F238E27FC236}">
                <a16:creationId xmlns:a16="http://schemas.microsoft.com/office/drawing/2014/main" id="{8AF45BFD-26E2-457B-8AD7-DB88E853EB90}"/>
              </a:ext>
            </a:extLst>
          </p:cNvPr>
          <p:cNvSpPr>
            <a:spLocks xmlns:a="http://schemas.openxmlformats.org/drawingml/2006/main" noGrp="1"/>
          </p:cNvSpPr>
          <p:nvPr/>
        </p:nvSpPr>
        <p:spPr>
          <a:xfrm xmlns:a="http://schemas.openxmlformats.org/drawingml/2006/main">
            <a:off x="619125"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差が3%以下の編集を除外</a:t>
            </a:r>
          </a:p>
        </p:txBody>
      </p:sp>
      <p:sp>
        <p:nvSpPr>
          <p:cNvPr id="12" name="left-1">
            <a:extLst xmlns:a="http://schemas.openxmlformats.org/drawingml/2006/main">
              <a:ext uri="{FF2B5EF4-FFF2-40B4-BE49-F238E27FC236}">
                <a16:creationId xmlns:a16="http://schemas.microsoft.com/office/drawing/2014/main" id="{A37787DE-BC79-4A0F-8C1F-AE6BB1546DBD}"/>
              </a:ext>
            </a:extLst>
          </p:cNvPr>
          <p:cNvSpPr>
            <a:spLocks xmlns:a="http://schemas.openxmlformats.org/drawingml/2006/main" noGrp="1"/>
          </p:cNvSpPr>
          <p:nvPr/>
        </p:nvSpPr>
        <p:spPr>
          <a:xfrm xmlns:a="http://schemas.openxmlformats.org/drawingml/2006/main">
            <a:off x="2667000" y="1714500"/>
            <a:ext cx="1809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left-h-1">
            <a:extLst xmlns:a="http://schemas.openxmlformats.org/drawingml/2006/main">
              <a:ext uri="{FF2B5EF4-FFF2-40B4-BE49-F238E27FC236}">
                <a16:creationId xmlns:a16="http://schemas.microsoft.com/office/drawing/2014/main" id="{0480CA03-4421-4924-B2C3-A1EF435B944F}"/>
              </a:ext>
            </a:extLst>
          </p:cNvPr>
          <p:cNvSpPr>
            <a:spLocks xmlns:a="http://schemas.openxmlformats.org/drawingml/2006/main" noGrp="1"/>
          </p:cNvSpPr>
          <p:nvPr/>
        </p:nvSpPr>
        <p:spPr>
          <a:xfrm xmlns:a="http://schemas.openxmlformats.org/drawingml/2006/main">
            <a:off x="2762250"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92"/>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② LLMによる意図推定</a:t>
            </a:r>
          </a:p>
        </p:txBody>
      </p:sp>
      <p:sp>
        <p:nvSpPr>
          <p:cNvPr id="14" name="left-b-1">
            <a:extLst xmlns:a="http://schemas.openxmlformats.org/drawingml/2006/main">
              <a:ext uri="{FF2B5EF4-FFF2-40B4-BE49-F238E27FC236}">
                <a16:creationId xmlns:a16="http://schemas.microsoft.com/office/drawing/2014/main" id="{23D8DAF8-67BF-499E-9219-D3BF134D8E21}"/>
              </a:ext>
            </a:extLst>
          </p:cNvPr>
          <p:cNvSpPr>
            <a:spLocks xmlns:a="http://schemas.openxmlformats.org/drawingml/2006/main" noGrp="1"/>
          </p:cNvSpPr>
          <p:nvPr/>
        </p:nvSpPr>
        <p:spPr>
          <a:xfrm xmlns:a="http://schemas.openxmlformats.org/drawingml/2006/main">
            <a:off x="2762250"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917"/>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好み／内容訂正／今回だけ／不明</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に分類し、好みを一般化</a:t>
            </a:r>
          </a:p>
        </p:txBody>
      </p:sp>
      <p:sp>
        <p:nvSpPr>
          <p:cNvPr id="15" name="left-2">
            <a:extLst xmlns:a="http://schemas.openxmlformats.org/drawingml/2006/main">
              <a:ext uri="{FF2B5EF4-FFF2-40B4-BE49-F238E27FC236}">
                <a16:creationId xmlns:a16="http://schemas.microsoft.com/office/drawing/2014/main" id="{9E076197-1BC4-4379-A4BE-A01369A9DCC6}"/>
              </a:ext>
            </a:extLst>
          </p:cNvPr>
          <p:cNvSpPr>
            <a:spLocks xmlns:a="http://schemas.openxmlformats.org/drawingml/2006/main" noGrp="1"/>
          </p:cNvSpPr>
          <p:nvPr/>
        </p:nvSpPr>
        <p:spPr>
          <a:xfrm xmlns:a="http://schemas.openxmlformats.org/drawingml/2006/main">
            <a:off x="4810125" y="1714500"/>
            <a:ext cx="1809750" cy="11906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left-h-2">
            <a:extLst xmlns:a="http://schemas.openxmlformats.org/drawingml/2006/main">
              <a:ext uri="{FF2B5EF4-FFF2-40B4-BE49-F238E27FC236}">
                <a16:creationId xmlns:a16="http://schemas.microsoft.com/office/drawing/2014/main" id="{5A9D634B-01C7-4480-8DFB-1D36F3CB7D86}"/>
              </a:ext>
            </a:extLst>
          </p:cNvPr>
          <p:cNvSpPr>
            <a:spLocks xmlns:a="http://schemas.openxmlformats.org/drawingml/2006/main" noGrp="1"/>
          </p:cNvSpPr>
          <p:nvPr/>
        </p:nvSpPr>
        <p:spPr>
          <a:xfrm xmlns:a="http://schemas.openxmlformats.org/drawingml/2006/main">
            <a:off x="4905375"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③ Scope付きで保存</a:t>
            </a:r>
          </a:p>
        </p:txBody>
      </p:sp>
      <p:sp>
        <p:nvSpPr>
          <p:cNvPr id="17" name="left-b-2">
            <a:extLst xmlns:a="http://schemas.openxmlformats.org/drawingml/2006/main">
              <a:ext uri="{FF2B5EF4-FFF2-40B4-BE49-F238E27FC236}">
                <a16:creationId xmlns:a16="http://schemas.microsoft.com/office/drawing/2014/main" id="{E8F420E8-8AA8-495D-83BC-54D7DD70CBDB}"/>
              </a:ext>
            </a:extLst>
          </p:cNvPr>
          <p:cNvSpPr>
            <a:spLocks xmlns:a="http://schemas.openxmlformats.org/drawingml/2006/main" noGrp="1"/>
          </p:cNvSpPr>
          <p:nvPr/>
        </p:nvSpPr>
        <p:spPr>
          <a:xfrm xmlns:a="http://schemas.openxmlformats.org/drawingml/2006/main">
            <a:off x="4905375"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347"/>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user・project・mode・difficulty</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の適用範囲とともに記録</a:t>
            </a:r>
          </a:p>
        </p:txBody>
      </p:sp>
      <p:sp>
        <p:nvSpPr>
          <p:cNvPr id="18" name="right-0">
            <a:extLst xmlns:a="http://schemas.openxmlformats.org/drawingml/2006/main">
              <a:ext uri="{FF2B5EF4-FFF2-40B4-BE49-F238E27FC236}">
                <a16:creationId xmlns:a16="http://schemas.microsoft.com/office/drawing/2014/main" id="{3F0D57E4-4C20-400B-96A3-D748C2E313D9}"/>
              </a:ext>
            </a:extLst>
          </p:cNvPr>
          <p:cNvSpPr>
            <a:spLocks xmlns:a="http://schemas.openxmlformats.org/drawingml/2006/main" noGrp="1"/>
          </p:cNvSpPr>
          <p:nvPr/>
        </p:nvSpPr>
        <p:spPr>
          <a:xfrm xmlns:a="http://schemas.openxmlformats.org/drawingml/2006/main">
            <a:off x="7048500" y="1714500"/>
            <a:ext cx="2190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right-h-0">
            <a:extLst xmlns:a="http://schemas.openxmlformats.org/drawingml/2006/main">
              <a:ext uri="{FF2B5EF4-FFF2-40B4-BE49-F238E27FC236}">
                <a16:creationId xmlns:a16="http://schemas.microsoft.com/office/drawing/2014/main" id="{F5E152D2-6479-4FBB-B066-09FACCA01C74}"/>
              </a:ext>
            </a:extLst>
          </p:cNvPr>
          <p:cNvSpPr>
            <a:spLocks xmlns:a="http://schemas.openxmlformats.org/drawingml/2006/main" noGrp="1"/>
          </p:cNvSpPr>
          <p:nvPr/>
        </p:nvSpPr>
        <p:spPr>
          <a:xfrm xmlns:a="http://schemas.openxmlformats.org/drawingml/2006/main">
            <a:off x="7162800" y="19240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④ 文脈類似度で検索</a:t>
            </a:r>
          </a:p>
        </p:txBody>
      </p:sp>
      <p:sp>
        <p:nvSpPr>
          <p:cNvPr id="20" name="right-b-0">
            <a:extLst xmlns:a="http://schemas.openxmlformats.org/drawingml/2006/main">
              <a:ext uri="{FF2B5EF4-FFF2-40B4-BE49-F238E27FC236}">
                <a16:creationId xmlns:a16="http://schemas.microsoft.com/office/drawing/2014/main" id="{41055E95-2237-4342-874B-DFB7F4A6C3D9}"/>
              </a:ext>
            </a:extLst>
          </p:cNvPr>
          <p:cNvSpPr>
            <a:spLocks xmlns:a="http://schemas.openxmlformats.org/drawingml/2006/main" noGrp="1"/>
          </p:cNvSpPr>
          <p:nvPr/>
        </p:nvSpPr>
        <p:spPr>
          <a:xfrm xmlns:a="http://schemas.openxmlformats.org/drawingml/2006/main">
            <a:off x="7162800" y="235267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806"/>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text-embedding-3-small</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＋コサイン類似度で順位付け</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上位8件を取得</a:t>
            </a:r>
          </a:p>
        </p:txBody>
      </p:sp>
      <p:sp>
        <p:nvSpPr>
          <p:cNvPr id="21" name="right-1">
            <a:extLst xmlns:a="http://schemas.openxmlformats.org/drawingml/2006/main">
              <a:ext uri="{FF2B5EF4-FFF2-40B4-BE49-F238E27FC236}">
                <a16:creationId xmlns:a16="http://schemas.microsoft.com/office/drawing/2014/main" id="{8A7AA9F5-2A5D-42D7-B119-644327A5953A}"/>
              </a:ext>
            </a:extLst>
          </p:cNvPr>
          <p:cNvSpPr>
            <a:spLocks xmlns:a="http://schemas.openxmlformats.org/drawingml/2006/main" noGrp="1"/>
          </p:cNvSpPr>
          <p:nvPr/>
        </p:nvSpPr>
        <p:spPr>
          <a:xfrm xmlns:a="http://schemas.openxmlformats.org/drawingml/2006/main">
            <a:off x="9477375" y="1714500"/>
            <a:ext cx="2190750" cy="1190625"/>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22" name="right-h-1">
            <a:extLst xmlns:a="http://schemas.openxmlformats.org/drawingml/2006/main">
              <a:ext uri="{FF2B5EF4-FFF2-40B4-BE49-F238E27FC236}">
                <a16:creationId xmlns:a16="http://schemas.microsoft.com/office/drawing/2014/main" id="{45D3FC75-013B-4CED-A22C-F6D2C4CB1103}"/>
              </a:ext>
            </a:extLst>
          </p:cNvPr>
          <p:cNvSpPr>
            <a:spLocks xmlns:a="http://schemas.openxmlformats.org/drawingml/2006/main" noGrp="1"/>
          </p:cNvSpPr>
          <p:nvPr/>
        </p:nvSpPr>
        <p:spPr>
          <a:xfrm xmlns:a="http://schemas.openxmlformats.org/drawingml/2006/main">
            <a:off x="9591675" y="19240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086"/>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⑤ LLMで統合 → Prompt追加</a:t>
            </a:r>
          </a:p>
        </p:txBody>
      </p:sp>
      <p:sp>
        <p:nvSpPr>
          <p:cNvPr id="23" name="right-b-1">
            <a:extLst xmlns:a="http://schemas.openxmlformats.org/drawingml/2006/main">
              <a:ext uri="{FF2B5EF4-FFF2-40B4-BE49-F238E27FC236}">
                <a16:creationId xmlns:a16="http://schemas.microsoft.com/office/drawing/2014/main" id="{8ED7BFFE-EEEA-4BC7-94FC-CF8B4D816D77}"/>
              </a:ext>
            </a:extLst>
          </p:cNvPr>
          <p:cNvSpPr>
            <a:spLocks xmlns:a="http://schemas.openxmlformats.org/drawingml/2006/main" noGrp="1"/>
          </p:cNvSpPr>
          <p:nvPr/>
        </p:nvSpPr>
        <p:spPr>
          <a:xfrm xmlns:a="http://schemas.openxmlformats.org/drawingml/2006/main">
            <a:off x="9591675" y="235267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91"/>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重複・矛盾を整理し、該当時だけ</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説明順序・補足量・言い換え方へ反映</a:t>
            </a:r>
          </a:p>
        </p:txBody>
      </p:sp>
      <p:sp>
        <p:nvSpPr>
          <p:cNvPr id="24" name="db">
            <a:extLst xmlns:a="http://schemas.openxmlformats.org/drawingml/2006/main">
              <a:ext uri="{FF2B5EF4-FFF2-40B4-BE49-F238E27FC236}">
                <a16:creationId xmlns:a16="http://schemas.microsoft.com/office/drawing/2014/main" id="{68468538-E57B-42AB-9853-72416D02B616}"/>
              </a:ext>
            </a:extLst>
          </p:cNvPr>
          <p:cNvSpPr>
            <a:spLocks xmlns:a="http://schemas.openxmlformats.org/drawingml/2006/main" noGrp="1"/>
          </p:cNvSpPr>
          <p:nvPr/>
        </p:nvSpPr>
        <p:spPr>
          <a:xfrm xmlns:a="http://schemas.openxmlformats.org/drawingml/2006/main">
            <a:off x="5191125" y="3238500"/>
            <a:ext cx="1809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db-t">
            <a:extLst xmlns:a="http://schemas.openxmlformats.org/drawingml/2006/main">
              <a:ext uri="{FF2B5EF4-FFF2-40B4-BE49-F238E27FC236}">
                <a16:creationId xmlns:a16="http://schemas.microsoft.com/office/drawing/2014/main" id="{1DB0DFB6-BF64-43F4-BC53-6B51C42A98A7}"/>
              </a:ext>
            </a:extLst>
          </p:cNvPr>
          <p:cNvSpPr>
            <a:spLocks xmlns:a="http://schemas.openxmlformats.org/drawingml/2006/main" noGrp="1"/>
          </p:cNvSpPr>
          <p:nvPr/>
        </p:nvSpPr>
        <p:spPr>
          <a:xfrm xmlns:a="http://schemas.openxmlformats.org/drawingml/2006/main">
            <a:off x="5334000" y="33718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32"/>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編集履歴DB</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一般化した好み＋文脈ベクトル</a:t>
            </a:r>
          </a:p>
        </p:txBody>
      </p:sp>
      <p:sp>
        <p:nvSpPr>
          <p:cNvPr id="26" name="example-label">
            <a:extLst xmlns:a="http://schemas.openxmlformats.org/drawingml/2006/main">
              <a:ext uri="{FF2B5EF4-FFF2-40B4-BE49-F238E27FC236}">
                <a16:creationId xmlns:a16="http://schemas.microsoft.com/office/drawing/2014/main" id="{946C7DA4-05B6-4481-A055-F706026379CE}"/>
              </a:ext>
            </a:extLst>
          </p:cNvPr>
          <p:cNvSpPr>
            <a:spLocks xmlns:a="http://schemas.openxmlformats.org/drawingml/2006/main" noGrp="1"/>
          </p:cNvSpPr>
          <p:nvPr/>
        </p:nvSpPr>
        <p:spPr>
          <a:xfrm xmlns:a="http://schemas.openxmlformats.org/drawingml/2006/main">
            <a:off x="619125" y="4095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具体例</a:t>
            </a:r>
          </a:p>
        </p:txBody>
      </p:sp>
      <p:sp>
        <p:nvSpPr>
          <p:cNvPr id="27" name="ex-before">
            <a:extLst xmlns:a="http://schemas.openxmlformats.org/drawingml/2006/main">
              <a:ext uri="{FF2B5EF4-FFF2-40B4-BE49-F238E27FC236}">
                <a16:creationId xmlns:a16="http://schemas.microsoft.com/office/drawing/2014/main" id="{29C9B3E2-224C-461B-8850-02EB65CB7D34}"/>
              </a:ext>
            </a:extLst>
          </p:cNvPr>
          <p:cNvSpPr>
            <a:spLocks xmlns:a="http://schemas.openxmlformats.org/drawingml/2006/main" noGrp="1"/>
          </p:cNvSpPr>
          <p:nvPr/>
        </p:nvSpPr>
        <p:spPr>
          <a:xfrm xmlns:a="http://schemas.openxmlformats.org/drawingml/2006/main">
            <a:off x="619125" y="4495800"/>
            <a:ext cx="3143250"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8" name="ex-before-t">
            <a:extLst xmlns:a="http://schemas.openxmlformats.org/drawingml/2006/main">
              <a:ext uri="{FF2B5EF4-FFF2-40B4-BE49-F238E27FC236}">
                <a16:creationId xmlns:a16="http://schemas.microsoft.com/office/drawing/2014/main" id="{38981078-5D5B-48C5-B17C-3810281541EF}"/>
              </a:ext>
            </a:extLst>
          </p:cNvPr>
          <p:cNvSpPr>
            <a:spLocks xmlns:a="http://schemas.openxmlformats.org/drawingml/2006/main" noGrp="1"/>
          </p:cNvSpPr>
          <p:nvPr/>
        </p:nvSpPr>
        <p:spPr>
          <a:xfrm xmlns:a="http://schemas.openxmlformats.org/drawingml/2006/main">
            <a:off x="781050" y="4629150"/>
            <a:ext cx="281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編集前</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「キーの役割を具体化します」</a:t>
            </a:r>
          </a:p>
        </p:txBody>
      </p:sp>
      <p:sp>
        <p:nvSpPr>
          <p:cNvPr id="29" name="ex-a1">
            <a:extLst xmlns:a="http://schemas.openxmlformats.org/drawingml/2006/main">
              <a:ext uri="{FF2B5EF4-FFF2-40B4-BE49-F238E27FC236}">
                <a16:creationId xmlns:a16="http://schemas.microsoft.com/office/drawing/2014/main" id="{17A654DB-F4F9-4EEC-8264-FB49AB46D57A}"/>
              </a:ext>
            </a:extLst>
          </p:cNvPr>
          <p:cNvSpPr>
            <a:spLocks xmlns:a="http://schemas.openxmlformats.org/drawingml/2006/main" noGrp="1"/>
          </p:cNvSpPr>
          <p:nvPr/>
        </p:nvSpPr>
        <p:spPr>
          <a:xfrm xmlns:a="http://schemas.openxmlformats.org/drawingml/2006/main">
            <a:off x="3905250" y="481012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0" name="ex-after">
            <a:extLst xmlns:a="http://schemas.openxmlformats.org/drawingml/2006/main">
              <a:ext uri="{FF2B5EF4-FFF2-40B4-BE49-F238E27FC236}">
                <a16:creationId xmlns:a16="http://schemas.microsoft.com/office/drawing/2014/main" id="{F9D01D20-0291-4E8A-89A9-DA5EA89E8DD2}"/>
              </a:ext>
            </a:extLst>
          </p:cNvPr>
          <p:cNvSpPr>
            <a:spLocks xmlns:a="http://schemas.openxmlformats.org/drawingml/2006/main" noGrp="1"/>
          </p:cNvSpPr>
          <p:nvPr/>
        </p:nvSpPr>
        <p:spPr>
          <a:xfrm xmlns:a="http://schemas.openxmlformats.org/drawingml/2006/main">
            <a:off x="4476750" y="4495800"/>
            <a:ext cx="390525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1" name="ex-after-t">
            <a:extLst xmlns:a="http://schemas.openxmlformats.org/drawingml/2006/main">
              <a:ext uri="{FF2B5EF4-FFF2-40B4-BE49-F238E27FC236}">
                <a16:creationId xmlns:a16="http://schemas.microsoft.com/office/drawing/2014/main" id="{2CD9443C-C71A-4563-B6B6-C2B5C236A5C8}"/>
              </a:ext>
            </a:extLst>
          </p:cNvPr>
          <p:cNvSpPr>
            <a:spLocks xmlns:a="http://schemas.openxmlformats.org/drawingml/2006/main" noGrp="1"/>
          </p:cNvSpPr>
          <p:nvPr/>
        </p:nvSpPr>
        <p:spPr>
          <a:xfrm xmlns:a="http://schemas.openxmlformats.org/drawingml/2006/main">
            <a:off x="4638675" y="4591050"/>
            <a:ext cx="358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99"/>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編集後</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「主キーは行を一意に識別し、外部キーは表同士を結び付けます」</a:t>
            </a:r>
          </a:p>
        </p:txBody>
      </p:sp>
      <p:sp>
        <p:nvSpPr>
          <p:cNvPr id="32" name="ex-a2">
            <a:extLst xmlns:a="http://schemas.openxmlformats.org/drawingml/2006/main">
              <a:ext uri="{FF2B5EF4-FFF2-40B4-BE49-F238E27FC236}">
                <a16:creationId xmlns:a16="http://schemas.microsoft.com/office/drawing/2014/main" id="{A5FEE328-8664-4805-9D8D-4D2DB67813F3}"/>
              </a:ext>
            </a:extLst>
          </p:cNvPr>
          <p:cNvSpPr>
            <a:spLocks xmlns:a="http://schemas.openxmlformats.org/drawingml/2006/main" noGrp="1"/>
          </p:cNvSpPr>
          <p:nvPr/>
        </p:nvSpPr>
        <p:spPr>
          <a:xfrm xmlns:a="http://schemas.openxmlformats.org/drawingml/2006/main">
            <a:off x="8524875" y="481012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3" name="ex-pref">
            <a:extLst xmlns:a="http://schemas.openxmlformats.org/drawingml/2006/main">
              <a:ext uri="{FF2B5EF4-FFF2-40B4-BE49-F238E27FC236}">
                <a16:creationId xmlns:a16="http://schemas.microsoft.com/office/drawing/2014/main" id="{6527BC1B-BB9B-455A-BC07-CBE3BCFF6EC5}"/>
              </a:ext>
            </a:extLst>
          </p:cNvPr>
          <p:cNvSpPr>
            <a:spLocks xmlns:a="http://schemas.openxmlformats.org/drawingml/2006/main" noGrp="1"/>
          </p:cNvSpPr>
          <p:nvPr/>
        </p:nvSpPr>
        <p:spPr>
          <a:xfrm xmlns:a="http://schemas.openxmlformats.org/drawingml/2006/main">
            <a:off x="9096375" y="4362450"/>
            <a:ext cx="2571750" cy="9334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34" name="ex-pref-t">
            <a:extLst xmlns:a="http://schemas.openxmlformats.org/drawingml/2006/main">
              <a:ext uri="{FF2B5EF4-FFF2-40B4-BE49-F238E27FC236}">
                <a16:creationId xmlns:a16="http://schemas.microsoft.com/office/drawing/2014/main" id="{53B30067-39CC-48BB-8271-4CADA2EB4BE4}"/>
              </a:ext>
            </a:extLst>
          </p:cNvPr>
          <p:cNvSpPr>
            <a:spLocks xmlns:a="http://schemas.openxmlformats.org/drawingml/2006/main" noGrp="1"/>
          </p:cNvSpPr>
          <p:nvPr/>
        </p:nvSpPr>
        <p:spPr>
          <a:xfrm xmlns:a="http://schemas.openxmlformats.org/drawingml/2006/main">
            <a:off x="9239250" y="451485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抽出された好み</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「曖昧な予告ではなく、</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主要内容を先に示す」</a:t>
            </a:r>
          </a:p>
        </p:txBody>
      </p:sp>
      <p:sp>
        <p:nvSpPr>
          <p:cNvPr id="35" name="limit-main">
            <a:extLst xmlns:a="http://schemas.openxmlformats.org/drawingml/2006/main">
              <a:ext uri="{FF2B5EF4-FFF2-40B4-BE49-F238E27FC236}">
                <a16:creationId xmlns:a16="http://schemas.microsoft.com/office/drawing/2014/main" id="{1D1D10A6-72CA-4780-ABBB-81E0BFE96388}"/>
              </a:ext>
            </a:extLst>
          </p:cNvPr>
          <p:cNvSpPr>
            <a:spLocks xmlns:a="http://schemas.openxmlformats.org/drawingml/2006/main" noGrp="1"/>
          </p:cNvSpPr>
          <p:nvPr/>
        </p:nvSpPr>
        <p:spPr>
          <a:xfrm xmlns:a="http://schemas.openxmlformats.org/drawingml/2006/main">
            <a:off x="1952625" y="5715000"/>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D66A5E"/>
                </a:solidFill>
                <a:latin typeface="Helvetica Neue"/>
                <a:ea typeface="Helvetica Neue"/>
                <a:cs typeface="Helvetica Neue"/>
              </a:defRPr>
            </a:pPr>
            <a:r>
              <a:rPr sz="1500" b="1">
                <a:solidFill>
                  <a:srgbClr val="D66A5E"/>
                </a:solidFill>
                <a:latin typeface="Helvetica Neue"/>
                <a:ea typeface="Helvetica Neue"/>
                <a:cs typeface="Helvetica Neue"/>
              </a:rPr>
              <a:t>現状：コサイン類似度は順位付けのみに使用し、採用閾値は未設定</a:t>
            </a:r>
          </a:p>
        </p:txBody>
      </p:sp>
      <p:sp>
        <p:nvSpPr>
          <p:cNvPr id="36" name="flow-foot">
            <a:extLst xmlns:a="http://schemas.openxmlformats.org/drawingml/2006/main">
              <a:ext uri="{FF2B5EF4-FFF2-40B4-BE49-F238E27FC236}">
                <a16:creationId xmlns:a16="http://schemas.microsoft.com/office/drawing/2014/main" id="{3E824337-88D9-41B9-B729-580D79304DC9}"/>
              </a:ext>
            </a:extLst>
          </p:cNvPr>
          <p:cNvSpPr>
            <a:spLocks xmlns:a="http://schemas.openxmlformats.org/drawingml/2006/main" noGrp="1"/>
          </p:cNvSpPr>
          <p:nvPr/>
        </p:nvSpPr>
        <p:spPr>
          <a:xfrm xmlns:a="http://schemas.openxmlformats.org/drawingml/2006/main">
            <a:off x="2571750" y="611505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61666E"/>
                </a:solidFill>
                <a:latin typeface="Helvetica Neue"/>
                <a:ea typeface="Helvetica Neue"/>
                <a:cs typeface="Helvetica Neue"/>
              </a:defRPr>
            </a:pPr>
            <a:r>
              <a:rPr sz="1275" b="0">
                <a:solidFill>
                  <a:srgbClr val="61666E"/>
                </a:solidFill>
                <a:latin typeface="Helvetica Neue"/>
                <a:ea typeface="Helvetica Neue"/>
                <a:cs typeface="Helvetica Neue"/>
              </a:rPr>
              <a:t>詳細な数式・入出力・例外処理は補足スライド13〜16に記載</a:t>
            </a:r>
          </a:p>
        </p:txBody>
      </p:sp>
    </p:spTree>
    <p:extLst>
      <p:ext uri="{BB962C8B-B14F-4D97-AF65-F5344CB8AC3E}">
        <p14:creationId xmlns:p14="http://schemas.microsoft.com/office/powerpoint/2010/main" val="20890752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403DF852-5AC2-48FB-812B-BC730DBF990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329E276C-D319-41B0-8FC3-F653F3D53DF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DA8ED4E7-F4D2-445E-8EDE-16E8FC4F2D5D}"/>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46176F3C-1F65-4317-BD41-46FF421D6D61}"/>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7601757C-9D8E-4B6D-9288-EEF680EC678C}"/>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5830752B-6964-4969-BBE4-3DBD286ECC38}"/>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7323FB07-3BB3-4273-BE97-ECA8A39F0757}"/>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CC807570-C06D-4005-BDF4-6314B5B6D61F}"/>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1B416706-A23F-4F0B-BF90-005C6B1169F5}"/>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172E6E2C-5A9B-4DE6-97F9-A81252F9D3AF}"/>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0F0E976A-8807-4895-9759-CB373D62CD30}"/>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7AC5DFC4-D8AA-4514-9EC6-278599071318}"/>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F344002A-6C29-4FF5-A221-6609FD0FA009}"/>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C2826229-4AD2-42B1-989C-6557E891D366}"/>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ABA5AC3A-EF73-4C1D-BD83-E2AFA0470593}"/>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310E2A51-6069-4E87-B4C9-CC36B8A92A4E}"/>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73190DDE-F122-4758-B2CE-A33DBB959B78}"/>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C8B35FB8-BA6C-46A7-9E16-76E7715265AD}"/>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49AFEB59-22A2-4B90-B22C-7DCE21ED19E8}"/>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B9D67116-DD21-43C1-8F02-F4A1AEABB6C0}"/>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8593726B-C712-444D-9211-F35386776580}"/>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09C3D91B-01C5-41AE-829B-7295925DCB98}"/>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3" name="control-2">
            <a:extLst xmlns:a="http://schemas.openxmlformats.org/drawingml/2006/main">
              <a:ext uri="{FF2B5EF4-FFF2-40B4-BE49-F238E27FC236}">
                <a16:creationId xmlns:a16="http://schemas.microsoft.com/office/drawing/2014/main" id="{32AB831C-E803-4565-86DB-1297B604D051}"/>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7D27C0A6-58F5-46C9-9BE2-9012D2AD4233}"/>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実利用側との要修正文率を比較</a:t>
            </a:r>
          </a:p>
        </p:txBody>
      </p:sp>
      <p:sp>
        <p:nvSpPr>
          <p:cNvPr id="25" name="no-feed-1">
            <a:extLst xmlns:a="http://schemas.openxmlformats.org/drawingml/2006/main">
              <a:ext uri="{FF2B5EF4-FFF2-40B4-BE49-F238E27FC236}">
                <a16:creationId xmlns:a16="http://schemas.microsoft.com/office/drawing/2014/main" id="{2D878B03-22C2-4F6A-8B39-864E52BF7CCC}"/>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C800A0B5-1752-4435-9B09-5C3338E76E73}"/>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C8354B73-7434-4561-BC68-2686167316F0}"/>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2132315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4F2A3FE8-9ABA-4915-B5E0-DCEE6C28D79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069ABEB2-BA92-489E-9CCB-DABF186D642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9AE892D7-A848-489A-B908-9358AFF1E332}"/>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16122D03-F124-47E1-AAE9-55F757E7599B}"/>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FCA7895B-C023-46C9-894D-FE1A6CB00965}"/>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35D25973-F48B-465D-99C9-6D2BB61B94B9}"/>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1FB8CEB6-3BDC-46CB-B591-845880630CF3}"/>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A8705A9E-FE99-475B-963F-6CAF4BC9F87F}"/>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4E882652-42B1-4A87-ACE7-1174DCBDC61C}"/>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3042EDFD-8EE4-4F69-9E6C-DCA58B0D6EFD}"/>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5E160D34-93AD-4D0E-845B-8B3B2C60824A}"/>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51602292-7714-455A-81B1-DFF0B49B5290}"/>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7160833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BE98BC57-43CB-4262-B6C6-5BD059043CE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主指標は「修正が必要だった文の割合」</a:t>
            </a:r>
          </a:p>
        </p:txBody>
      </p:sp>
      <p:sp>
        <p:nvSpPr>
          <p:cNvPr id="2" name="page-5">
            <a:extLst xmlns:a="http://schemas.openxmlformats.org/drawingml/2006/main">
              <a:ext uri="{FF2B5EF4-FFF2-40B4-BE49-F238E27FC236}">
                <a16:creationId xmlns:a16="http://schemas.microsoft.com/office/drawing/2014/main" id="{BB6CF117-8E24-41F8-A4D7-9740EC55BF2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0D23BA3C-F26F-4E31-8B4A-B3C5D25B0B51}"/>
              </a:ext>
            </a:extLst>
          </p:cNvPr>
          <p:cNvSpPr>
            <a:spLocks xmlns:a="http://schemas.openxmlformats.org/drawingml/2006/main" noGrp="1"/>
          </p:cNvSpPr>
          <p:nvPr/>
        </p:nvSpPr>
        <p:spPr>
          <a:xfrm xmlns:a="http://schemas.openxmlformats.org/drawingml/2006/main">
            <a:off x="1571625" y="11430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111"/>
                </a:solidFill>
                <a:latin typeface="Helvetica Neue"/>
                <a:ea typeface="Helvetica Neue"/>
                <a:cs typeface="Helvetica Neue"/>
              </a:defRPr>
            </a:pPr>
            <a:r>
              <a:rPr sz="2175" b="1">
                <a:solidFill>
                  <a:srgbClr val="111111"/>
                </a:solidFill>
                <a:latin typeface="Helvetica Neue"/>
                <a:ea typeface="Helvetica Neue"/>
                <a:cs typeface="Helvetica Neue"/>
              </a:rPr>
              <a:t>要修正文率 ＝ 修正した文数 ÷ 生成台本の全文数</a:t>
            </a:r>
          </a:p>
        </p:txBody>
      </p:sp>
      <p:sp>
        <p:nvSpPr>
          <p:cNvPr id="4" name="metric-arrow-1">
            <a:extLst xmlns:a="http://schemas.openxmlformats.org/drawingml/2006/main">
              <a:ext uri="{FF2B5EF4-FFF2-40B4-BE49-F238E27FC236}">
                <a16:creationId xmlns:a16="http://schemas.microsoft.com/office/drawing/2014/main" id="{8308210A-25C1-4F78-A13F-EEFFAA479480}"/>
              </a:ext>
            </a:extLst>
          </p:cNvPr>
          <p:cNvSpPr>
            <a:spLocks xmlns:a="http://schemas.openxmlformats.org/drawingml/2006/main" noGrp="1"/>
          </p:cNvSpPr>
          <p:nvPr/>
        </p:nvSpPr>
        <p:spPr>
          <a:xfrm xmlns:a="http://schemas.openxmlformats.org/drawingml/2006/main">
            <a:off x="5429250" y="3190875"/>
            <a:ext cx="1047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example-h">
            <a:extLst xmlns:a="http://schemas.openxmlformats.org/drawingml/2006/main">
              <a:ext uri="{FF2B5EF4-FFF2-40B4-BE49-F238E27FC236}">
                <a16:creationId xmlns:a16="http://schemas.microsoft.com/office/drawing/2014/main" id="{1685D2F7-19E9-496F-A15D-AC0BA761637D}"/>
              </a:ext>
            </a:extLst>
          </p:cNvPr>
          <p:cNvSpPr>
            <a:spLocks xmlns:a="http://schemas.openxmlformats.org/drawingml/2006/main" noGrp="1"/>
          </p:cNvSpPr>
          <p:nvPr/>
        </p:nvSpPr>
        <p:spPr>
          <a:xfrm xmlns:a="http://schemas.openxmlformats.org/drawingml/2006/main">
            <a:off x="66675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実測例：結論先行・2回目</a:t>
            </a:r>
          </a:p>
        </p:txBody>
      </p:sp>
      <p:sp>
        <p:nvSpPr>
          <p:cNvPr id="6" name="control-example">
            <a:extLst xmlns:a="http://schemas.openxmlformats.org/drawingml/2006/main">
              <a:ext uri="{FF2B5EF4-FFF2-40B4-BE49-F238E27FC236}">
                <a16:creationId xmlns:a16="http://schemas.microsoft.com/office/drawing/2014/main" id="{24BC5358-8C90-4200-898F-79C67D66980D}"/>
              </a:ext>
            </a:extLst>
          </p:cNvPr>
          <p:cNvSpPr>
            <a:spLocks xmlns:a="http://schemas.openxmlformats.org/drawingml/2006/main" noGrp="1"/>
          </p:cNvSpPr>
          <p:nvPr/>
        </p:nvSpPr>
        <p:spPr>
          <a:xfrm xmlns:a="http://schemas.openxmlformats.org/drawingml/2006/main">
            <a:off x="666750" y="2571750"/>
            <a:ext cx="4762500" cy="1619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control-example-t">
            <a:extLst xmlns:a="http://schemas.openxmlformats.org/drawingml/2006/main">
              <a:ext uri="{FF2B5EF4-FFF2-40B4-BE49-F238E27FC236}">
                <a16:creationId xmlns:a16="http://schemas.microsoft.com/office/drawing/2014/main" id="{26B5E1E2-8F98-4544-828D-CC9095F02F0F}"/>
              </a:ext>
            </a:extLst>
          </p:cNvPr>
          <p:cNvSpPr>
            <a:spLocks xmlns:a="http://schemas.openxmlformats.org/drawingml/2006/main" noGrp="1"/>
          </p:cNvSpPr>
          <p:nvPr/>
        </p:nvSpPr>
        <p:spPr>
          <a:xfrm xmlns:a="http://schemas.openxmlformats.org/drawingml/2006/main">
            <a:off x="10001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比較用：履歴なし</a:t>
            </a:r>
          </a:p>
          <a:p xmlns:a="http://schemas.openxmlformats.org/drawingml/2006/main">
            <a:r>
              <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31文中 4文を修正</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4 ÷ 31 ＝ 12.9%</a:t>
            </a:r>
          </a:p>
        </p:txBody>
      </p:sp>
      <p:sp>
        <p:nvSpPr>
          <p:cNvPr id="8" name="treatment-example">
            <a:extLst xmlns:a="http://schemas.openxmlformats.org/drawingml/2006/main">
              <a:ext uri="{FF2B5EF4-FFF2-40B4-BE49-F238E27FC236}">
                <a16:creationId xmlns:a16="http://schemas.microsoft.com/office/drawing/2014/main" id="{6FB382B6-1507-4344-A822-1091E14B6AB3}"/>
              </a:ext>
            </a:extLst>
          </p:cNvPr>
          <p:cNvSpPr>
            <a:spLocks xmlns:a="http://schemas.openxmlformats.org/drawingml/2006/main" noGrp="1"/>
          </p:cNvSpPr>
          <p:nvPr/>
        </p:nvSpPr>
        <p:spPr>
          <a:xfrm xmlns:a="http://schemas.openxmlformats.org/drawingml/2006/main">
            <a:off x="6572250" y="2571750"/>
            <a:ext cx="4762500" cy="1619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treatment-example-t">
            <a:extLst xmlns:a="http://schemas.openxmlformats.org/drawingml/2006/main">
              <a:ext uri="{FF2B5EF4-FFF2-40B4-BE49-F238E27FC236}">
                <a16:creationId xmlns:a16="http://schemas.microsoft.com/office/drawing/2014/main" id="{59D372CD-A3D3-493C-9931-0635FEF424B7}"/>
              </a:ext>
            </a:extLst>
          </p:cNvPr>
          <p:cNvSpPr>
            <a:spLocks xmlns:a="http://schemas.openxmlformats.org/drawingml/2006/main" noGrp="1"/>
          </p:cNvSpPr>
          <p:nvPr/>
        </p:nvSpPr>
        <p:spPr>
          <a:xfrm xmlns:a="http://schemas.openxmlformats.org/drawingml/2006/main">
            <a:off x="69056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実利用側：履歴あり</a:t>
            </a:r>
          </a:p>
          <a:p xmlns:a="http://schemas.openxmlformats.org/drawingml/2006/main">
            <a:r>
              <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31文中 0文を修正</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 ÷ 31 ＝ 0%</a:t>
            </a:r>
          </a:p>
        </p:txBody>
      </p:sp>
      <p:sp>
        <p:nvSpPr>
          <p:cNvPr id="10" name="meaning">
            <a:extLst xmlns:a="http://schemas.openxmlformats.org/drawingml/2006/main">
              <a:ext uri="{FF2B5EF4-FFF2-40B4-BE49-F238E27FC236}">
                <a16:creationId xmlns:a16="http://schemas.microsoft.com/office/drawing/2014/main" id="{A52DA888-9279-4902-B666-224DA42CB24E}"/>
              </a:ext>
            </a:extLst>
          </p:cNvPr>
          <p:cNvSpPr>
            <a:spLocks xmlns:a="http://schemas.openxmlformats.org/drawingml/2006/main" noGrp="1"/>
          </p:cNvSpPr>
          <p:nvPr/>
        </p:nvSpPr>
        <p:spPr>
          <a:xfrm xmlns:a="http://schemas.openxmlformats.org/drawingml/2006/main">
            <a:off x="1381125" y="4762500"/>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12.9% → 0%：好みを使った台本では、修正が必要な文がなくなった</a:t>
            </a:r>
          </a:p>
        </p:txBody>
      </p:sp>
      <p:sp>
        <p:nvSpPr>
          <p:cNvPr id="11" name="rule">
            <a:extLst xmlns:a="http://schemas.openxmlformats.org/drawingml/2006/main">
              <a:ext uri="{FF2B5EF4-FFF2-40B4-BE49-F238E27FC236}">
                <a16:creationId xmlns:a16="http://schemas.microsoft.com/office/drawing/2014/main" id="{9ECD7ECC-7DF6-486B-BCDE-FA167BA9F22E}"/>
              </a:ext>
            </a:extLst>
          </p:cNvPr>
          <p:cNvSpPr>
            <a:spLocks xmlns:a="http://schemas.openxmlformats.org/drawingml/2006/main" noGrp="1"/>
          </p:cNvSpPr>
          <p:nvPr/>
        </p:nvSpPr>
        <p:spPr>
          <a:xfrm xmlns:a="http://schemas.openxmlformats.org/drawingml/2006/main">
            <a:off x="1190625" y="54292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語句を1か所でも変更した文を「要修正」と数える。値が小さいほど、そのまま使える文が多い。</a:t>
            </a:r>
          </a:p>
        </p:txBody>
      </p:sp>
      <p:sp>
        <p:nvSpPr>
          <p:cNvPr id="12" name="limit">
            <a:extLst xmlns:a="http://schemas.openxmlformats.org/drawingml/2006/main">
              <a:ext uri="{FF2B5EF4-FFF2-40B4-BE49-F238E27FC236}">
                <a16:creationId xmlns:a16="http://schemas.microsoft.com/office/drawing/2014/main" id="{A15428C3-1371-4AFC-8330-3DD91AAA86B8}"/>
              </a:ext>
            </a:extLst>
          </p:cNvPr>
          <p:cNvSpPr>
            <a:spLocks xmlns:a="http://schemas.openxmlformats.org/drawingml/2006/main" noGrp="1"/>
          </p:cNvSpPr>
          <p:nvPr/>
        </p:nvSpPr>
        <p:spPr>
          <a:xfrm xmlns:a="http://schemas.openxmlformats.org/drawingml/2006/main">
            <a:off x="1381125" y="60483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修正の大きさは区別しないため、編集距離と具体的な編集例を補助的に確認する</a:t>
            </a:r>
          </a:p>
        </p:txBody>
      </p:sp>
    </p:spTree>
    <p:extLst>
      <p:ext uri="{BB962C8B-B14F-4D97-AF65-F5344CB8AC3E}">
        <p14:creationId xmlns:p14="http://schemas.microsoft.com/office/powerpoint/2010/main" val="9947039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B0AED753-82E7-447F-9027-3B8B0AFA888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2回目：3種類で要修正文率が低下、簡潔さでは上昇</a:t>
            </a:r>
          </a:p>
        </p:txBody>
      </p:sp>
      <p:sp>
        <p:nvSpPr>
          <p:cNvPr id="2" name="page-6">
            <a:extLst xmlns:a="http://schemas.openxmlformats.org/drawingml/2006/main">
              <a:ext uri="{FF2B5EF4-FFF2-40B4-BE49-F238E27FC236}">
                <a16:creationId xmlns:a16="http://schemas.microsoft.com/office/drawing/2014/main" id="{9AD72396-9B47-48C7-A15C-10B0C0B6816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bbfc53be9e5047c8"/>
          </a:graphicData>
        </a:graphic>
      </p:graphicFrame>
      <p:sp>
        <p:nvSpPr>
          <p:cNvPr id="4" name="r2-leg-c">
            <a:extLst xmlns:a="http://schemas.openxmlformats.org/drawingml/2006/main">
              <a:ext uri="{FF2B5EF4-FFF2-40B4-BE49-F238E27FC236}">
                <a16:creationId xmlns:a16="http://schemas.microsoft.com/office/drawing/2014/main" id="{CCFD4BF3-FFEF-4D49-AF34-7D00BB1963E3}"/>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4CF03436-AB40-443E-9BCE-8163B0A368BA}"/>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985ACC8A-39BF-4585-B6B4-A12093D42C1C}"/>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8C7F904E-4A56-4716-841E-42AF70483454}"/>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F789CB7C-8698-481A-A915-B09B2BDE4C00}"/>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2-head">
            <a:extLst xmlns:a="http://schemas.openxmlformats.org/drawingml/2006/main">
              <a:ext uri="{FF2B5EF4-FFF2-40B4-BE49-F238E27FC236}">
                <a16:creationId xmlns:a16="http://schemas.microsoft.com/office/drawing/2014/main" id="{891C4EFA-553A-476A-91E8-59EEE496D17E}"/>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比較用 → 実利用側</a:t>
            </a:r>
          </a:p>
        </p:txBody>
      </p:sp>
      <p:sp>
        <p:nvSpPr>
          <p:cNvPr id="10" name="r2-values">
            <a:extLst xmlns:a="http://schemas.openxmlformats.org/drawingml/2006/main">
              <a:ext uri="{FF2B5EF4-FFF2-40B4-BE49-F238E27FC236}">
                <a16:creationId xmlns:a16="http://schemas.microsoft.com/office/drawing/2014/main" id="{ACCB640A-154A-4C1A-B6B0-DF461003A425}"/>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26.3 → 12.5%</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14.3 → 12.8%</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12.9 → 0%</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9.4 → 12.0%</a:t>
            </a:r>
          </a:p>
        </p:txBody>
      </p:sp>
      <p:sp>
        <p:nvSpPr>
          <p:cNvPr id="11" name="r2-foot">
            <a:extLst xmlns:a="http://schemas.openxmlformats.org/drawingml/2006/main">
              <a:ext uri="{FF2B5EF4-FFF2-40B4-BE49-F238E27FC236}">
                <a16:creationId xmlns:a16="http://schemas.microsoft.com/office/drawing/2014/main" id="{C152408E-B17D-4C32-9854-45C3ECC6464F}"/>
              </a:ext>
            </a:extLst>
          </p:cNvPr>
          <p:cNvSpPr>
            <a:spLocks xmlns:a="http://schemas.openxmlformats.org/drawingml/2006/main" noGrp="1"/>
          </p:cNvSpPr>
          <p:nvPr/>
        </p:nvSpPr>
        <p:spPr>
          <a:xfrm xmlns:a="http://schemas.openxmlformats.org/drawingml/2006/main">
            <a:off x="8905875" y="5095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簡潔さでは、修正文数は3文のまま分母が変化</a:t>
            </a:r>
          </a:p>
        </p:txBody>
      </p:sp>
    </p:spTree>
    <p:extLst>
      <p:ext uri="{BB962C8B-B14F-4D97-AF65-F5344CB8AC3E}">
        <p14:creationId xmlns:p14="http://schemas.microsoft.com/office/powerpoint/2010/main" val="15213574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24564D0C-193D-4BE1-855B-E8C4F19FDD9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E11315C8-C07D-4CB8-9D96-64F1E87A43B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c148827c46624df0"/>
          </a:graphicData>
        </a:graphic>
      </p:graphicFrame>
      <p:sp>
        <p:nvSpPr>
          <p:cNvPr id="4" name="r3-leg-c">
            <a:extLst xmlns:a="http://schemas.openxmlformats.org/drawingml/2006/main">
              <a:ext uri="{FF2B5EF4-FFF2-40B4-BE49-F238E27FC236}">
                <a16:creationId xmlns:a16="http://schemas.microsoft.com/office/drawing/2014/main" id="{34D462C6-62A5-42BC-BAC2-A56B20197549}"/>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D27A77E9-F436-4665-B6A1-65B99DA5ACBB}"/>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4E191121-E9D7-46D7-8FB6-F6384EE64361}"/>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CE4C7080-F5A4-4407-95CF-1004A595A52C}"/>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BA01F14E-D8D9-4825-8690-BBA15841F183}"/>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3-good">
            <a:extLst xmlns:a="http://schemas.openxmlformats.org/drawingml/2006/main">
              <a:ext uri="{FF2B5EF4-FFF2-40B4-BE49-F238E27FC236}">
                <a16:creationId xmlns:a16="http://schemas.microsoft.com/office/drawing/2014/main" id="{4A074891-4A52-440F-B63E-F2CCB992096F}"/>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低下</a:t>
            </a:r>
          </a:p>
        </p:txBody>
      </p:sp>
      <p:sp>
        <p:nvSpPr>
          <p:cNvPr id="10" name="r3-good-v">
            <a:extLst xmlns:a="http://schemas.openxmlformats.org/drawingml/2006/main">
              <a:ext uri="{FF2B5EF4-FFF2-40B4-BE49-F238E27FC236}">
                <a16:creationId xmlns:a16="http://schemas.microsoft.com/office/drawing/2014/main" id="{EF3710DB-CDD1-43DA-8950-382F33981B52}"/>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40.0 → 29.0%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40.7 → 31.8%</a:t>
            </a:r>
          </a:p>
        </p:txBody>
      </p:sp>
      <p:sp>
        <p:nvSpPr>
          <p:cNvPr id="11" name="r3-bad">
            <a:extLst xmlns:a="http://schemas.openxmlformats.org/drawingml/2006/main">
              <a:ext uri="{FF2B5EF4-FFF2-40B4-BE49-F238E27FC236}">
                <a16:creationId xmlns:a16="http://schemas.microsoft.com/office/drawing/2014/main" id="{87DAD850-251C-4D27-98BC-6330D958FEC6}"/>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上昇</a:t>
            </a:r>
          </a:p>
        </p:txBody>
      </p:sp>
      <p:sp>
        <p:nvSpPr>
          <p:cNvPr id="12" name="r3-bad-v">
            <a:extLst xmlns:a="http://schemas.openxmlformats.org/drawingml/2006/main">
              <a:ext uri="{FF2B5EF4-FFF2-40B4-BE49-F238E27FC236}">
                <a16:creationId xmlns:a16="http://schemas.microsoft.com/office/drawing/2014/main" id="{574E69EA-B186-4914-B191-2E97D081880B}"/>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12.9 → 16.7%</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0 → 3.5%</a:t>
            </a:r>
          </a:p>
        </p:txBody>
      </p:sp>
      <p:sp>
        <p:nvSpPr>
          <p:cNvPr id="13" name="r3-foot">
            <a:extLst xmlns:a="http://schemas.openxmlformats.org/drawingml/2006/main">
              <a:ext uri="{FF2B5EF4-FFF2-40B4-BE49-F238E27FC236}">
                <a16:creationId xmlns:a16="http://schemas.microsoft.com/office/drawing/2014/main" id="{1F38243F-412C-4AE9-B0D7-DC0B4D84B314}"/>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2912191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A26EDA42-4069-424B-8F66-1828614938D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3DC559B9-7B7F-4C4C-8C8E-E154B554257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09AC8251-6180-4232-96BD-79F4D91DABD8}"/>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1B4F5DE5-0B4C-4048-9D9B-A8B1BD2098C5}"/>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775CFA64-8DC8-4481-87DB-303A489C1F0F}"/>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46DDD1C8-BF4D-417D-BB2C-B8ADDACD36FB}"/>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8982A5D3-BFDC-4CC1-8904-B4224C918F62}"/>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34156C49-B33D-45FC-B532-F1A6EF45B85A}"/>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60DA1954-E680-4B69-BCB4-5A1356C5AC94}"/>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C91C6F5E-587C-4D80-A363-8BFEC0AAC24F}"/>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4687E85D-BE96-4E7D-BF82-96CABDE0B551}"/>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AEBAE40B-00EC-4C5F-9EB7-917EC030C5E8}"/>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35B8E751-2ACD-4B1B-822B-1984AECD691F}"/>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83E153DA-02BB-42B1-AB6A-A26D7D982109}"/>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7C121F2B-E0E8-4606-ABA5-82D8B50DC836}"/>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7773304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A665A64B-214F-44CB-B74A-69A91894652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失敗例：具体例重視では、3回目に要修正文率が上がった</a:t>
            </a:r>
          </a:p>
        </p:txBody>
      </p:sp>
      <p:sp>
        <p:nvSpPr>
          <p:cNvPr id="2" name="page-9">
            <a:extLst xmlns:a="http://schemas.openxmlformats.org/drawingml/2006/main">
              <a:ext uri="{FF2B5EF4-FFF2-40B4-BE49-F238E27FC236}">
                <a16:creationId xmlns:a16="http://schemas.microsoft.com/office/drawing/2014/main" id="{FC585A15-CA2E-42F9-8E58-56E0CD79D694}"/>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569F687C-4E66-48D3-93DF-B6C493E92EC5}"/>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DC9CB64D-893C-4126-88F1-079F73604FC4}"/>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E50F5D32-5CF0-429E-ACCB-6F129FA41FFD}"/>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2CC88D0E-936E-46C9-AED4-B9AD4B006024}"/>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B1EEF4CF-F0C4-423D-B63E-251949C369FA}"/>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9AEE989E-3D50-4631-AF48-E66A37E2A2D3}"/>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602F418F-3740-4B57-B410-F0817B3B32A9}"/>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EA91AF81-9E8D-4ABA-A12A-2269B9CC7C8D}"/>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98FFD6B4-9140-4E25-AB87-B5017C1D08DC}"/>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095EC35F-C374-4583-86AB-E8F4F2A0B779}"/>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B3AAB447-5E84-4AFE-B9F9-59265B19342F}"/>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6FECE1CC-B1CE-4542-8172-DBAA8B0E30C2}"/>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4B124DEA-B06D-4A95-8DB5-EDE609390385}"/>
              </a:ext>
            </a:extLst>
          </p:cNvPr>
          <p:cNvSpPr>
            <a:spLocks xmlns:a="http://schemas.openxmlformats.org/drawingml/2006/main" noGrp="1"/>
          </p:cNvSpPr>
          <p:nvPr/>
        </p:nvSpPr>
        <p:spPr>
          <a:xfrm xmlns:a="http://schemas.openxmlformats.org/drawingml/2006/main">
            <a:off x="7715250" y="3000375"/>
            <a:ext cx="3429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比較用　4 / 31文（12.9%）</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実利用側　5 / 30文（16.7%）</a:t>
            </a:r>
          </a:p>
        </p:txBody>
      </p:sp>
      <p:sp>
        <p:nvSpPr>
          <p:cNvPr id="16" name="fail-red">
            <a:extLst xmlns:a="http://schemas.openxmlformats.org/drawingml/2006/main">
              <a:ext uri="{FF2B5EF4-FFF2-40B4-BE49-F238E27FC236}">
                <a16:creationId xmlns:a16="http://schemas.microsoft.com/office/drawing/2014/main" id="{5804469D-0546-400E-88E2-CFE8D438A957}"/>
              </a:ext>
            </a:extLst>
          </p:cNvPr>
          <p:cNvSpPr>
            <a:spLocks xmlns:a="http://schemas.openxmlformats.org/drawingml/2006/main" noGrp="1"/>
          </p:cNvSpPr>
          <p:nvPr/>
        </p:nvSpPr>
        <p:spPr>
          <a:xfrm xmlns:a="http://schemas.openxmlformats.org/drawingml/2006/main">
            <a:off x="7667625" y="3857625"/>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D66A5E"/>
                </a:solidFill>
                <a:latin typeface="Helvetica Neue"/>
                <a:ea typeface="Helvetica Neue"/>
                <a:cs typeface="Helvetica Neue"/>
              </a:defRPr>
            </a:pPr>
            <a:r>
              <a:rPr sz="1650" b="1">
                <a:solidFill>
                  <a:srgbClr val="D66A5E"/>
                </a:solidFill>
                <a:latin typeface="Helvetica Neue"/>
                <a:ea typeface="Helvetica Neue"/>
                <a:cs typeface="Helvetica Neue"/>
              </a:rPr>
              <a:t>要修正文率 3.8ポイント増</a:t>
            </a:r>
          </a:p>
        </p:txBody>
      </p:sp>
      <p:sp>
        <p:nvSpPr>
          <p:cNvPr id="17" name="fail-meaning">
            <a:extLst xmlns:a="http://schemas.openxmlformats.org/drawingml/2006/main">
              <a:ext uri="{FF2B5EF4-FFF2-40B4-BE49-F238E27FC236}">
                <a16:creationId xmlns:a16="http://schemas.microsoft.com/office/drawing/2014/main" id="{E7C6135A-CB93-4F5A-B82F-66C55226A598}"/>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8FFC9EA4-3DFD-4E4B-AB65-9BFB50DA4D19}"/>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2194682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D2FA1CB8-86EF-46E5-8164-1ABF8C03ACD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D7989AD8-2AE2-4C64-930D-249D803173C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2047D7D7-2241-4721-9C6D-B2A3D442CD9C}"/>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BAEBA8A1-2AA9-4126-B00D-91C975AA45FF}"/>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CE039BFE-0656-4129-998D-5924BDBE6F0E}"/>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21BD6BD8-4F8E-44FF-AFD8-9D507D3821B3}"/>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D2FA9BBE-61CA-450B-BC7A-1FD88B28D8D8}"/>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BD4A3113-9175-46A5-953A-CB4E68A7EB26}"/>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23117F75-D035-4E55-9B2D-E230D6E6D024}"/>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1691044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11">
            <a:extLst xmlns:a="http://schemas.openxmlformats.org/drawingml/2006/main">
              <a:ext uri="{FF2B5EF4-FFF2-40B4-BE49-F238E27FC236}">
                <a16:creationId xmlns:a16="http://schemas.microsoft.com/office/drawing/2014/main" id="{5F0A2EFA-5443-4636-BDF5-242D6B55017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次の改良：記憶の統合と適用抑制を先に強化する</a:t>
            </a:r>
          </a:p>
        </p:txBody>
      </p:sp>
      <p:sp>
        <p:nvSpPr>
          <p:cNvPr id="2" name="page-11">
            <a:extLst xmlns:a="http://schemas.openxmlformats.org/drawingml/2006/main">
              <a:ext uri="{FF2B5EF4-FFF2-40B4-BE49-F238E27FC236}">
                <a16:creationId xmlns:a16="http://schemas.microsoft.com/office/drawing/2014/main" id="{54686FBE-81FF-4B9F-964D-93B9D56D59E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road-0">
            <a:extLst xmlns:a="http://schemas.openxmlformats.org/drawingml/2006/main">
              <a:ext uri="{FF2B5EF4-FFF2-40B4-BE49-F238E27FC236}">
                <a16:creationId xmlns:a16="http://schemas.microsoft.com/office/drawing/2014/main" id="{5ED63FAB-2FC0-42A6-AEB2-17DD0EB6AE9E}"/>
              </a:ext>
            </a:extLst>
          </p:cNvPr>
          <p:cNvSpPr>
            <a:spLocks xmlns:a="http://schemas.openxmlformats.org/drawingml/2006/main" noGrp="1"/>
          </p:cNvSpPr>
          <p:nvPr/>
        </p:nvSpPr>
        <p:spPr>
          <a:xfrm xmlns:a="http://schemas.openxmlformats.org/drawingml/2006/main">
            <a:off x="523875" y="1666875"/>
            <a:ext cx="3333750" cy="27146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4" name="road-h-0">
            <a:extLst xmlns:a="http://schemas.openxmlformats.org/drawingml/2006/main">
              <a:ext uri="{FF2B5EF4-FFF2-40B4-BE49-F238E27FC236}">
                <a16:creationId xmlns:a16="http://schemas.microsoft.com/office/drawing/2014/main" id="{8C012D5D-23D7-4BCC-8BC5-C66C35DD3D90}"/>
              </a:ext>
            </a:extLst>
          </p:cNvPr>
          <p:cNvSpPr>
            <a:spLocks xmlns:a="http://schemas.openxmlformats.org/drawingml/2006/main" noGrp="1"/>
          </p:cNvSpPr>
          <p:nvPr/>
        </p:nvSpPr>
        <p:spPr>
          <a:xfrm xmlns:a="http://schemas.openxmlformats.org/drawingml/2006/main">
            <a:off x="75247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① 重複する好みをまとめる</a:t>
            </a:r>
          </a:p>
        </p:txBody>
      </p:sp>
      <p:sp>
        <p:nvSpPr>
          <p:cNvPr id="5" name="road-b-0">
            <a:extLst xmlns:a="http://schemas.openxmlformats.org/drawingml/2006/main">
              <a:ext uri="{FF2B5EF4-FFF2-40B4-BE49-F238E27FC236}">
                <a16:creationId xmlns:a16="http://schemas.microsoft.com/office/drawing/2014/main" id="{F28591C8-BD8E-4754-9778-6A530125A981}"/>
              </a:ext>
            </a:extLst>
          </p:cNvPr>
          <p:cNvSpPr>
            <a:spLocks xmlns:a="http://schemas.openxmlformats.org/drawingml/2006/main" noGrp="1"/>
          </p:cNvSpPr>
          <p:nvPr/>
        </p:nvSpPr>
        <p:spPr>
          <a:xfrm xmlns:a="http://schemas.openxmlformats.org/drawingml/2006/main">
            <a:off x="79057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意味が近い履歴を1件に統合</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同じ指示を何度もpromptへ</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入れず、確信度だけを上げる</a:t>
            </a:r>
          </a:p>
        </p:txBody>
      </p:sp>
      <p:sp>
        <p:nvSpPr>
          <p:cNvPr id="6" name="road-1">
            <a:extLst xmlns:a="http://schemas.openxmlformats.org/drawingml/2006/main">
              <a:ext uri="{FF2B5EF4-FFF2-40B4-BE49-F238E27FC236}">
                <a16:creationId xmlns:a16="http://schemas.microsoft.com/office/drawing/2014/main" id="{E84CA53B-326E-42FC-8EAA-83D96C19F754}"/>
              </a:ext>
            </a:extLst>
          </p:cNvPr>
          <p:cNvSpPr>
            <a:spLocks xmlns:a="http://schemas.openxmlformats.org/drawingml/2006/main" noGrp="1"/>
          </p:cNvSpPr>
          <p:nvPr/>
        </p:nvSpPr>
        <p:spPr>
          <a:xfrm xmlns:a="http://schemas.openxmlformats.org/drawingml/2006/main">
            <a:off x="4238625" y="1666875"/>
            <a:ext cx="3333750" cy="2714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road-h-1">
            <a:extLst xmlns:a="http://schemas.openxmlformats.org/drawingml/2006/main">
              <a:ext uri="{FF2B5EF4-FFF2-40B4-BE49-F238E27FC236}">
                <a16:creationId xmlns:a16="http://schemas.microsoft.com/office/drawing/2014/main" id="{A7D9FE60-EDE2-496A-8A78-C1493EA02E05}"/>
              </a:ext>
            </a:extLst>
          </p:cNvPr>
          <p:cNvSpPr>
            <a:spLocks xmlns:a="http://schemas.openxmlformats.org/drawingml/2006/main" noGrp="1"/>
          </p:cNvSpPr>
          <p:nvPr/>
        </p:nvSpPr>
        <p:spPr>
          <a:xfrm xmlns:a="http://schemas.openxmlformats.org/drawingml/2006/main">
            <a:off x="446722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② 適用しすぎを防ぐ</a:t>
            </a:r>
          </a:p>
        </p:txBody>
      </p:sp>
      <p:sp>
        <p:nvSpPr>
          <p:cNvPr id="8" name="road-b-1">
            <a:extLst xmlns:a="http://schemas.openxmlformats.org/drawingml/2006/main">
              <a:ext uri="{FF2B5EF4-FFF2-40B4-BE49-F238E27FC236}">
                <a16:creationId xmlns:a16="http://schemas.microsoft.com/office/drawing/2014/main" id="{FB813A08-1FCF-4C81-BC4D-36BAD8518B4A}"/>
              </a:ext>
            </a:extLst>
          </p:cNvPr>
          <p:cNvSpPr>
            <a:spLocks xmlns:a="http://schemas.openxmlformats.org/drawingml/2006/main" noGrp="1"/>
          </p:cNvSpPr>
          <p:nvPr/>
        </p:nvSpPr>
        <p:spPr>
          <a:xfrm xmlns:a="http://schemas.openxmlformats.org/drawingml/2006/main">
            <a:off x="450532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文脈類似度の閾値と件数を比較</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取り消された編集を負の反応として</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記憶の重みを下げる</a:t>
            </a:r>
          </a:p>
        </p:txBody>
      </p:sp>
      <p:sp>
        <p:nvSpPr>
          <p:cNvPr id="9" name="road-2">
            <a:extLst xmlns:a="http://schemas.openxmlformats.org/drawingml/2006/main">
              <a:ext uri="{FF2B5EF4-FFF2-40B4-BE49-F238E27FC236}">
                <a16:creationId xmlns:a16="http://schemas.microsoft.com/office/drawing/2014/main" id="{08784D02-B949-4E45-8E48-C0F3FA897C79}"/>
              </a:ext>
            </a:extLst>
          </p:cNvPr>
          <p:cNvSpPr>
            <a:spLocks xmlns:a="http://schemas.openxmlformats.org/drawingml/2006/main" noGrp="1"/>
          </p:cNvSpPr>
          <p:nvPr/>
        </p:nvSpPr>
        <p:spPr>
          <a:xfrm xmlns:a="http://schemas.openxmlformats.org/drawingml/2006/main">
            <a:off x="7953375" y="1666875"/>
            <a:ext cx="3333750" cy="2714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road-h-2">
            <a:extLst xmlns:a="http://schemas.openxmlformats.org/drawingml/2006/main">
              <a:ext uri="{FF2B5EF4-FFF2-40B4-BE49-F238E27FC236}">
                <a16:creationId xmlns:a16="http://schemas.microsoft.com/office/drawing/2014/main" id="{27987DA1-1AC4-41CA-B55E-515CADC05452}"/>
              </a:ext>
            </a:extLst>
          </p:cNvPr>
          <p:cNvSpPr>
            <a:spLocks xmlns:a="http://schemas.openxmlformats.org/drawingml/2006/main" noGrp="1"/>
          </p:cNvSpPr>
          <p:nvPr/>
        </p:nvSpPr>
        <p:spPr>
          <a:xfrm xmlns:a="http://schemas.openxmlformats.org/drawingml/2006/main">
            <a:off x="8181975" y="19526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③ 効果を再検証する</a:t>
            </a:r>
          </a:p>
        </p:txBody>
      </p:sp>
      <p:sp>
        <p:nvSpPr>
          <p:cNvPr id="11" name="road-b-2">
            <a:extLst xmlns:a="http://schemas.openxmlformats.org/drawingml/2006/main">
              <a:ext uri="{FF2B5EF4-FFF2-40B4-BE49-F238E27FC236}">
                <a16:creationId xmlns:a16="http://schemas.microsoft.com/office/drawing/2014/main" id="{3378046D-0556-4D61-ACD6-3DFA1C186DC8}"/>
              </a:ext>
            </a:extLst>
          </p:cNvPr>
          <p:cNvSpPr>
            <a:spLocks xmlns:a="http://schemas.openxmlformats.org/drawingml/2006/main" noGrp="1"/>
          </p:cNvSpPr>
          <p:nvPr/>
        </p:nvSpPr>
        <p:spPr>
          <a:xfrm xmlns:a="http://schemas.openxmlformats.org/drawingml/2006/main">
            <a:off x="8220075" y="2714625"/>
            <a:ext cx="2800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各条件を3回以上繰り返す</a:t>
            </a:r>
          </a:p>
          <a:p xmlns:a="http://schemas.openxmlformats.org/drawingml/2006/main">
            <a:r>
              <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生成順を無作為化し、実ユーザで</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修正文率・時間・主観評価を測る</a:t>
            </a:r>
          </a:p>
        </p:txBody>
      </p:sp>
      <p:sp>
        <p:nvSpPr>
          <p:cNvPr id="12" name="road-priority">
            <a:extLst xmlns:a="http://schemas.openxmlformats.org/drawingml/2006/main">
              <a:ext uri="{FF2B5EF4-FFF2-40B4-BE49-F238E27FC236}">
                <a16:creationId xmlns:a16="http://schemas.microsoft.com/office/drawing/2014/main" id="{F2EA119B-2A46-491B-A9B5-4CA23E7B8D19}"/>
              </a:ext>
            </a:extLst>
          </p:cNvPr>
          <p:cNvSpPr>
            <a:spLocks xmlns:a="http://schemas.openxmlformats.org/drawingml/2006/main" noGrp="1"/>
          </p:cNvSpPr>
          <p:nvPr/>
        </p:nvSpPr>
        <p:spPr>
          <a:xfrm xmlns:a="http://schemas.openxmlformats.org/drawingml/2006/main">
            <a:off x="619125" y="10953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61666E"/>
                </a:solidFill>
                <a:latin typeface="Helvetica Neue"/>
                <a:ea typeface="Helvetica Neue"/>
                <a:cs typeface="Helvetica Neue"/>
              </a:defRPr>
            </a:pPr>
            <a:r>
              <a:rPr sz="1500" b="1">
                <a:solidFill>
                  <a:srgbClr val="61666E"/>
                </a:solidFill>
                <a:latin typeface="Helvetica Neue"/>
                <a:ea typeface="Helvetica Neue"/>
                <a:cs typeface="Helvetica Neue"/>
              </a:rPr>
              <a:t>優先順位</a:t>
            </a:r>
          </a:p>
        </p:txBody>
      </p:sp>
      <p:sp>
        <p:nvSpPr>
          <p:cNvPr id="13" name="road-a1">
            <a:extLst xmlns:a="http://schemas.openxmlformats.org/drawingml/2006/main">
              <a:ext uri="{FF2B5EF4-FFF2-40B4-BE49-F238E27FC236}">
                <a16:creationId xmlns:a16="http://schemas.microsoft.com/office/drawing/2014/main" id="{CB25A715-0515-4D2F-AC44-DEF73E8A6781}"/>
              </a:ext>
            </a:extLst>
          </p:cNvPr>
          <p:cNvSpPr>
            <a:spLocks xmlns:a="http://schemas.openxmlformats.org/drawingml/2006/main" noGrp="1"/>
          </p:cNvSpPr>
          <p:nvPr/>
        </p:nvSpPr>
        <p:spPr>
          <a:xfrm xmlns:a="http://schemas.openxmlformats.org/drawingml/2006/main">
            <a:off x="3857625" y="3028950"/>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road-a2">
            <a:extLst xmlns:a="http://schemas.openxmlformats.org/drawingml/2006/main">
              <a:ext uri="{FF2B5EF4-FFF2-40B4-BE49-F238E27FC236}">
                <a16:creationId xmlns:a16="http://schemas.microsoft.com/office/drawing/2014/main" id="{63E75DA7-1E62-4B22-9B6B-F2E3C04406C4}"/>
              </a:ext>
            </a:extLst>
          </p:cNvPr>
          <p:cNvSpPr>
            <a:spLocks xmlns:a="http://schemas.openxmlformats.org/drawingml/2006/main" noGrp="1"/>
          </p:cNvSpPr>
          <p:nvPr/>
        </p:nvSpPr>
        <p:spPr>
          <a:xfrm xmlns:a="http://schemas.openxmlformats.org/drawingml/2006/main">
            <a:off x="7572375" y="3028950"/>
            <a:ext cx="381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road-future">
            <a:extLst xmlns:a="http://schemas.openxmlformats.org/drawingml/2006/main">
              <a:ext uri="{FF2B5EF4-FFF2-40B4-BE49-F238E27FC236}">
                <a16:creationId xmlns:a16="http://schemas.microsoft.com/office/drawing/2014/main" id="{FBE3EFED-685F-4FF4-84DC-045FA86EB531}"/>
              </a:ext>
            </a:extLst>
          </p:cNvPr>
          <p:cNvSpPr>
            <a:spLocks xmlns:a="http://schemas.openxmlformats.org/drawingml/2006/main" noGrp="1"/>
          </p:cNvSpPr>
          <p:nvPr/>
        </p:nvSpPr>
        <p:spPr>
          <a:xfrm xmlns:a="http://schemas.openxmlformats.org/drawingml/2006/main">
            <a:off x="1381125" y="4953000"/>
            <a:ext cx="9429750" cy="857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road-future-t">
            <a:extLst xmlns:a="http://schemas.openxmlformats.org/drawingml/2006/main">
              <a:ext uri="{FF2B5EF4-FFF2-40B4-BE49-F238E27FC236}">
                <a16:creationId xmlns:a16="http://schemas.microsoft.com/office/drawing/2014/main" id="{A8FB3CF5-6BD6-4227-B053-8E0C38C6F5F3}"/>
              </a:ext>
            </a:extLst>
          </p:cNvPr>
          <p:cNvSpPr>
            <a:spLocks xmlns:a="http://schemas.openxmlformats.org/drawingml/2006/main" noGrp="1"/>
          </p:cNvSpPr>
          <p:nvPr/>
        </p:nvSpPr>
        <p:spPr>
          <a:xfrm xmlns:a="http://schemas.openxmlformats.org/drawingml/2006/main">
            <a:off x="1714500" y="52197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31"/>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その後の成長：好みの閲覧・修正・削除UI → 台本以外の出力にも拡張 → 十分な実データが集まればSFT/DPOを検討</a:t>
            </a:r>
          </a:p>
        </p:txBody>
      </p:sp>
      <p:sp>
        <p:nvSpPr>
          <p:cNvPr id="17" name="road-note">
            <a:extLst xmlns:a="http://schemas.openxmlformats.org/drawingml/2006/main">
              <a:ext uri="{FF2B5EF4-FFF2-40B4-BE49-F238E27FC236}">
                <a16:creationId xmlns:a16="http://schemas.microsoft.com/office/drawing/2014/main" id="{D895EDFD-9900-4197-B0F8-13C4F3C78B7B}"/>
              </a:ext>
            </a:extLst>
          </p:cNvPr>
          <p:cNvSpPr>
            <a:spLocks xmlns:a="http://schemas.openxmlformats.org/drawingml/2006/main" noGrp="1"/>
          </p:cNvSpPr>
          <p:nvPr/>
        </p:nvSpPr>
        <p:spPr>
          <a:xfrm xmlns:a="http://schemas.openxmlformats.org/drawingml/2006/main">
            <a:off x="1714500" y="60007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まずは好みを増やすより、必要な場面だけに安定して効かせる</a:t>
            </a:r>
          </a:p>
        </p:txBody>
      </p:sp>
    </p:spTree>
    <p:extLst>
      <p:ext uri="{BB962C8B-B14F-4D97-AF65-F5344CB8AC3E}">
        <p14:creationId xmlns:p14="http://schemas.microsoft.com/office/powerpoint/2010/main" val="10470379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2">
            <a:extLst xmlns:a="http://schemas.openxmlformats.org/drawingml/2006/main">
              <a:ext uri="{FF2B5EF4-FFF2-40B4-BE49-F238E27FC236}">
                <a16:creationId xmlns:a16="http://schemas.microsoft.com/office/drawing/2014/main" id="{B54D9E32-0A89-4E85-92A8-F9127B8686D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補足：先行研究との対応と、要修正文率の限界</a:t>
            </a:r>
          </a:p>
        </p:txBody>
      </p:sp>
      <p:sp>
        <p:nvSpPr>
          <p:cNvPr id="2" name="page-12">
            <a:extLst xmlns:a="http://schemas.openxmlformats.org/drawingml/2006/main">
              <a:ext uri="{FF2B5EF4-FFF2-40B4-BE49-F238E27FC236}">
                <a16:creationId xmlns:a16="http://schemas.microsoft.com/office/drawing/2014/main" id="{793B81B7-9CD4-4A54-8351-5E95D36B96C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12</a:t>
            </a:r>
          </a:p>
        </p:txBody>
      </p:sp>
      <p:sp>
        <p:nvSpPr>
          <p:cNvPr id="3" name="paper-h">
            <a:extLst xmlns:a="http://schemas.openxmlformats.org/drawingml/2006/main">
              <a:ext uri="{FF2B5EF4-FFF2-40B4-BE49-F238E27FC236}">
                <a16:creationId xmlns:a16="http://schemas.microsoft.com/office/drawing/2014/main" id="{C4C7A651-F2DC-455B-858F-A36C1EEC26F1}"/>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CIPHER/PRELUDE論文</a:t>
            </a:r>
          </a:p>
        </p:txBody>
      </p:sp>
      <p:sp>
        <p:nvSpPr>
          <p:cNvPr id="4" name="paper-main">
            <a:extLst xmlns:a="http://schemas.openxmlformats.org/drawingml/2006/main">
              <a:ext uri="{FF2B5EF4-FFF2-40B4-BE49-F238E27FC236}">
                <a16:creationId xmlns:a16="http://schemas.microsoft.com/office/drawing/2014/main" id="{3A0C04B3-0DFA-42B8-B057-6DAB418D138F}"/>
              </a:ext>
            </a:extLst>
          </p:cNvPr>
          <p:cNvSpPr>
            <a:spLocks xmlns:a="http://schemas.openxmlformats.org/drawingml/2006/main" noGrp="1"/>
          </p:cNvSpPr>
          <p:nvPr/>
        </p:nvSpPr>
        <p:spPr>
          <a:xfrm xmlns:a="http://schemas.openxmlformats.org/drawingml/2006/main">
            <a:off x="666750" y="18573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主指標</a:t>
            </a:r>
          </a:p>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全200回で発生したトークン編集距離の累計</a:t>
            </a:r>
          </a:p>
        </p:txBody>
      </p:sp>
      <p:sp>
        <p:nvSpPr>
          <p:cNvPr id="5" name="paper-sub">
            <a:extLst xmlns:a="http://schemas.openxmlformats.org/drawingml/2006/main">
              <a:ext uri="{FF2B5EF4-FFF2-40B4-BE49-F238E27FC236}">
                <a16:creationId xmlns:a16="http://schemas.microsoft.com/office/drawing/2014/main" id="{67D6A3B4-49F8-45E4-BD71-F4B9E51D43CC}"/>
              </a:ext>
            </a:extLst>
          </p:cNvPr>
          <p:cNvSpPr>
            <a:spLocks xmlns:a="http://schemas.openxmlformats.org/drawingml/2006/main" noGrp="1"/>
          </p:cNvSpPr>
          <p:nvPr/>
        </p:nvSpPr>
        <p:spPr>
          <a:xfrm xmlns:a="http://schemas.openxmlformats.org/drawingml/2006/main">
            <a:off x="666750" y="28575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補助分析</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・長さで正規化した編集距離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・編集が0だった出力の割合</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・人間による出力比較</a:t>
            </a:r>
          </a:p>
        </p:txBody>
      </p:sp>
      <p:sp>
        <p:nvSpPr>
          <p:cNvPr id="6" name="adapt">
            <a:extLst xmlns:a="http://schemas.openxmlformats.org/drawingml/2006/main">
              <a:ext uri="{FF2B5EF4-FFF2-40B4-BE49-F238E27FC236}">
                <a16:creationId xmlns:a16="http://schemas.microsoft.com/office/drawing/2014/main" id="{3776CD74-E553-4157-8E16-F1F34DAEE77B}"/>
              </a:ext>
            </a:extLst>
          </p:cNvPr>
          <p:cNvSpPr>
            <a:spLocks xmlns:a="http://schemas.openxmlformats.org/drawingml/2006/main" noGrp="1"/>
          </p:cNvSpPr>
          <p:nvPr/>
        </p:nvSpPr>
        <p:spPr>
          <a:xfrm xmlns:a="http://schemas.openxmlformats.org/drawingml/2006/main">
            <a:off x="666750" y="4476750"/>
            <a:ext cx="5095875"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adapt-t">
            <a:extLst xmlns:a="http://schemas.openxmlformats.org/drawingml/2006/main">
              <a:ext uri="{FF2B5EF4-FFF2-40B4-BE49-F238E27FC236}">
                <a16:creationId xmlns:a16="http://schemas.microsoft.com/office/drawing/2014/main" id="{9E098E5D-31D5-4A12-B5C2-758DBFD5B312}"/>
              </a:ext>
            </a:extLst>
          </p:cNvPr>
          <p:cNvSpPr>
            <a:spLocks xmlns:a="http://schemas.openxmlformats.org/drawingml/2006/main" noGrp="1"/>
          </p:cNvSpPr>
          <p:nvPr/>
        </p:nvSpPr>
        <p:spPr>
          <a:xfrm xmlns:a="http://schemas.openxmlformats.org/drawingml/2006/main">
            <a:off x="904875" y="4695825"/>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LectureCraftでは文単位で編集するため</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要修正文率を主指標に変更</a:t>
            </a:r>
          </a:p>
        </p:txBody>
      </p:sp>
      <p:sp>
        <p:nvSpPr>
          <p:cNvPr id="8" name="limit-h">
            <a:extLst xmlns:a="http://schemas.openxmlformats.org/drawingml/2006/main">
              <a:ext uri="{FF2B5EF4-FFF2-40B4-BE49-F238E27FC236}">
                <a16:creationId xmlns:a16="http://schemas.microsoft.com/office/drawing/2014/main" id="{84D8958E-051D-454B-9AC2-1A0F5FC914CE}"/>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要修正文率の限界</a:t>
            </a:r>
          </a:p>
        </p:txBody>
      </p:sp>
      <p:sp>
        <p:nvSpPr>
          <p:cNvPr id="9" name="limit-1">
            <a:extLst xmlns:a="http://schemas.openxmlformats.org/drawingml/2006/main">
              <a:ext uri="{FF2B5EF4-FFF2-40B4-BE49-F238E27FC236}">
                <a16:creationId xmlns:a16="http://schemas.microsoft.com/office/drawing/2014/main" id="{7FF0C909-F362-4FA9-ABFC-03F8B0EC3A4C}"/>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・1語の修正も、全面書き換えも「1文」</a:t>
            </a:r>
          </a:p>
        </p:txBody>
      </p:sp>
      <p:sp>
        <p:nvSpPr>
          <p:cNvPr id="10" name="limit-2">
            <a:extLst xmlns:a="http://schemas.openxmlformats.org/drawingml/2006/main">
              <a:ext uri="{FF2B5EF4-FFF2-40B4-BE49-F238E27FC236}">
                <a16:creationId xmlns:a16="http://schemas.microsoft.com/office/drawing/2014/main" id="{0BC6C414-B930-48DB-B457-472080E86022}"/>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・台本の長さが変わると分母も変わる</a:t>
            </a:r>
          </a:p>
        </p:txBody>
      </p:sp>
      <p:sp>
        <p:nvSpPr>
          <p:cNvPr id="11" name="limit-3">
            <a:extLst xmlns:a="http://schemas.openxmlformats.org/drawingml/2006/main">
              <a:ext uri="{FF2B5EF4-FFF2-40B4-BE49-F238E27FC236}">
                <a16:creationId xmlns:a16="http://schemas.microsoft.com/office/drawing/2014/main" id="{DDF7797B-68BB-4757-9FA4-EC02B177F4B5}"/>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・編集時間や意味的な品質は測れない</a:t>
            </a:r>
          </a:p>
        </p:txBody>
      </p:sp>
      <p:sp>
        <p:nvSpPr>
          <p:cNvPr id="12" name="choice-h">
            <a:extLst xmlns:a="http://schemas.openxmlformats.org/drawingml/2006/main">
              <a:ext uri="{FF2B5EF4-FFF2-40B4-BE49-F238E27FC236}">
                <a16:creationId xmlns:a16="http://schemas.microsoft.com/office/drawing/2014/main" id="{8E9EADE1-9E61-4577-9EF9-ED0F8A8BE73C}"/>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そのため併せて示すもの</a:t>
            </a:r>
          </a:p>
        </p:txBody>
      </p:sp>
      <p:sp>
        <p:nvSpPr>
          <p:cNvPr id="13" name="choice">
            <a:extLst xmlns:a="http://schemas.openxmlformats.org/drawingml/2006/main">
              <a:ext uri="{FF2B5EF4-FFF2-40B4-BE49-F238E27FC236}">
                <a16:creationId xmlns:a16="http://schemas.microsoft.com/office/drawing/2014/main" id="{CCC1F7BE-A21F-4597-8088-F34AFF8E6E93}"/>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・編集前後の具体例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・補助指標としての編集距離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・Controlと実利用側の全文数・修正文数</a:t>
            </a:r>
          </a:p>
        </p:txBody>
      </p:sp>
      <p:sp>
        <p:nvSpPr>
          <p:cNvPr id="14" name="appendix-foot">
            <a:extLst xmlns:a="http://schemas.openxmlformats.org/drawingml/2006/main">
              <a:ext uri="{FF2B5EF4-FFF2-40B4-BE49-F238E27FC236}">
                <a16:creationId xmlns:a16="http://schemas.microsoft.com/office/drawing/2014/main" id="{7CA37BD8-82C8-443F-93D9-1D0E5B72E558}"/>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次の実ユーザ実験では、編集時間と主観評価も追加する</a:t>
            </a:r>
          </a:p>
        </p:txBody>
      </p:sp>
    </p:spTree>
    <p:extLst>
      <p:ext uri="{BB962C8B-B14F-4D97-AF65-F5344CB8AC3E}">
        <p14:creationId xmlns:p14="http://schemas.microsoft.com/office/powerpoint/2010/main" val="25607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3">
            <a:extLst xmlns:a="http://schemas.openxmlformats.org/drawingml/2006/main">
              <a:ext uri="{FF2B5EF4-FFF2-40B4-BE49-F238E27FC236}">
                <a16:creationId xmlns:a16="http://schemas.microsoft.com/office/drawing/2014/main" id="{24A37A40-98C2-4CA3-ACB7-4A6984AE1B3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補足：正規化編集距離で抽出対象を選ぶ</a:t>
            </a:r>
          </a:p>
        </p:txBody>
      </p:sp>
      <p:sp>
        <p:nvSpPr>
          <p:cNvPr id="2" name="page-13">
            <a:extLst xmlns:a="http://schemas.openxmlformats.org/drawingml/2006/main">
              <a:ext uri="{FF2B5EF4-FFF2-40B4-BE49-F238E27FC236}">
                <a16:creationId xmlns:a16="http://schemas.microsoft.com/office/drawing/2014/main" id="{A9DD131E-9E01-498A-87E8-A912E2DFBB4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13</a:t>
            </a:r>
          </a:p>
        </p:txBody>
      </p:sp>
      <p:sp>
        <p:nvSpPr>
          <p:cNvPr id="3" name="ed-formula">
            <a:extLst xmlns:a="http://schemas.openxmlformats.org/drawingml/2006/main">
              <a:ext uri="{FF2B5EF4-FFF2-40B4-BE49-F238E27FC236}">
                <a16:creationId xmlns:a16="http://schemas.microsoft.com/office/drawing/2014/main" id="{7C03C202-7385-4239-BA61-4E0D45C8B1C6}"/>
              </a:ext>
            </a:extLst>
          </p:cNvPr>
          <p:cNvSpPr>
            <a:spLocks xmlns:a="http://schemas.openxmlformats.org/drawingml/2006/main" noGrp="1"/>
          </p:cNvSpPr>
          <p:nvPr/>
        </p:nvSpPr>
        <p:spPr>
          <a:xfrm xmlns:a="http://schemas.openxmlformats.org/drawingml/2006/main">
            <a:off x="1095375" y="1285875"/>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d(B,A) ＝ Lev(T(B), T(A)) ÷ max(|T(B)|, |T(A)|, 1)</a:t>
            </a:r>
          </a:p>
        </p:txBody>
      </p:sp>
      <p:sp>
        <p:nvSpPr>
          <p:cNvPr id="4" name="ed-def">
            <a:extLst xmlns:a="http://schemas.openxmlformats.org/drawingml/2006/main">
              <a:ext uri="{FF2B5EF4-FFF2-40B4-BE49-F238E27FC236}">
                <a16:creationId xmlns:a16="http://schemas.microsoft.com/office/drawing/2014/main" id="{398F04EA-45C8-46D3-8A8B-F98E1265CD67}"/>
              </a:ext>
            </a:extLst>
          </p:cNvPr>
          <p:cNvSpPr>
            <a:spLocks xmlns:a="http://schemas.openxmlformats.org/drawingml/2006/main" noGrp="1"/>
          </p:cNvSpPr>
          <p:nvPr/>
        </p:nvSpPr>
        <p:spPr>
          <a:xfrm xmlns:a="http://schemas.openxmlformats.org/drawingml/2006/main">
            <a:off x="1524000" y="1952625"/>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T：o200k_baseによるトークン化　　Lev：追加・削除・置換の最小回数</a:t>
            </a:r>
          </a:p>
        </p:txBody>
      </p:sp>
      <p:sp>
        <p:nvSpPr>
          <p:cNvPr id="5" name="ed-rule">
            <a:extLst xmlns:a="http://schemas.openxmlformats.org/drawingml/2006/main">
              <a:ext uri="{FF2B5EF4-FFF2-40B4-BE49-F238E27FC236}">
                <a16:creationId xmlns:a16="http://schemas.microsoft.com/office/drawing/2014/main" id="{5D331546-A8D1-42CB-B9C0-D726115E6319}"/>
              </a:ext>
            </a:extLst>
          </p:cNvPr>
          <p:cNvSpPr>
            <a:spLocks xmlns:a="http://schemas.openxmlformats.org/drawingml/2006/main" noGrp="1"/>
          </p:cNvSpPr>
          <p:nvPr/>
        </p:nvSpPr>
        <p:spPr>
          <a:xfrm xmlns:a="http://schemas.openxmlformats.org/drawingml/2006/main">
            <a:off x="952500" y="2714625"/>
            <a:ext cx="4762500" cy="1762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ed-rule-h">
            <a:extLst xmlns:a="http://schemas.openxmlformats.org/drawingml/2006/main">
              <a:ext uri="{FF2B5EF4-FFF2-40B4-BE49-F238E27FC236}">
                <a16:creationId xmlns:a16="http://schemas.microsoft.com/office/drawing/2014/main" id="{49BF1BDE-7514-4F6C-871A-C6AD0ADC3925}"/>
              </a:ext>
            </a:extLst>
          </p:cNvPr>
          <p:cNvSpPr>
            <a:spLocks xmlns:a="http://schemas.openxmlformats.org/drawingml/2006/main" noGrp="1"/>
          </p:cNvSpPr>
          <p:nvPr/>
        </p:nvSpPr>
        <p:spPr>
          <a:xfrm xmlns:a="http://schemas.openxmlformats.org/drawingml/2006/main">
            <a:off x="11906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抽出ルール</a:t>
            </a:r>
          </a:p>
        </p:txBody>
      </p:sp>
      <p:sp>
        <p:nvSpPr>
          <p:cNvPr id="7" name="ed-rule-t">
            <a:extLst xmlns:a="http://schemas.openxmlformats.org/drawingml/2006/main">
              <a:ext uri="{FF2B5EF4-FFF2-40B4-BE49-F238E27FC236}">
                <a16:creationId xmlns:a16="http://schemas.microsoft.com/office/drawing/2014/main" id="{0334CC1D-8276-45A4-9A8B-5C17B8FFA80D}"/>
              </a:ext>
            </a:extLst>
          </p:cNvPr>
          <p:cNvSpPr>
            <a:spLocks xmlns:a="http://schemas.openxmlformats.org/drawingml/2006/main" noGrp="1"/>
          </p:cNvSpPr>
          <p:nvPr/>
        </p:nvSpPr>
        <p:spPr>
          <a:xfrm xmlns:a="http://schemas.openxmlformats.org/drawingml/2006/main">
            <a:off x="11906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0.03：LLMで好みを推定</a:t>
            </a:r>
          </a:p>
          <a:p xmlns:a="http://schemas.openxmlformats.org/drawingml/2006/main">
            <a:r>
              <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0.03：新しい好みは抽出しない</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（既に適用した好みがあれば再利用扱い）</a:t>
            </a:r>
          </a:p>
        </p:txBody>
      </p:sp>
      <p:sp>
        <p:nvSpPr>
          <p:cNvPr id="8" name="ed-fallback">
            <a:extLst xmlns:a="http://schemas.openxmlformats.org/drawingml/2006/main">
              <a:ext uri="{FF2B5EF4-FFF2-40B4-BE49-F238E27FC236}">
                <a16:creationId xmlns:a16="http://schemas.microsoft.com/office/drawing/2014/main" id="{1CEC9CD9-8D31-4763-B311-B48E982C81A1}"/>
              </a:ext>
            </a:extLst>
          </p:cNvPr>
          <p:cNvSpPr>
            <a:spLocks xmlns:a="http://schemas.openxmlformats.org/drawingml/2006/main" noGrp="1"/>
          </p:cNvSpPr>
          <p:nvPr/>
        </p:nvSpPr>
        <p:spPr>
          <a:xfrm xmlns:a="http://schemas.openxmlformats.org/drawingml/2006/main">
            <a:off x="6477000" y="2714625"/>
            <a:ext cx="4762500" cy="1762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ed-fallback-h">
            <a:extLst xmlns:a="http://schemas.openxmlformats.org/drawingml/2006/main">
              <a:ext uri="{FF2B5EF4-FFF2-40B4-BE49-F238E27FC236}">
                <a16:creationId xmlns:a16="http://schemas.microsoft.com/office/drawing/2014/main" id="{072D64A0-77E2-4622-BC37-D81FB261A6FC}"/>
              </a:ext>
            </a:extLst>
          </p:cNvPr>
          <p:cNvSpPr>
            <a:spLocks xmlns:a="http://schemas.openxmlformats.org/drawingml/2006/main" noGrp="1"/>
          </p:cNvSpPr>
          <p:nvPr/>
        </p:nvSpPr>
        <p:spPr>
          <a:xfrm xmlns:a="http://schemas.openxmlformats.org/drawingml/2006/main">
            <a:off x="67151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実装上の例外</a:t>
            </a:r>
          </a:p>
        </p:txBody>
      </p:sp>
      <p:sp>
        <p:nvSpPr>
          <p:cNvPr id="10" name="ed-fallback-t">
            <a:extLst xmlns:a="http://schemas.openxmlformats.org/drawingml/2006/main">
              <a:ext uri="{FF2B5EF4-FFF2-40B4-BE49-F238E27FC236}">
                <a16:creationId xmlns:a16="http://schemas.microsoft.com/office/drawing/2014/main" id="{FDEBC688-FC46-4ED9-B033-C9523D5B339A}"/>
              </a:ext>
            </a:extLst>
          </p:cNvPr>
          <p:cNvSpPr>
            <a:spLocks xmlns:a="http://schemas.openxmlformats.org/drawingml/2006/main" noGrp="1"/>
          </p:cNvSpPr>
          <p:nvPr/>
        </p:nvSpPr>
        <p:spPr>
          <a:xfrm xmlns:a="http://schemas.openxmlformats.org/drawingml/2006/main">
            <a:off x="67151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・両方が空／同一文なら0</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・Tokenizerが使えなければ文字単位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・結果は小数第4位に丸める</a:t>
            </a:r>
          </a:p>
        </p:txBody>
      </p:sp>
      <p:sp>
        <p:nvSpPr>
          <p:cNvPr id="11" name="ed-note">
            <a:extLst xmlns:a="http://schemas.openxmlformats.org/drawingml/2006/main">
              <a:ext uri="{FF2B5EF4-FFF2-40B4-BE49-F238E27FC236}">
                <a16:creationId xmlns:a16="http://schemas.microsoft.com/office/drawing/2014/main" id="{218EFAB9-DC0C-496D-8D72-806AA7A85FA6}"/>
              </a:ext>
            </a:extLst>
          </p:cNvPr>
          <p:cNvSpPr>
            <a:spLocks xmlns:a="http://schemas.openxmlformats.org/drawingml/2006/main" noGrp="1"/>
          </p:cNvSpPr>
          <p:nvPr/>
        </p:nvSpPr>
        <p:spPr>
          <a:xfrm xmlns:a="http://schemas.openxmlformats.org/drawingml/2006/main">
            <a:off x="1428750" y="53340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目的は編集量の評価ではなく、軽微な修正を好み抽出から除くための前処理</a:t>
            </a:r>
          </a:p>
        </p:txBody>
      </p:sp>
    </p:spTree>
    <p:extLst>
      <p:ext uri="{BB962C8B-B14F-4D97-AF65-F5344CB8AC3E}">
        <p14:creationId xmlns:p14="http://schemas.microsoft.com/office/powerpoint/2010/main" val="3167427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4">
            <a:extLst xmlns:a="http://schemas.openxmlformats.org/drawingml/2006/main">
              <a:ext uri="{FF2B5EF4-FFF2-40B4-BE49-F238E27FC236}">
                <a16:creationId xmlns:a16="http://schemas.microsoft.com/office/drawing/2014/main" id="{27BCCDB8-6AE5-4B4F-B99A-60685CCB6B4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補足：LLMは編集意図と適用範囲をJSONで返す</a:t>
            </a:r>
          </a:p>
        </p:txBody>
      </p:sp>
      <p:sp>
        <p:nvSpPr>
          <p:cNvPr id="2" name="page-14">
            <a:extLst xmlns:a="http://schemas.openxmlformats.org/drawingml/2006/main">
              <a:ext uri="{FF2B5EF4-FFF2-40B4-BE49-F238E27FC236}">
                <a16:creationId xmlns:a16="http://schemas.microsoft.com/office/drawing/2014/main" id="{F3C07837-D35D-4FEF-A315-1A78E462BCB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14</a:t>
            </a:r>
          </a:p>
        </p:txBody>
      </p:sp>
      <p:sp>
        <p:nvSpPr>
          <p:cNvPr id="3" name="ind-input-h">
            <a:extLst xmlns:a="http://schemas.openxmlformats.org/drawingml/2006/main">
              <a:ext uri="{FF2B5EF4-FFF2-40B4-BE49-F238E27FC236}">
                <a16:creationId xmlns:a16="http://schemas.microsoft.com/office/drawing/2014/main" id="{30CC8C22-7306-4D67-9E57-92DA803071A1}"/>
              </a:ext>
            </a:extLst>
          </p:cNvPr>
          <p:cNvSpPr>
            <a:spLocks xmlns:a="http://schemas.openxmlformats.org/drawingml/2006/main" noGrp="1"/>
          </p:cNvSpPr>
          <p:nvPr/>
        </p:nvSpPr>
        <p:spPr>
          <a:xfrm xmlns:a="http://schemas.openxmlformats.org/drawingml/2006/main">
            <a:off x="6191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入力</a:t>
            </a:r>
          </a:p>
        </p:txBody>
      </p:sp>
      <p:sp>
        <p:nvSpPr>
          <p:cNvPr id="4" name="ind-input">
            <a:extLst xmlns:a="http://schemas.openxmlformats.org/drawingml/2006/main">
              <a:ext uri="{FF2B5EF4-FFF2-40B4-BE49-F238E27FC236}">
                <a16:creationId xmlns:a16="http://schemas.microsoft.com/office/drawing/2014/main" id="{8723D6A3-E3D1-45FE-9585-6E958FC05B39}"/>
              </a:ext>
            </a:extLst>
          </p:cNvPr>
          <p:cNvSpPr>
            <a:spLocks xmlns:a="http://schemas.openxmlformats.org/drawingml/2006/main" noGrp="1"/>
          </p:cNvSpPr>
          <p:nvPr/>
        </p:nvSpPr>
        <p:spPr>
          <a:xfrm xmlns:a="http://schemas.openxmlformats.org/drawingml/2006/main">
            <a:off x="619125" y="1666875"/>
            <a:ext cx="31432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ind-input-t">
            <a:extLst xmlns:a="http://schemas.openxmlformats.org/drawingml/2006/main">
              <a:ext uri="{FF2B5EF4-FFF2-40B4-BE49-F238E27FC236}">
                <a16:creationId xmlns:a16="http://schemas.microsoft.com/office/drawing/2014/main" id="{94FFAADB-E183-4509-8966-253A1769782F}"/>
              </a:ext>
            </a:extLst>
          </p:cNvPr>
          <p:cNvSpPr>
            <a:spLocks xmlns:a="http://schemas.openxmlformats.org/drawingml/2006/main" noGrp="1"/>
          </p:cNvSpPr>
          <p:nvPr/>
        </p:nvSpPr>
        <p:spPr>
          <a:xfrm xmlns:a="http://schemas.openxmlformats.org/drawingml/2006/main">
            <a:off x="904875" y="2047875"/>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・編集後の台本文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・生成モード</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・難易度／詳細度</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・利用目的</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・スライド番号／文ID</a:t>
            </a:r>
          </a:p>
        </p:txBody>
      </p:sp>
      <p:sp>
        <p:nvSpPr>
          <p:cNvPr id="6" name="ind-arrow">
            <a:extLst xmlns:a="http://schemas.openxmlformats.org/drawingml/2006/main">
              <a:ext uri="{FF2B5EF4-FFF2-40B4-BE49-F238E27FC236}">
                <a16:creationId xmlns:a16="http://schemas.microsoft.com/office/drawing/2014/main" id="{ADCBE13B-7D99-4F39-9E2A-B7878BE61F02}"/>
              </a:ext>
            </a:extLst>
          </p:cNvPr>
          <p:cNvSpPr>
            <a:spLocks xmlns:a="http://schemas.openxmlformats.org/drawingml/2006/main" noGrp="1"/>
          </p:cNvSpPr>
          <p:nvPr/>
        </p:nvSpPr>
        <p:spPr>
          <a:xfrm xmlns:a="http://schemas.openxmlformats.org/drawingml/2006/main">
            <a:off x="400050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ind-model">
            <a:extLst xmlns:a="http://schemas.openxmlformats.org/drawingml/2006/main">
              <a:ext uri="{FF2B5EF4-FFF2-40B4-BE49-F238E27FC236}">
                <a16:creationId xmlns:a16="http://schemas.microsoft.com/office/drawing/2014/main" id="{D68D4FC7-81CD-428D-AFC0-092F9BA22721}"/>
              </a:ext>
            </a:extLst>
          </p:cNvPr>
          <p:cNvSpPr>
            <a:spLocks xmlns:a="http://schemas.openxmlformats.org/drawingml/2006/main" noGrp="1"/>
          </p:cNvSpPr>
          <p:nvPr/>
        </p:nvSpPr>
        <p:spPr>
          <a:xfrm xmlns:a="http://schemas.openxmlformats.org/drawingml/2006/main">
            <a:off x="4905375" y="2047875"/>
            <a:ext cx="2381250" cy="2286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ind-model-h">
            <a:extLst xmlns:a="http://schemas.openxmlformats.org/drawingml/2006/main">
              <a:ext uri="{FF2B5EF4-FFF2-40B4-BE49-F238E27FC236}">
                <a16:creationId xmlns:a16="http://schemas.microsoft.com/office/drawing/2014/main" id="{8B2AFB28-1982-47DD-9F2B-9CDDCEEDA85D}"/>
              </a:ext>
            </a:extLst>
          </p:cNvPr>
          <p:cNvSpPr>
            <a:spLocks xmlns:a="http://schemas.openxmlformats.org/drawingml/2006/main" noGrp="1"/>
          </p:cNvSpPr>
          <p:nvPr/>
        </p:nvSpPr>
        <p:spPr>
          <a:xfrm xmlns:a="http://schemas.openxmlformats.org/drawingml/2006/main">
            <a:off x="5095875" y="238125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4"/>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LLM-based</a:t>
            </a:r>
          </a:p>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Preference Induction</a:t>
            </a:r>
          </a:p>
        </p:txBody>
      </p:sp>
      <p:sp>
        <p:nvSpPr>
          <p:cNvPr id="9" name="ind-model-t">
            <a:extLst xmlns:a="http://schemas.openxmlformats.org/drawingml/2006/main">
              <a:ext uri="{FF2B5EF4-FFF2-40B4-BE49-F238E27FC236}">
                <a16:creationId xmlns:a16="http://schemas.microsoft.com/office/drawing/2014/main" id="{00EAB713-A5BF-4B04-BAD9-4E77FFE222D1}"/>
              </a:ext>
            </a:extLst>
          </p:cNvPr>
          <p:cNvSpPr>
            <a:spLocks xmlns:a="http://schemas.openxmlformats.org/drawingml/2006/main" noGrp="1"/>
          </p:cNvSpPr>
          <p:nvPr/>
        </p:nvSpPr>
        <p:spPr>
          <a:xfrm xmlns:a="http://schemas.openxmlformats.org/drawingml/2006/main">
            <a:off x="5095875" y="32385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既定モデル：gpt-5</a:t>
            </a:r>
          </a:p>
          <a:p xmlns:a="http://schemas.openxmlformats.org/drawingml/2006/main">
            <a:r>
              <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固定ルールではなく</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編集差の意味を分類</a:t>
            </a:r>
          </a:p>
        </p:txBody>
      </p:sp>
      <p:sp>
        <p:nvSpPr>
          <p:cNvPr id="10" name="ind-arrow2">
            <a:extLst xmlns:a="http://schemas.openxmlformats.org/drawingml/2006/main">
              <a:ext uri="{FF2B5EF4-FFF2-40B4-BE49-F238E27FC236}">
                <a16:creationId xmlns:a16="http://schemas.microsoft.com/office/drawing/2014/main" id="{4418F3DE-DF45-4170-BF15-53F882C06C07}"/>
              </a:ext>
            </a:extLst>
          </p:cNvPr>
          <p:cNvSpPr>
            <a:spLocks xmlns:a="http://schemas.openxmlformats.org/drawingml/2006/main" noGrp="1"/>
          </p:cNvSpPr>
          <p:nvPr/>
        </p:nvSpPr>
        <p:spPr>
          <a:xfrm xmlns:a="http://schemas.openxmlformats.org/drawingml/2006/main">
            <a:off x="752475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ind-output-h">
            <a:extLst xmlns:a="http://schemas.openxmlformats.org/drawingml/2006/main">
              <a:ext uri="{FF2B5EF4-FFF2-40B4-BE49-F238E27FC236}">
                <a16:creationId xmlns:a16="http://schemas.microsoft.com/office/drawing/2014/main" id="{881C669D-BB20-4E09-B87D-5028713C4218}"/>
              </a:ext>
            </a:extLst>
          </p:cNvPr>
          <p:cNvSpPr>
            <a:spLocks xmlns:a="http://schemas.openxmlformats.org/drawingml/2006/main" noGrp="1"/>
          </p:cNvSpPr>
          <p:nvPr/>
        </p:nvSpPr>
        <p:spPr>
          <a:xfrm xmlns:a="http://schemas.openxmlformats.org/drawingml/2006/main">
            <a:off x="84296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E8A34B"/>
                </a:solidFill>
                <a:latin typeface="Helvetica Neue"/>
                <a:ea typeface="Helvetica Neue"/>
                <a:cs typeface="Helvetica Neue"/>
              </a:defRPr>
            </a:pPr>
            <a:r>
              <a:rPr sz="1800" b="1">
                <a:solidFill>
                  <a:srgbClr val="E8A34B"/>
                </a:solidFill>
                <a:latin typeface="Helvetica Neue"/>
                <a:ea typeface="Helvetica Neue"/>
                <a:cs typeface="Helvetica Neue"/>
              </a:rPr>
              <a:t>JSON出力</a:t>
            </a:r>
          </a:p>
        </p:txBody>
      </p:sp>
      <p:sp>
        <p:nvSpPr>
          <p:cNvPr id="12" name="ind-output">
            <a:extLst xmlns:a="http://schemas.openxmlformats.org/drawingml/2006/main">
              <a:ext uri="{FF2B5EF4-FFF2-40B4-BE49-F238E27FC236}">
                <a16:creationId xmlns:a16="http://schemas.microsoft.com/office/drawing/2014/main" id="{D960A779-3FE8-4361-B98F-1E4C661AA22B}"/>
              </a:ext>
            </a:extLst>
          </p:cNvPr>
          <p:cNvSpPr>
            <a:spLocks xmlns:a="http://schemas.openxmlformats.org/drawingml/2006/main" noGrp="1"/>
          </p:cNvSpPr>
          <p:nvPr/>
        </p:nvSpPr>
        <p:spPr>
          <a:xfrm xmlns:a="http://schemas.openxmlformats.org/drawingml/2006/main">
            <a:off x="8429625" y="1666875"/>
            <a:ext cx="3143250" cy="31432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3" name="ind-output-t">
            <a:extLst xmlns:a="http://schemas.openxmlformats.org/drawingml/2006/main">
              <a:ext uri="{FF2B5EF4-FFF2-40B4-BE49-F238E27FC236}">
                <a16:creationId xmlns:a16="http://schemas.microsoft.com/office/drawing/2014/main" id="{9C0A91BE-1D02-4C29-B560-1A4B9B135489}"/>
              </a:ext>
            </a:extLst>
          </p:cNvPr>
          <p:cNvSpPr>
            <a:spLocks xmlns:a="http://schemas.openxmlformats.org/drawingml/2006/main" noGrp="1"/>
          </p:cNvSpPr>
          <p:nvPr/>
        </p:nvSpPr>
        <p:spPr>
          <a:xfrm xmlns:a="http://schemas.openxmlformats.org/drawingml/2006/main">
            <a:off x="8667750" y="1952625"/>
            <a:ext cx="2667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kind:</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preference / content_correction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local_instruction / uncertain</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scope:</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user / project / mode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difficulty / one_time</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preference・reason</a:t>
            </a:r>
          </a:p>
        </p:txBody>
      </p:sp>
      <p:sp>
        <p:nvSpPr>
          <p:cNvPr id="14" name="ind-rule">
            <a:extLst xmlns:a="http://schemas.openxmlformats.org/drawingml/2006/main">
              <a:ext uri="{FF2B5EF4-FFF2-40B4-BE49-F238E27FC236}">
                <a16:creationId xmlns:a16="http://schemas.microsoft.com/office/drawing/2014/main" id="{75C67755-96F9-4D0B-95F0-901FE28ED422}"/>
              </a:ext>
            </a:extLst>
          </p:cNvPr>
          <p:cNvSpPr>
            <a:spLocks xmlns:a="http://schemas.openxmlformats.org/drawingml/2006/main" noGrp="1"/>
          </p:cNvSpPr>
          <p:nvPr/>
        </p:nvSpPr>
        <p:spPr>
          <a:xfrm xmlns:a="http://schemas.openxmlformats.org/drawingml/2006/main">
            <a:off x="1428750" y="54292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kind = preference のときだけ preference_text を保存し、それ以外は null にする</a:t>
            </a:r>
          </a:p>
        </p:txBody>
      </p:sp>
    </p:spTree>
    <p:extLst>
      <p:ext uri="{BB962C8B-B14F-4D97-AF65-F5344CB8AC3E}">
        <p14:creationId xmlns:p14="http://schemas.microsoft.com/office/powerpoint/2010/main" val="17098129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15">
            <a:extLst xmlns:a="http://schemas.openxmlformats.org/drawingml/2006/main">
              <a:ext uri="{FF2B5EF4-FFF2-40B4-BE49-F238E27FC236}">
                <a16:creationId xmlns:a16="http://schemas.microsoft.com/office/drawing/2014/main" id="{A118EED0-6F2D-4762-A531-52F30F8E362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補足：scopeで絞り、コサイン類似度で上位8件を選ぶ</a:t>
            </a:r>
          </a:p>
        </p:txBody>
      </p:sp>
      <p:sp>
        <p:nvSpPr>
          <p:cNvPr id="2" name="page-15">
            <a:extLst xmlns:a="http://schemas.openxmlformats.org/drawingml/2006/main">
              <a:ext uri="{FF2B5EF4-FFF2-40B4-BE49-F238E27FC236}">
                <a16:creationId xmlns:a16="http://schemas.microsoft.com/office/drawing/2014/main" id="{46AB4540-1335-4025-AF73-D104555BB53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15</a:t>
            </a:r>
          </a:p>
        </p:txBody>
      </p:sp>
      <p:sp>
        <p:nvSpPr>
          <p:cNvPr id="3" name="ret-funnel">
            <a:extLst xmlns:a="http://schemas.openxmlformats.org/drawingml/2006/main">
              <a:ext uri="{FF2B5EF4-FFF2-40B4-BE49-F238E27FC236}">
                <a16:creationId xmlns:a16="http://schemas.microsoft.com/office/drawing/2014/main" id="{D93A7D2B-5615-4214-8945-8B1D58D0E96A}"/>
              </a:ext>
            </a:extLst>
          </p:cNvPr>
          <p:cNvSpPr>
            <a:spLocks xmlns:a="http://schemas.openxmlformats.org/drawingml/2006/main" noGrp="1"/>
          </p:cNvSpPr>
          <p:nvPr/>
        </p:nvSpPr>
        <p:spPr>
          <a:xfrm xmlns:a="http://schemas.openxmlformats.org/drawingml/2006/main">
            <a:off x="666750" y="11906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同一ユーザの新しい履歴 最大80件</a:t>
            </a:r>
          </a:p>
        </p:txBody>
      </p:sp>
      <p:sp>
        <p:nvSpPr>
          <p:cNvPr id="4" name="ret-step1">
            <a:extLst xmlns:a="http://schemas.openxmlformats.org/drawingml/2006/main">
              <a:ext uri="{FF2B5EF4-FFF2-40B4-BE49-F238E27FC236}">
                <a16:creationId xmlns:a16="http://schemas.microsoft.com/office/drawing/2014/main" id="{BD859F02-A989-41E6-B7F2-697BD95B6255}"/>
              </a:ext>
            </a:extLst>
          </p:cNvPr>
          <p:cNvSpPr>
            <a:spLocks xmlns:a="http://schemas.openxmlformats.org/drawingml/2006/main" noGrp="1"/>
          </p:cNvSpPr>
          <p:nvPr/>
        </p:nvSpPr>
        <p:spPr>
          <a:xfrm xmlns:a="http://schemas.openxmlformats.org/drawingml/2006/main">
            <a:off x="904875" y="18573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① kind = preference かつ本文あり</a:t>
            </a:r>
          </a:p>
        </p:txBody>
      </p:sp>
      <p:sp>
        <p:nvSpPr>
          <p:cNvPr id="5" name="ret-step2">
            <a:extLst xmlns:a="http://schemas.openxmlformats.org/drawingml/2006/main">
              <a:ext uri="{FF2B5EF4-FFF2-40B4-BE49-F238E27FC236}">
                <a16:creationId xmlns:a16="http://schemas.microsoft.com/office/drawing/2014/main" id="{47CC9C00-25F0-4EED-8F20-706958E75D06}"/>
              </a:ext>
            </a:extLst>
          </p:cNvPr>
          <p:cNvSpPr>
            <a:spLocks xmlns:a="http://schemas.openxmlformats.org/drawingml/2006/main" noGrp="1"/>
          </p:cNvSpPr>
          <p:nvPr/>
        </p:nvSpPr>
        <p:spPr>
          <a:xfrm xmlns:a="http://schemas.openxmlformats.org/drawingml/2006/main">
            <a:off x="904875" y="23336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② scopeが現在の条件と一致</a:t>
            </a:r>
          </a:p>
        </p:txBody>
      </p:sp>
      <p:sp>
        <p:nvSpPr>
          <p:cNvPr id="6" name="ret-step3">
            <a:extLst xmlns:a="http://schemas.openxmlformats.org/drawingml/2006/main">
              <a:ext uri="{FF2B5EF4-FFF2-40B4-BE49-F238E27FC236}">
                <a16:creationId xmlns:a16="http://schemas.microsoft.com/office/drawing/2014/main" id="{A5077342-46A7-4A43-B681-F90C4971A414}"/>
              </a:ext>
            </a:extLst>
          </p:cNvPr>
          <p:cNvSpPr>
            <a:spLocks xmlns:a="http://schemas.openxmlformats.org/drawingml/2006/main" noGrp="1"/>
          </p:cNvSpPr>
          <p:nvPr/>
        </p:nvSpPr>
        <p:spPr>
          <a:xfrm xmlns:a="http://schemas.openxmlformats.org/drawingml/2006/main">
            <a:off x="904875" y="28098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③ 文脈埋め込みの類似度で降順</a:t>
            </a:r>
          </a:p>
        </p:txBody>
      </p:sp>
      <p:sp>
        <p:nvSpPr>
          <p:cNvPr id="7" name="ret-step4">
            <a:extLst xmlns:a="http://schemas.openxmlformats.org/drawingml/2006/main">
              <a:ext uri="{FF2B5EF4-FFF2-40B4-BE49-F238E27FC236}">
                <a16:creationId xmlns:a16="http://schemas.microsoft.com/office/drawing/2014/main" id="{D34851CA-02B8-450C-98AF-71D45FE7DE6D}"/>
              </a:ext>
            </a:extLst>
          </p:cNvPr>
          <p:cNvSpPr>
            <a:spLocks xmlns:a="http://schemas.openxmlformats.org/drawingml/2006/main" noGrp="1"/>
          </p:cNvSpPr>
          <p:nvPr/>
        </p:nvSpPr>
        <p:spPr>
          <a:xfrm xmlns:a="http://schemas.openxmlformats.org/drawingml/2006/main">
            <a:off x="904875" y="32861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④ 同値なら新しい履歴を優先</a:t>
            </a:r>
          </a:p>
        </p:txBody>
      </p:sp>
      <p:sp>
        <p:nvSpPr>
          <p:cNvPr id="8" name="ret-top">
            <a:extLst xmlns:a="http://schemas.openxmlformats.org/drawingml/2006/main">
              <a:ext uri="{FF2B5EF4-FFF2-40B4-BE49-F238E27FC236}">
                <a16:creationId xmlns:a16="http://schemas.microsoft.com/office/drawing/2014/main" id="{DC9FD9DC-482D-4B72-A838-24B710A0E52A}"/>
              </a:ext>
            </a:extLst>
          </p:cNvPr>
          <p:cNvSpPr>
            <a:spLocks xmlns:a="http://schemas.openxmlformats.org/drawingml/2006/main" noGrp="1"/>
          </p:cNvSpPr>
          <p:nvPr/>
        </p:nvSpPr>
        <p:spPr>
          <a:xfrm xmlns:a="http://schemas.openxmlformats.org/drawingml/2006/main">
            <a:off x="904875" y="3905250"/>
            <a:ext cx="361950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ret-top-t">
            <a:extLst xmlns:a="http://schemas.openxmlformats.org/drawingml/2006/main">
              <a:ext uri="{FF2B5EF4-FFF2-40B4-BE49-F238E27FC236}">
                <a16:creationId xmlns:a16="http://schemas.microsoft.com/office/drawing/2014/main" id="{B70FB10B-031A-4B1E-BC7E-05A77A7429A5}"/>
              </a:ext>
            </a:extLst>
          </p:cNvPr>
          <p:cNvSpPr>
            <a:spLocks xmlns:a="http://schemas.openxmlformats.org/drawingml/2006/main" noGrp="1"/>
          </p:cNvSpPr>
          <p:nvPr/>
        </p:nvSpPr>
        <p:spPr>
          <a:xfrm xmlns:a="http://schemas.openxmlformats.org/drawingml/2006/main">
            <a:off x="1095375" y="4095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上位8件を台本生成へ</a:t>
            </a:r>
          </a:p>
        </p:txBody>
      </p:sp>
      <p:sp>
        <p:nvSpPr>
          <p:cNvPr id="10" name="cos-formula">
            <a:extLst xmlns:a="http://schemas.openxmlformats.org/drawingml/2006/main">
              <a:ext uri="{FF2B5EF4-FFF2-40B4-BE49-F238E27FC236}">
                <a16:creationId xmlns:a16="http://schemas.microsoft.com/office/drawing/2014/main" id="{FBE1D268-40EE-4214-9F3E-91F9177F42B2}"/>
              </a:ext>
            </a:extLst>
          </p:cNvPr>
          <p:cNvSpPr>
            <a:spLocks xmlns:a="http://schemas.openxmlformats.org/drawingml/2006/main" noGrp="1"/>
          </p:cNvSpPr>
          <p:nvPr/>
        </p:nvSpPr>
        <p:spPr>
          <a:xfrm xmlns:a="http://schemas.openxmlformats.org/drawingml/2006/main">
            <a:off x="5810250" y="1381125"/>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sim(q,m) ＝ (q・m) ÷ (||q||₂ ||m||₂)</a:t>
            </a:r>
          </a:p>
        </p:txBody>
      </p:sp>
      <p:sp>
        <p:nvSpPr>
          <p:cNvPr id="11" name="cos-def">
            <a:extLst xmlns:a="http://schemas.openxmlformats.org/drawingml/2006/main">
              <a:ext uri="{FF2B5EF4-FFF2-40B4-BE49-F238E27FC236}">
                <a16:creationId xmlns:a16="http://schemas.microsoft.com/office/drawing/2014/main" id="{C3C5FF75-3523-4005-A57A-1B68DB23F49E}"/>
              </a:ext>
            </a:extLst>
          </p:cNvPr>
          <p:cNvSpPr>
            <a:spLocks xmlns:a="http://schemas.openxmlformats.org/drawingml/2006/main" noGrp="1"/>
          </p:cNvSpPr>
          <p:nvPr/>
        </p:nvSpPr>
        <p:spPr>
          <a:xfrm xmlns:a="http://schemas.openxmlformats.org/drawingml/2006/main">
            <a:off x="6572250" y="2095500"/>
            <a:ext cx="381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q：今回の生成条件の埋め込み</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m：保存された編集文脈の埋め込み</a:t>
            </a:r>
          </a:p>
        </p:txBody>
      </p:sp>
      <p:sp>
        <p:nvSpPr>
          <p:cNvPr id="12" name="embed">
            <a:extLst xmlns:a="http://schemas.openxmlformats.org/drawingml/2006/main">
              <a:ext uri="{FF2B5EF4-FFF2-40B4-BE49-F238E27FC236}">
                <a16:creationId xmlns:a16="http://schemas.microsoft.com/office/drawing/2014/main" id="{D651FA9F-9DBC-4199-B959-E0626F782CA7}"/>
              </a:ext>
            </a:extLst>
          </p:cNvPr>
          <p:cNvSpPr>
            <a:spLocks xmlns:a="http://schemas.openxmlformats.org/drawingml/2006/main" noGrp="1"/>
          </p:cNvSpPr>
          <p:nvPr/>
        </p:nvSpPr>
        <p:spPr>
          <a:xfrm xmlns:a="http://schemas.openxmlformats.org/drawingml/2006/main">
            <a:off x="5905500" y="3048000"/>
            <a:ext cx="5143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embed-t">
            <a:extLst xmlns:a="http://schemas.openxmlformats.org/drawingml/2006/main">
              <a:ext uri="{FF2B5EF4-FFF2-40B4-BE49-F238E27FC236}">
                <a16:creationId xmlns:a16="http://schemas.microsoft.com/office/drawing/2014/main" id="{D13A598A-2DC4-4BBA-BE99-211BFC6866E9}"/>
              </a:ext>
            </a:extLst>
          </p:cNvPr>
          <p:cNvSpPr>
            <a:spLocks xmlns:a="http://schemas.openxmlformats.org/drawingml/2006/main" noGrp="1"/>
          </p:cNvSpPr>
          <p:nvPr/>
        </p:nvSpPr>
        <p:spPr>
          <a:xfrm xmlns:a="http://schemas.openxmlformats.org/drawingml/2006/main">
            <a:off x="6143625" y="3305175"/>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62"/>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Embedding model：text-embedding-3-small</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mode・difficulty・detail・usage_context等をベクトル化</a:t>
            </a:r>
          </a:p>
        </p:txBody>
      </p:sp>
      <p:sp>
        <p:nvSpPr>
          <p:cNvPr id="14" name="ret-limit">
            <a:extLst xmlns:a="http://schemas.openxmlformats.org/drawingml/2006/main">
              <a:ext uri="{FF2B5EF4-FFF2-40B4-BE49-F238E27FC236}">
                <a16:creationId xmlns:a16="http://schemas.microsoft.com/office/drawing/2014/main" id="{DC5F7A55-4798-47B4-A103-8A34B7C0D03C}"/>
              </a:ext>
            </a:extLst>
          </p:cNvPr>
          <p:cNvSpPr>
            <a:spLocks xmlns:a="http://schemas.openxmlformats.org/drawingml/2006/main" noGrp="1"/>
          </p:cNvSpPr>
          <p:nvPr/>
        </p:nvSpPr>
        <p:spPr>
          <a:xfrm xmlns:a="http://schemas.openxmlformats.org/drawingml/2006/main">
            <a:off x="5905500" y="4476750"/>
            <a:ext cx="5143500" cy="95250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5" name="ret-limit-t">
            <a:extLst xmlns:a="http://schemas.openxmlformats.org/drawingml/2006/main">
              <a:ext uri="{FF2B5EF4-FFF2-40B4-BE49-F238E27FC236}">
                <a16:creationId xmlns:a16="http://schemas.microsoft.com/office/drawing/2014/main" id="{0B1A8EF8-9530-4D00-B4AD-EC8C2EB8F516}"/>
              </a:ext>
            </a:extLst>
          </p:cNvPr>
          <p:cNvSpPr>
            <a:spLocks xmlns:a="http://schemas.openxmlformats.org/drawingml/2006/main" noGrp="1"/>
          </p:cNvSpPr>
          <p:nvPr/>
        </p:nvSpPr>
        <p:spPr>
          <a:xfrm xmlns:a="http://schemas.openxmlformats.org/drawingml/2006/main">
            <a:off x="6143625" y="4695825"/>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現在は類似度の採用閾値なし</a:t>
            </a:r>
          </a:p>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候補が少なければ、類似度が低い好みも選ばれ得る</a:t>
            </a:r>
          </a:p>
        </p:txBody>
      </p:sp>
    </p:spTree>
    <p:extLst>
      <p:ext uri="{BB962C8B-B14F-4D97-AF65-F5344CB8AC3E}">
        <p14:creationId xmlns:p14="http://schemas.microsoft.com/office/powerpoint/2010/main" val="12607757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6">
            <a:extLst xmlns:a="http://schemas.openxmlformats.org/drawingml/2006/main">
              <a:ext uri="{FF2B5EF4-FFF2-40B4-BE49-F238E27FC236}">
                <a16:creationId xmlns:a16="http://schemas.microsoft.com/office/drawing/2014/main" id="{F827EA32-F693-4739-9D6F-09F3E4E58FCC}"/>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補足：検索結果を統合し、生成コンテキストへ追加する</a:t>
            </a:r>
          </a:p>
        </p:txBody>
      </p:sp>
      <p:sp>
        <p:nvSpPr>
          <p:cNvPr id="2" name="page-16">
            <a:extLst xmlns:a="http://schemas.openxmlformats.org/drawingml/2006/main">
              <a:ext uri="{FF2B5EF4-FFF2-40B4-BE49-F238E27FC236}">
                <a16:creationId xmlns:a16="http://schemas.microsoft.com/office/drawing/2014/main" id="{9DA65A56-0460-4489-A1FE-17B573E8AE34}"/>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16</a:t>
            </a:r>
          </a:p>
        </p:txBody>
      </p:sp>
      <p:sp>
        <p:nvSpPr>
          <p:cNvPr id="3" name="con-before-h">
            <a:extLst xmlns:a="http://schemas.openxmlformats.org/drawingml/2006/main">
              <a:ext uri="{FF2B5EF4-FFF2-40B4-BE49-F238E27FC236}">
                <a16:creationId xmlns:a16="http://schemas.microsoft.com/office/drawing/2014/main" id="{01032B73-12E4-4DC1-9D6C-F7237C6E0E6D}"/>
              </a:ext>
            </a:extLst>
          </p:cNvPr>
          <p:cNvSpPr>
            <a:spLocks xmlns:a="http://schemas.openxmlformats.org/drawingml/2006/main" noGrp="1"/>
          </p:cNvSpPr>
          <p:nvPr/>
        </p:nvSpPr>
        <p:spPr>
          <a:xfrm xmlns:a="http://schemas.openxmlformats.org/drawingml/2006/main">
            <a:off x="619125" y="1190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検索された好み（最大8件）</a:t>
            </a:r>
          </a:p>
        </p:txBody>
      </p:sp>
      <p:sp>
        <p:nvSpPr>
          <p:cNvPr id="4" name="con-before">
            <a:extLst xmlns:a="http://schemas.openxmlformats.org/drawingml/2006/main">
              <a:ext uri="{FF2B5EF4-FFF2-40B4-BE49-F238E27FC236}">
                <a16:creationId xmlns:a16="http://schemas.microsoft.com/office/drawing/2014/main" id="{DF866A2B-338C-4BC9-A182-EE68AD3CE067}"/>
              </a:ext>
            </a:extLst>
          </p:cNvPr>
          <p:cNvSpPr>
            <a:spLocks xmlns:a="http://schemas.openxmlformats.org/drawingml/2006/main" noGrp="1"/>
          </p:cNvSpPr>
          <p:nvPr/>
        </p:nvSpPr>
        <p:spPr>
          <a:xfrm xmlns:a="http://schemas.openxmlformats.org/drawingml/2006/main">
            <a:off x="619125" y="1714500"/>
            <a:ext cx="4572000" cy="22383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con-before-t">
            <a:extLst xmlns:a="http://schemas.openxmlformats.org/drawingml/2006/main">
              <a:ext uri="{FF2B5EF4-FFF2-40B4-BE49-F238E27FC236}">
                <a16:creationId xmlns:a16="http://schemas.microsoft.com/office/drawing/2014/main" id="{E88E4F6B-0795-4F4C-9D7A-4B9D8DE37113}"/>
              </a:ext>
            </a:extLst>
          </p:cNvPr>
          <p:cNvSpPr>
            <a:spLocks xmlns:a="http://schemas.openxmlformats.org/drawingml/2006/main" noGrp="1"/>
          </p:cNvSpPr>
          <p:nvPr/>
        </p:nvSpPr>
        <p:spPr>
          <a:xfrm xmlns:a="http://schemas.openxmlformats.org/drawingml/2006/main">
            <a:off x="904875" y="2095500"/>
            <a:ext cx="4000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・抽象説明には具体例を加える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・身近な例を一つ添える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・実務的な例で補足する</a:t>
            </a:r>
          </a:p>
        </p:txBody>
      </p:sp>
      <p:sp>
        <p:nvSpPr>
          <p:cNvPr id="6" name="con-arrow">
            <a:extLst xmlns:a="http://schemas.openxmlformats.org/drawingml/2006/main">
              <a:ext uri="{FF2B5EF4-FFF2-40B4-BE49-F238E27FC236}">
                <a16:creationId xmlns:a16="http://schemas.microsoft.com/office/drawing/2014/main" id="{89DB72A0-6AFA-4262-A09E-173A63DC90CA}"/>
              </a:ext>
            </a:extLst>
          </p:cNvPr>
          <p:cNvSpPr>
            <a:spLocks xmlns:a="http://schemas.openxmlformats.org/drawingml/2006/main" noGrp="1"/>
          </p:cNvSpPr>
          <p:nvPr/>
        </p:nvSpPr>
        <p:spPr>
          <a:xfrm xmlns:a="http://schemas.openxmlformats.org/drawingml/2006/main">
            <a:off x="5429250" y="2781300"/>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con-model">
            <a:extLst xmlns:a="http://schemas.openxmlformats.org/drawingml/2006/main">
              <a:ext uri="{FF2B5EF4-FFF2-40B4-BE49-F238E27FC236}">
                <a16:creationId xmlns:a16="http://schemas.microsoft.com/office/drawing/2014/main" id="{C855DCBF-3E4F-4BCE-8F81-F3080E6F380B}"/>
              </a:ext>
            </a:extLst>
          </p:cNvPr>
          <p:cNvSpPr>
            <a:spLocks xmlns:a="http://schemas.openxmlformats.org/drawingml/2006/main" noGrp="1"/>
          </p:cNvSpPr>
          <p:nvPr/>
        </p:nvSpPr>
        <p:spPr>
          <a:xfrm xmlns:a="http://schemas.openxmlformats.org/drawingml/2006/main">
            <a:off x="6286500" y="1952625"/>
            <a:ext cx="2000250" cy="1714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on-model-t">
            <a:extLst xmlns:a="http://schemas.openxmlformats.org/drawingml/2006/main">
              <a:ext uri="{FF2B5EF4-FFF2-40B4-BE49-F238E27FC236}">
                <a16:creationId xmlns:a16="http://schemas.microsoft.com/office/drawing/2014/main" id="{6F4F0079-A14A-4651-AD4C-CFF561731754}"/>
              </a:ext>
            </a:extLst>
          </p:cNvPr>
          <p:cNvSpPr>
            <a:spLocks xmlns:a="http://schemas.openxmlformats.org/drawingml/2006/main" noGrp="1"/>
          </p:cNvSpPr>
          <p:nvPr/>
        </p:nvSpPr>
        <p:spPr>
          <a:xfrm xmlns:a="http://schemas.openxmlformats.org/drawingml/2006/main">
            <a:off x="6477000" y="2266950"/>
            <a:ext cx="1619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LLMによる統合</a:t>
            </a:r>
          </a:p>
          <a:p xmlns:a="http://schemas.openxmlformats.org/drawingml/2006/main">
            <a:r>
              <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多数に共通する好みを優先</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重複・矛盾を除去</a:t>
            </a:r>
          </a:p>
        </p:txBody>
      </p:sp>
      <p:sp>
        <p:nvSpPr>
          <p:cNvPr id="9" name="con-arrow2">
            <a:extLst xmlns:a="http://schemas.openxmlformats.org/drawingml/2006/main">
              <a:ext uri="{FF2B5EF4-FFF2-40B4-BE49-F238E27FC236}">
                <a16:creationId xmlns:a16="http://schemas.microsoft.com/office/drawing/2014/main" id="{663388F8-1661-4DE7-BF4E-A1C4E3FD7E81}"/>
              </a:ext>
            </a:extLst>
          </p:cNvPr>
          <p:cNvSpPr>
            <a:spLocks xmlns:a="http://schemas.openxmlformats.org/drawingml/2006/main" noGrp="1"/>
          </p:cNvSpPr>
          <p:nvPr/>
        </p:nvSpPr>
        <p:spPr>
          <a:xfrm xmlns:a="http://schemas.openxmlformats.org/drawingml/2006/main">
            <a:off x="8524875" y="2781300"/>
            <a:ext cx="5715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n-after">
            <a:extLst xmlns:a="http://schemas.openxmlformats.org/drawingml/2006/main">
              <a:ext uri="{FF2B5EF4-FFF2-40B4-BE49-F238E27FC236}">
                <a16:creationId xmlns:a16="http://schemas.microsoft.com/office/drawing/2014/main" id="{CADDC981-EF84-4B24-8809-5189581E7A91}"/>
              </a:ext>
            </a:extLst>
          </p:cNvPr>
          <p:cNvSpPr>
            <a:spLocks xmlns:a="http://schemas.openxmlformats.org/drawingml/2006/main" noGrp="1"/>
          </p:cNvSpPr>
          <p:nvPr/>
        </p:nvSpPr>
        <p:spPr>
          <a:xfrm xmlns:a="http://schemas.openxmlformats.org/drawingml/2006/main">
            <a:off x="9286875" y="1714500"/>
            <a:ext cx="2286000" cy="2238375"/>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1" name="con-after-t">
            <a:extLst xmlns:a="http://schemas.openxmlformats.org/drawingml/2006/main">
              <a:ext uri="{FF2B5EF4-FFF2-40B4-BE49-F238E27FC236}">
                <a16:creationId xmlns:a16="http://schemas.microsoft.com/office/drawing/2014/main" id="{3896320A-3AE2-4659-9B82-971F738156E6}"/>
              </a:ext>
            </a:extLst>
          </p:cNvPr>
          <p:cNvSpPr>
            <a:spLocks xmlns:a="http://schemas.openxmlformats.org/drawingml/2006/main" noGrp="1"/>
          </p:cNvSpPr>
          <p:nvPr/>
        </p:nvSpPr>
        <p:spPr>
          <a:xfrm xmlns:a="http://schemas.openxmlformats.org/drawingml/2006/main">
            <a:off x="9477375" y="2047875"/>
            <a:ext cx="190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[Learned Preferences]</a:t>
            </a:r>
          </a:p>
          <a:p xmlns:a="http://schemas.openxmlformats.org/drawingml/2006/main">
            <a:r>
              <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抽象概念には</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内容に合う具体例を</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一つ添える</a:t>
            </a:r>
          </a:p>
        </p:txBody>
      </p:sp>
      <p:sp>
        <p:nvSpPr>
          <p:cNvPr id="12" name="prompt-rule-h">
            <a:extLst xmlns:a="http://schemas.openxmlformats.org/drawingml/2006/main">
              <a:ext uri="{FF2B5EF4-FFF2-40B4-BE49-F238E27FC236}">
                <a16:creationId xmlns:a16="http://schemas.microsoft.com/office/drawing/2014/main" id="{8076E6B0-4B83-4B18-975F-5B9D1C47AB01}"/>
              </a:ext>
            </a:extLst>
          </p:cNvPr>
          <p:cNvSpPr>
            <a:spLocks xmlns:a="http://schemas.openxmlformats.org/drawingml/2006/main" noGrp="1"/>
          </p:cNvSpPr>
          <p:nvPr/>
        </p:nvSpPr>
        <p:spPr>
          <a:xfrm xmlns:a="http://schemas.openxmlformats.org/drawingml/2006/main">
            <a:off x="7620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生成時の優先規則</a:t>
            </a:r>
          </a:p>
        </p:txBody>
      </p:sp>
      <p:sp>
        <p:nvSpPr>
          <p:cNvPr id="13" name="prompt-rule">
            <a:extLst xmlns:a="http://schemas.openxmlformats.org/drawingml/2006/main">
              <a:ext uri="{FF2B5EF4-FFF2-40B4-BE49-F238E27FC236}">
                <a16:creationId xmlns:a16="http://schemas.microsoft.com/office/drawing/2014/main" id="{2B84B8E4-8E42-464B-9BBC-829E3173ED6D}"/>
              </a:ext>
            </a:extLst>
          </p:cNvPr>
          <p:cNvSpPr>
            <a:spLocks xmlns:a="http://schemas.openxmlformats.org/drawingml/2006/main" noGrp="1"/>
          </p:cNvSpPr>
          <p:nvPr/>
        </p:nvSpPr>
        <p:spPr>
          <a:xfrm xmlns:a="http://schemas.openxmlformats.org/drawingml/2006/main">
            <a:off x="762000" y="5095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スライド内容への忠実性を最優先し、好みは該当する場合だけ説明順序・補足量・言い換え方へ反映する</a:t>
            </a:r>
          </a:p>
        </p:txBody>
      </p:sp>
      <p:sp>
        <p:nvSpPr>
          <p:cNvPr id="14" name="prompt-limit">
            <a:extLst xmlns:a="http://schemas.openxmlformats.org/drawingml/2006/main">
              <a:ext uri="{FF2B5EF4-FFF2-40B4-BE49-F238E27FC236}">
                <a16:creationId xmlns:a16="http://schemas.microsoft.com/office/drawing/2014/main" id="{2920C82C-475D-4477-9669-19115EE767B0}"/>
              </a:ext>
            </a:extLst>
          </p:cNvPr>
          <p:cNvSpPr>
            <a:spLocks xmlns:a="http://schemas.openxmlformats.org/drawingml/2006/main" noGrp="1"/>
          </p:cNvSpPr>
          <p:nvPr/>
        </p:nvSpPr>
        <p:spPr>
          <a:xfrm xmlns:a="http://schemas.openxmlformats.org/drawingml/2006/main">
            <a:off x="1238250" y="59055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D66A5E"/>
                </a:solidFill>
                <a:latin typeface="Helvetica Neue"/>
                <a:ea typeface="Helvetica Neue"/>
                <a:cs typeface="Helvetica Neue"/>
              </a:defRPr>
            </a:pPr>
            <a:r>
              <a:rPr sz="1425" b="1">
                <a:solidFill>
                  <a:srgbClr val="D66A5E"/>
                </a:solidFill>
                <a:latin typeface="Helvetica Neue"/>
                <a:ea typeface="Helvetica Neue"/>
                <a:cs typeface="Helvetica Neue"/>
              </a:rPr>
              <a:t>制限：決定論的な統合ではなく、元の好みもEvidenceとして併記されるため重複が残る可能性がある</a:t>
            </a:r>
          </a:p>
        </p:txBody>
      </p:sp>
    </p:spTree>
    <p:extLst>
      <p:ext uri="{BB962C8B-B14F-4D97-AF65-F5344CB8AC3E}">
        <p14:creationId xmlns:p14="http://schemas.microsoft.com/office/powerpoint/2010/main" val="287964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2026-08-17T02:40:32.7600000Z</dcterms:created>
  <dcterms:modified xsi:type="dcterms:W3CDTF">2026-08-17T02:40:32.7600000Z</dcterms:modified>
</coreProperties>
</file>
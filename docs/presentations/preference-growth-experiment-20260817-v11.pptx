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2905e434a0469d" /><Relationship Type="http://schemas.openxmlformats.org/officeDocument/2006/relationships/extended-properties" Target="/docProps/app.xml" Id="R914eb27626224b4d" /><Relationship Type="http://schemas.openxmlformats.org/officeDocument/2006/relationships/officeDocument" Target="/ppt/presentation.xml" Id="R98db28191e5149a5" /></Relationships>
</file>

<file path=ppt/presentation.xml><?xml version="1.0" encoding="utf-8"?>
<p:presentation xmlns:p="http://schemas.openxmlformats.org/presentationml/2006/main">
  <p:sldMasterIdLst>
    <p:sldMasterId xmlns:r="http://schemas.openxmlformats.org/officeDocument/2006/relationships" id="2147483648" r:id="R5549e537cb224c7f"/>
  </p:sldMasterIdLst>
  <p:notesMasterIdLst>
    <p:notesMasterId xmlns:r="http://schemas.openxmlformats.org/officeDocument/2006/relationships" r:id="R1835629912294756"/>
  </p:notesMasterIdLst>
  <p:sldIdLst>
    <p:sldId xmlns:r="http://schemas.openxmlformats.org/officeDocument/2006/relationships" id="256" r:id="R3f8d6450c6f34111"/>
    <p:sldId xmlns:r="http://schemas.openxmlformats.org/officeDocument/2006/relationships" id="257" r:id="R79e21eed1bb645d5"/>
    <p:sldId xmlns:r="http://schemas.openxmlformats.org/officeDocument/2006/relationships" id="258" r:id="R869ea24b0ad849dd"/>
    <p:sldId xmlns:r="http://schemas.openxmlformats.org/officeDocument/2006/relationships" id="259" r:id="R6e9480b984f34aee"/>
    <p:sldId xmlns:r="http://schemas.openxmlformats.org/officeDocument/2006/relationships" id="260" r:id="R96acf674549849de"/>
    <p:sldId xmlns:r="http://schemas.openxmlformats.org/officeDocument/2006/relationships" id="261" r:id="R54e92386848c49b9"/>
    <p:sldId xmlns:r="http://schemas.openxmlformats.org/officeDocument/2006/relationships" id="262" r:id="Re5f22ba4b21d4cc0"/>
    <p:sldId xmlns:r="http://schemas.openxmlformats.org/officeDocument/2006/relationships" id="263" r:id="Rbb05920cc47e4e4e"/>
    <p:sldId xmlns:r="http://schemas.openxmlformats.org/officeDocument/2006/relationships" id="264" r:id="R748f3526c86a44d8"/>
    <p:sldId xmlns:r="http://schemas.openxmlformats.org/officeDocument/2006/relationships" id="265" r:id="Rb2ba3eceb91047df"/>
    <p:sldId xmlns:r="http://schemas.openxmlformats.org/officeDocument/2006/relationships" id="266" r:id="R45c784ec5b024547"/>
    <p:sldId xmlns:r="http://schemas.openxmlformats.org/officeDocument/2006/relationships" id="267" r:id="R36fbce787d3d45ba"/>
    <p:sldId xmlns:r="http://schemas.openxmlformats.org/officeDocument/2006/relationships" id="268" r:id="Raf760c3bba204dfe"/>
    <p:sldId xmlns:r="http://schemas.openxmlformats.org/officeDocument/2006/relationships" id="269" r:id="R307d65a0909a454b"/>
    <p:sldId xmlns:r="http://schemas.openxmlformats.org/officeDocument/2006/relationships" id="270" r:id="Re86063d1c4cf4a9e"/>
    <p:sldId xmlns:r="http://schemas.openxmlformats.org/officeDocument/2006/relationships" id="271" r:id="Rc09ba7314d334a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0c9c8933f44b7c" /><Relationship Type="http://schemas.openxmlformats.org/officeDocument/2006/relationships/slideMaster" Target="/ppt/slideMasters/slideMaster1.xml" Id="R5549e537cb224c7f" /><Relationship Type="http://schemas.openxmlformats.org/officeDocument/2006/relationships/notesMaster" Target="/ppt/notesMasters/notesMaster1.xml" Id="R1835629912294756" /><Relationship Type="http://schemas.openxmlformats.org/officeDocument/2006/relationships/presProps" Target="/ppt/presProps.xml" Id="R5829e585ffcc4b77" /><Relationship Type="http://schemas.openxmlformats.org/officeDocument/2006/relationships/tableStyles" Target="/ppt/tableStyles.xml" Id="R5af2715a39ef47eb" /><Relationship Type="http://schemas.openxmlformats.org/officeDocument/2006/relationships/slide" Target="/ppt/slides/slide1.xml" Id="R3f8d6450c6f34111" /><Relationship Type="http://schemas.openxmlformats.org/officeDocument/2006/relationships/slide" Target="/ppt/slides/slide2.xml" Id="R79e21eed1bb645d5" /><Relationship Type="http://schemas.openxmlformats.org/officeDocument/2006/relationships/slide" Target="/ppt/slides/slide3.xml" Id="R869ea24b0ad849dd" /><Relationship Type="http://schemas.openxmlformats.org/officeDocument/2006/relationships/slide" Target="/ppt/slides/slide4.xml" Id="R6e9480b984f34aee" /><Relationship Type="http://schemas.openxmlformats.org/officeDocument/2006/relationships/slide" Target="/ppt/slides/slide5.xml" Id="R96acf674549849de" /><Relationship Type="http://schemas.openxmlformats.org/officeDocument/2006/relationships/slide" Target="/ppt/slides/slide6.xml" Id="R54e92386848c49b9" /><Relationship Type="http://schemas.openxmlformats.org/officeDocument/2006/relationships/slide" Target="/ppt/slides/slide7.xml" Id="Re5f22ba4b21d4cc0" /><Relationship Type="http://schemas.openxmlformats.org/officeDocument/2006/relationships/slide" Target="/ppt/slides/slide8.xml" Id="Rbb05920cc47e4e4e" /><Relationship Type="http://schemas.openxmlformats.org/officeDocument/2006/relationships/slide" Target="/ppt/slides/slide9.xml" Id="R748f3526c86a44d8" /><Relationship Type="http://schemas.openxmlformats.org/officeDocument/2006/relationships/slide" Target="/ppt/slides/slide10.xml" Id="Rb2ba3eceb91047df" /><Relationship Type="http://schemas.openxmlformats.org/officeDocument/2006/relationships/slide" Target="/ppt/slides/slide11.xml" Id="R45c784ec5b024547" /><Relationship Type="http://schemas.openxmlformats.org/officeDocument/2006/relationships/slide" Target="/ppt/slides/slide12.xml" Id="R36fbce787d3d45ba" /><Relationship Type="http://schemas.openxmlformats.org/officeDocument/2006/relationships/slide" Target="/ppt/slides/slide13.xml" Id="Raf760c3bba204dfe" /><Relationship Type="http://schemas.openxmlformats.org/officeDocument/2006/relationships/slide" Target="/ppt/slides/slide14.xml" Id="R307d65a0909a454b" /><Relationship Type="http://schemas.openxmlformats.org/officeDocument/2006/relationships/slide" Target="/ppt/slides/slide15.xml" Id="Re86063d1c4cf4a9e" /><Relationship Type="http://schemas.openxmlformats.org/officeDocument/2006/relationships/slide" Target="/ppt/slides/slide16.xml" Id="Rc09ba7314d334a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4b7067613347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6c742120a045bf" /><Relationship Type="http://schemas.openxmlformats.org/officeDocument/2006/relationships/notesMaster" Target="/ppt/notesMasters/notesMaster1.xml" Id="Rc8224a55661643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f82e69e6b645fe" /><Relationship Type="http://schemas.openxmlformats.org/officeDocument/2006/relationships/notesMaster" Target="/ppt/notesMasters/notesMaster1.xml" Id="R0c123dfcaac241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819412ced84734" /><Relationship Type="http://schemas.openxmlformats.org/officeDocument/2006/relationships/notesMaster" Target="/ppt/notesMasters/notesMaster1.xml" Id="Ra2b2cbb2d4cf40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b5e87fe13b4e3d" /><Relationship Type="http://schemas.openxmlformats.org/officeDocument/2006/relationships/notesMaster" Target="/ppt/notesMasters/notesMaster1.xml" Id="R6f457db4339d44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012c43f5a24730" /><Relationship Type="http://schemas.openxmlformats.org/officeDocument/2006/relationships/notesMaster" Target="/ppt/notesMasters/notesMaster1.xml" Id="Rf3d8e331ef134d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eff2b999a7408a" /><Relationship Type="http://schemas.openxmlformats.org/officeDocument/2006/relationships/notesMaster" Target="/ppt/notesMasters/notesMaster1.xml" Id="R477af1e33e0a4b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6267f9b64040a2" /><Relationship Type="http://schemas.openxmlformats.org/officeDocument/2006/relationships/notesMaster" Target="/ppt/notesMasters/notesMaster1.xml" Id="Rd17a233302914c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e9bafce3bd4fbe" /><Relationship Type="http://schemas.openxmlformats.org/officeDocument/2006/relationships/notesMaster" Target="/ppt/notesMasters/notesMaster1.xml" Id="Rbdf413efbc724d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f9720161f64c84" /><Relationship Type="http://schemas.openxmlformats.org/officeDocument/2006/relationships/notesMaster" Target="/ppt/notesMasters/notesMaster1.xml" Id="R60cd5e0c95944c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a05cc8323e4b39" /><Relationship Type="http://schemas.openxmlformats.org/officeDocument/2006/relationships/notesMaster" Target="/ppt/notesMasters/notesMaster1.xml" Id="Rde3429351dae4e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58035127da4faf" /><Relationship Type="http://schemas.openxmlformats.org/officeDocument/2006/relationships/notesMaster" Target="/ppt/notesMasters/notesMaster1.xml" Id="Rd0f7c6aac4794a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02e92100b3b4904" /><Relationship Type="http://schemas.openxmlformats.org/officeDocument/2006/relationships/notesMaster" Target="/ppt/notesMasters/notesMaster1.xml" Id="Re0a68daaa24d4d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8dadb43f4034200" /><Relationship Type="http://schemas.openxmlformats.org/officeDocument/2006/relationships/notesMaster" Target="/ppt/notesMasters/notesMaster1.xml" Id="R65f8a64c979f45a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0fcf69d1e3489b" /><Relationship Type="http://schemas.openxmlformats.org/officeDocument/2006/relationships/notesMaster" Target="/ppt/notesMasters/notesMaster1.xml" Id="R40a361009728498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11d10043b7e433b" /><Relationship Type="http://schemas.openxmlformats.org/officeDocument/2006/relationships/notesMaster" Target="/ppt/notesMasters/notesMaster1.xml" Id="R146d119cbc044bb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df68d596e4d433d" /><Relationship Type="http://schemas.openxmlformats.org/officeDocument/2006/relationships/notesMaster" Target="/ppt/notesMasters/notesMaster1.xml" Id="Ra017b96a3de345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今回の問いは一つです。過去の編集から好みを学び、次の台本に反映すると、完成形までの編集量が減るかを調べました。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編では手法の組み合わせを説明します。正規化編集距離で小さすぎる編集を除外し、LLMで編集意図を分類・一般化します。再利用可能な好みだけをscopeと文脈埋め込み付きで保存します。次回生成時はscopeで絞った後、コサイン類似度で上位8件を検索し、LLMで統合して生成プロンプトへ追加します。現状は類似度閾値がなく、順位付けだけに利用している点が制限です。</a:t>
            </a:r>
          </a:p>
          <a:p xmlns:a="http://schemas.openxmlformats.org/drawingml/2006/main">
            <a:r>
              <a:t/>
            </a:r>
          </a:p>
          <a:p xmlns:a="http://schemas.openxmlformats.org/drawingml/2006/main">
            <a:r>
              <a:t>[Sources]</a:t>
            </a:r>
          </a:p>
          <a:p xmlns:a="http://schemas.openxmlformats.org/drawingml/2006/main">
            <a:r>
              <a:t>- /Users/shohei/Documents/dev/lecture_craft/backend/app/preference_memory.py</a:t>
            </a:r>
          </a:p>
          <a:p xmlns:a="http://schemas.openxmlformats.org/drawingml/2006/main">
            <a:r>
              <a:t>- /Users/shohei/Documents/dev/lecture_craft/backend/app/persistence.py</a:t>
            </a:r>
          </a:p>
          <a:p xmlns:a="http://schemas.openxmlformats.org/drawingml/2006/main">
            <a:r>
              <a:t>- /Users/shohei/Documents/dev/lecture_craft/backend/app/service.py</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利用では青い経路だけを進みます。1回目の編集から履歴①を作り、2回目は履歴①を使って生成します。その編集から履歴②を追加し、3回目は履歴①と②を使います。灰色は実験用の比較生成であり、その編集は履歴へ追加し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模擬編集では編集数を指定していません。各好み方針に照らして必要と判断した文だけを編集しました。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指標は要修正文率です。生成台本の全文数に対し、模擬ユーザが1か所でも変更した文の割合を計算します。例では比較用が31文中4文で12.9%、実利用側が31文中0文で0%です。この指標は直感的ですが、小さな語句修正と全面書き換えを同じ1文として数えるため、編集距離と具体例を補助的に使い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縦軸は要修正文率です。2回目と3回目はともに0%から50%、10ポイント刻みに統一しています。簡潔さ重視ではcontrolが3/32文、treatmentが3/25文で、修正文数は同じですが分母が短くなったため率が上昇しました。灰色側の編集は次回の履歴へ加えて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回目では好みにより結果が分かれました。灰色は比較用の履歴なし生成、青は履歴①と②を使った実利用側です。結論先行は比較用では編集不要だった一方、実利用側では1文の修正が必要になりました。比較用の編集は履歴へ加えて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最も流れが分かりやすかった事例です。ただし、単一生成の事例なので、同じ結果が再現するかは次の実験で確認します。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原因は確定ではありませんが、意味が近い好みが複数の指示として渡されたことが過剰適用につながった可能性があります。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結論は控えめにします。今回は反映経路の成立性と失敗モードを確認した段階です。次は重複統合あり・なし、複数回生成、実ユーザ評価へ進みます。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はCIPHER/PRELUDEを参考にした基本ループです。中央が今回の予備実験で見つかった過剰適用への次の実装です。たとえば具体例に関する似た好みが3件あれば、保存時に1件へ統合し、類似度閾値を満たす場合だけ使います。さらに好みと生成文の対応を記録し、どの指示が再編集につながったか追跡します。右はその後の長期構想で、支持・拒否による信頼度更新とユーザ管理UIへ進みます。</a:t>
            </a:r>
          </a:p>
          <a:p xmlns:a="http://schemas.openxmlformats.org/drawingml/2006/main">
            <a:r>
              <a:t/>
            </a:r>
          </a:p>
          <a:p xmlns:a="http://schemas.openxmlformats.org/drawingml/2006/main">
            <a:r>
              <a:t>[Sources]</a:t>
            </a:r>
          </a:p>
          <a:p xmlns:a="http://schemas.openxmlformats.org/drawingml/2006/main">
            <a:r>
              <a:t>- https://arxiv.org/abs/2404.15269</a:t>
            </a:r>
          </a:p>
          <a:p xmlns:a="http://schemas.openxmlformats.org/drawingml/2006/main">
            <a:r>
              <a:t>- /Users/shohei/Documents/dev/lecture_craft/backend/experiments/preference_growth/reports/pilot-20260815.md</a:t>
            </a:r>
          </a:p>
          <a:p xmlns:a="http://schemas.openxmlformats.org/drawingml/2006/main">
            <a:r>
              <a:t>- /Users/shohei/Documents/dev/lecture_craft/docs/research-progress-design-lecturecraft.md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元論文の主指標はT=200ラウンドにわたるtoken-level Levenshtein edit distanceの累積です。補助的に正規化編集距離、zero-edit response fraction、人手のwin rateを報告しています。LectureCraftは文単位編集UIで、発表時の解釈を優先して要修正文率を主指標とします。ただし修正規模を区別しないため、編集距離と具体例を補助的に残します。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https://arxiv.org/abs/2404.15269</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規化編集距離は、好み抽出を実行するかどうかのゲートとして使います。ここでの3%は台本全体の変更割合ではありません。編集前後の1文をトークン列にし、Levenshtein距離を長い方のトークン数で割った値です。</a:t>
            </a:r>
          </a:p>
          <a:p xmlns:a="http://schemas.openxmlformats.org/drawingml/2006/main">
            <a:r>
              <a:t/>
            </a:r>
          </a:p>
          <a:p xmlns:a="http://schemas.openxmlformats.org/drawingml/2006/main">
            <a:r>
              <a:t>[Sources]</a:t>
            </a:r>
          </a:p>
          <a:p xmlns:a="http://schemas.openxmlformats.org/drawingml/2006/main">
            <a:r>
              <a:t>- /Users/shohei/Documents/dev/lecture_craft/backend/app/preference_memory.py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Mには編集前後とスライド文脈を渡し、JSONだけを返すよう要求します。kindがpreference以外なら、preference欄に文字列があっても保存しません。scopeもLLM出力であるため、正しさは保証されず、今後の検証対象です。</a:t>
            </a:r>
          </a:p>
          <a:p xmlns:a="http://schemas.openxmlformats.org/drawingml/2006/main">
            <a:r>
              <a:t/>
            </a:r>
          </a:p>
          <a:p xmlns:a="http://schemas.openxmlformats.org/drawingml/2006/main">
            <a:r>
              <a:t>[Sources]</a:t>
            </a:r>
          </a:p>
          <a:p xmlns:a="http://schemas.openxmlformats.org/drawingml/2006/main">
            <a:r>
              <a:t>- /Users/shohei/Documents/dev/lecture_craft/backend/app/preference_memory.py</a:t>
            </a:r>
          </a:p>
          <a:p xmlns:a="http://schemas.openxmlformats.org/drawingml/2006/main">
            <a:r>
              <a:t>- /Users/shohei/Documents/dev/lecture_craft/backend/src/auto_lecture/config.py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では同一ユーザの新しい履歴を最大80件取得します。実験IDがある場合は同じ実験または実験IDなしの履歴に限定します。その後kind、本文、scopeでフィルタし、埋め込みが取得できればコサイン類似度で並べます。埋め込み生成に失敗した場合は、新しい順のまま最大8件を返します。</a:t>
            </a:r>
          </a:p>
          <a:p xmlns:a="http://schemas.openxmlformats.org/drawingml/2006/main">
            <a:r>
              <a:t/>
            </a:r>
          </a:p>
          <a:p xmlns:a="http://schemas.openxmlformats.org/drawingml/2006/main">
            <a:r>
              <a:t>[Sources]</a:t>
            </a:r>
          </a:p>
          <a:p xmlns:a="http://schemas.openxmlformats.org/drawingml/2006/main">
            <a:r>
              <a:t>- /Users/shohei/Documents/dev/lecture_craft/backend/app/persistence.py</a:t>
            </a:r>
          </a:p>
          <a:p xmlns:a="http://schemas.openxmlformats.org/drawingml/2006/main">
            <a:r>
              <a:t>- /Users/shohei/Documents/dev/lecture_craft/backend/app/preference_memory.py</a:t>
            </a:r>
          </a:p>
          <a:p xmlns:a="http://schemas.openxmlformats.org/drawingml/2006/main">
            <a:r>
              <a:t>- /Users/shohei/Documents/dev/lecture_craft/backend/app/main.py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件ならそのまま、2件以上ならLLMで短い箇条書きへ統合します。統合結果は最大1500文字です。生成コンテキストには統合結果に加えて検索された元の好みもEvidenceとして入るため、現在は重複が完全には消えない可能性があります。</a:t>
            </a:r>
          </a:p>
          <a:p xmlns:a="http://schemas.openxmlformats.org/drawingml/2006/main">
            <a:r>
              <a:t/>
            </a:r>
          </a:p>
          <a:p xmlns:a="http://schemas.openxmlformats.org/drawingml/2006/main">
            <a:r>
              <a:t>[Sources]</a:t>
            </a:r>
          </a:p>
          <a:p xmlns:a="http://schemas.openxmlformats.org/drawingml/2006/main">
            <a:r>
              <a:t>- /Users/shohei/Documents/dev/lecture_craft/backend/app/preference_memory.py</a:t>
            </a:r>
          </a:p>
          <a:p xmlns:a="http://schemas.openxmlformats.org/drawingml/2006/main">
            <a:r>
              <a:t>- /Users/shohei/Documents/dev/lecture_craft/backend/app/service.py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54c882011b4d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15c4463b874bd5" /><Relationship Type="http://schemas.openxmlformats.org/officeDocument/2006/relationships/slideLayout" Target="/ppt/slideLayouts/slideLayout1.xml" Id="R60c0bcdfa94643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c0bcdfa94643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a442bb8d4b49cb" /><Relationship Type="http://schemas.openxmlformats.org/officeDocument/2006/relationships/notesSlide" Target="/ppt/notesSlides/notesSlide1.xml" Id="R8ed19c44252042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159a8a2051499c" /><Relationship Type="http://schemas.openxmlformats.org/officeDocument/2006/relationships/notesSlide" Target="/ppt/notesSlides/notesSlide2.xml" Id="Rb4f1b766b5bd4b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24c964da9542df" /><Relationship Type="http://schemas.openxmlformats.org/officeDocument/2006/relationships/notesSlide" Target="/ppt/notesSlides/notesSlide3.xml" Id="R46482339b5114f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d5f790a53be4dec" /><Relationship Type="http://schemas.openxmlformats.org/officeDocument/2006/relationships/notesSlide" Target="/ppt/notesSlides/notesSlide4.xml" Id="Rba2ce0343bd94e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1e818242038404e" /><Relationship Type="http://schemas.openxmlformats.org/officeDocument/2006/relationships/notesSlide" Target="/ppt/notesSlides/notesSlide5.xml" Id="Rba3f7192765c41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64da66dd6254fc0" /><Relationship Type="http://schemas.openxmlformats.org/officeDocument/2006/relationships/chart" Target="/ppt/slides/charts/chart1.xml" Id="Raec146d60ed24567" /><Relationship Type="http://schemas.openxmlformats.org/officeDocument/2006/relationships/notesSlide" Target="/ppt/notesSlides/notesSlide6.xml" Id="Rbabf015081ae45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961acef4ce40d2" /><Relationship Type="http://schemas.openxmlformats.org/officeDocument/2006/relationships/chart" Target="/ppt/slides/charts/chart2.xml" Id="R696e56da214c4038" /><Relationship Type="http://schemas.openxmlformats.org/officeDocument/2006/relationships/notesSlide" Target="/ppt/notesSlides/notesSlide7.xml" Id="R4c931d33712349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bc0e2b34fd4afb" /><Relationship Type="http://schemas.openxmlformats.org/officeDocument/2006/relationships/notesSlide" Target="/ppt/notesSlides/notesSlide8.xml" Id="R2e9522cf154544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48f067b458b4faa" /><Relationship Type="http://schemas.openxmlformats.org/officeDocument/2006/relationships/notesSlide" Target="/ppt/notesSlides/notesSlide9.xml" Id="R2119164e00644f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6df2ab77d542f4" /><Relationship Type="http://schemas.openxmlformats.org/officeDocument/2006/relationships/notesSlide" Target="/ppt/notesSlides/notesSlide10.xml" Id="R3dfbdf00ea14494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ea10de9e35643b8" /><Relationship Type="http://schemas.openxmlformats.org/officeDocument/2006/relationships/notesSlide" Target="/ppt/notesSlides/notesSlide11.xml" Id="Rb8ab79bc202e45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d58886b7c514a72" /><Relationship Type="http://schemas.openxmlformats.org/officeDocument/2006/relationships/notesSlide" Target="/ppt/notesSlides/notesSlide12.xml" Id="R9f3a1abb7805459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548bee3249a4168" /><Relationship Type="http://schemas.openxmlformats.org/officeDocument/2006/relationships/notesSlide" Target="/ppt/notesSlides/notesSlide13.xml" Id="R80e6f9425250441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0e22a0d4d854bb8" /><Relationship Type="http://schemas.openxmlformats.org/officeDocument/2006/relationships/notesSlide" Target="/ppt/notesSlides/notesSlide14.xml" Id="Re15b8cc2d5b341f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dcb512871674b4e" /><Relationship Type="http://schemas.openxmlformats.org/officeDocument/2006/relationships/notesSlide" Target="/ppt/notesSlides/notesSlide15.xml" Id="Rc5e04c2eb315469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a9c3dc214144f5f" /><Relationship Type="http://schemas.openxmlformats.org/officeDocument/2006/relationships/notesSlide" Target="/ppt/notesSlides/notesSlide16.xml" Id="Ra34691b0189c494a" /></Relationships>
</file>

<file path=ppt/slides/charts/chart1.xml><?xml version="1.0" encoding="utf-8"?>
<c:chartSpace xmlns:c="http://schemas.openxmlformats.org/drawingml/2006/chart">
  <c:lang val="en-US"/>
  <c:chart>
    <c:plotArea>
      <c:barChart>
        <c:barDir val="col"/>
        <c:grouping val="clustered"/>
        <c:varyColors val="0"/>
        <c:ser>
          <c:idx val="0"/>
          <c:order val="0"/>
          <c:tx>
            <c:v>比較用：履歴なし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c:formatCode>
              <c:ptCount val="4"/>
              <c:pt idx="0">
                <c:v>26.32</c:v>
              </c:pt>
              <c:pt idx="1">
                <c:v>14.29</c:v>
              </c:pt>
              <c:pt idx="2">
                <c:v>12.9</c:v>
              </c:pt>
              <c:pt idx="3">
                <c:v>9.38</c:v>
              </c:pt>
            </c:numLit>
          </c:val>
        </c:ser>
        <c:ser>
          <c:idx val="1"/>
          <c:order val="1"/>
          <c:tx>
            <c:v>実利用側：履歴1回分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c:formatCode>
              <c:ptCount val="4"/>
              <c:pt idx="0">
                <c:v>12.5</c:v>
              </c:pt>
              <c:pt idx="1">
                <c:v>12.82</c:v>
              </c:pt>
              <c:pt idx="2">
                <c:v>0</c:v>
              </c:pt>
              <c:pt idx="3">
                <c:v>12</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50"/>
          <c:min val="0"/>
        </c:scaling>
        <c:delete val="0"/>
        <c:axPos val="l"/>
        <c:majorGridlines>
          <c:spPr>
            <a:ln xmlns:a="http://schemas.openxmlformats.org/drawingml/2006/main" w="9525">
              <a:solidFill>
                <a:srgbClr val="EDEDED"/>
              </a:solidFill>
              <a:prstDash val="solid"/>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10"/>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比較用：履歴なし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c:formatCode>
              <c:ptCount val="4"/>
              <c:pt idx="0">
                <c:v>40</c:v>
              </c:pt>
              <c:pt idx="1">
                <c:v>12.9</c:v>
              </c:pt>
              <c:pt idx="2">
                <c:v>0</c:v>
              </c:pt>
              <c:pt idx="3">
                <c:v>40.74</c:v>
              </c:pt>
            </c:numLit>
          </c:val>
        </c:ser>
        <c:ser>
          <c:idx val="1"/>
          <c:order val="1"/>
          <c:tx>
            <c:v>実利用側：履歴2回分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c:formatCode>
              <c:ptCount val="4"/>
              <c:pt idx="0">
                <c:v>28.95</c:v>
              </c:pt>
              <c:pt idx="1">
                <c:v>16.67</c:v>
              </c:pt>
              <c:pt idx="2">
                <c:v>3.45</c:v>
              </c:pt>
              <c:pt idx="3">
                <c:v>31.82</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50"/>
          <c:min val="0"/>
        </c:scaling>
        <c:delete val="0"/>
        <c:axPos val="l"/>
        <c:majorGridlines>
          <c:spPr>
            <a:ln xmlns:a="http://schemas.openxmlformats.org/drawingml/2006/main" w="9525">
              <a:solidFill>
                <a:srgbClr val="EDEDED"/>
              </a:solidFill>
              <a:prstDash val="solid"/>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10"/>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kicker">
            <a:extLst xmlns:a="http://schemas.openxmlformats.org/drawingml/2006/main">
              <a:ext uri="{FF2B5EF4-FFF2-40B4-BE49-F238E27FC236}">
                <a16:creationId xmlns:a16="http://schemas.microsoft.com/office/drawing/2014/main" id="{D1292FF1-3B0E-41B3-B4A6-03AC195B64ED}"/>
              </a:ext>
            </a:extLst>
          </p:cNvPr>
          <p:cNvSpPr>
            <a:spLocks xmlns:a="http://schemas.openxmlformats.org/drawingml/2006/main" noGrp="1"/>
          </p:cNvSpPr>
          <p:nvPr/>
        </p:nvSpPr>
        <p:spPr>
          <a:xfrm xmlns:a="http://schemas.openxmlformats.org/drawingml/2006/main">
            <a:off x="457200" y="4572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61666E"/>
                </a:solidFill>
                <a:latin typeface="Helvetica Neue"/>
                <a:ea typeface="Helvetica Neue"/>
                <a:cs typeface="Helvetica Neue"/>
              </a:defRPr>
            </a:pPr>
            <a:r>
              <a:rPr sz="1650" b="0">
                <a:solidFill>
                  <a:srgbClr val="61666E"/>
                </a:solidFill>
                <a:latin typeface="Helvetica Neue"/>
                <a:ea typeface="Helvetica Neue"/>
                <a:cs typeface="Helvetica Neue"/>
              </a:rPr>
              <a:t>研究進捗報告</a:t>
            </a:r>
          </a:p>
        </p:txBody>
      </p:sp>
      <p:sp>
        <p:nvSpPr>
          <p:cNvPr id="2" name="cover">
            <a:extLst xmlns:a="http://schemas.openxmlformats.org/drawingml/2006/main">
              <a:ext uri="{FF2B5EF4-FFF2-40B4-BE49-F238E27FC236}">
                <a16:creationId xmlns:a16="http://schemas.microsoft.com/office/drawing/2014/main" id="{E1142537-B77E-456E-A634-358FFAD83475}"/>
              </a:ext>
            </a:extLst>
          </p:cNvPr>
          <p:cNvSpPr>
            <a:spLocks xmlns:a="http://schemas.openxmlformats.org/drawingml/2006/main" noGrp="1"/>
          </p:cNvSpPr>
          <p:nvPr/>
        </p:nvSpPr>
        <p:spPr>
          <a:xfrm xmlns:a="http://schemas.openxmlformats.org/drawingml/2006/main">
            <a:off x="457200" y="1952625"/>
            <a:ext cx="106680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編集履歴を次回の台本生成に反映すると、</a:t>
            </a:r>
          </a:p>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ユーザの編集量は減るか</a:t>
            </a:r>
          </a:p>
        </p:txBody>
      </p:sp>
      <p:sp>
        <p:nvSpPr>
          <p:cNvPr id="3" name="sub">
            <a:extLst xmlns:a="http://schemas.openxmlformats.org/drawingml/2006/main">
              <a:ext uri="{FF2B5EF4-FFF2-40B4-BE49-F238E27FC236}">
                <a16:creationId xmlns:a16="http://schemas.microsoft.com/office/drawing/2014/main" id="{F19FE5CB-0875-4ECB-8F56-C36B22E05369}"/>
              </a:ext>
            </a:extLst>
          </p:cNvPr>
          <p:cNvSpPr>
            <a:spLocks xmlns:a="http://schemas.openxmlformats.org/drawingml/2006/main" noGrp="1"/>
          </p:cNvSpPr>
          <p:nvPr/>
        </p:nvSpPr>
        <p:spPr>
          <a:xfrm xmlns:a="http://schemas.openxmlformats.org/drawingml/2006/main">
            <a:off x="457200" y="4810125"/>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11111"/>
                </a:solidFill>
                <a:latin typeface="Helvetica Neue"/>
                <a:ea typeface="Helvetica Neue"/>
                <a:cs typeface="Helvetica Neue"/>
              </a:defRPr>
            </a:pPr>
            <a:r>
              <a:rPr sz="2025" b="0">
                <a:solidFill>
                  <a:srgbClr val="111111"/>
                </a:solidFill>
                <a:latin typeface="Helvetica Neue"/>
                <a:ea typeface="Helvetica Neue"/>
                <a:cs typeface="Helvetica Neue"/>
              </a:rPr>
              <a:t>4種類の好みによる予備実験</a:t>
            </a:r>
          </a:p>
        </p:txBody>
      </p:sp>
    </p:spTree>
    <p:extLst>
      <p:ext uri="{BB962C8B-B14F-4D97-AF65-F5344CB8AC3E}">
        <p14:creationId xmlns:p14="http://schemas.microsoft.com/office/powerpoint/2010/main" val="9899030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title-2">
            <a:extLst xmlns:a="http://schemas.openxmlformats.org/drawingml/2006/main">
              <a:ext uri="{FF2B5EF4-FFF2-40B4-BE49-F238E27FC236}">
                <a16:creationId xmlns:a16="http://schemas.microsoft.com/office/drawing/2014/main" id="{ADA419DC-6021-4769-8A1A-0FD2DCCF109D}"/>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編集差を一般化し、関連する好みだけを次回生成へ渡す</a:t>
            </a:r>
          </a:p>
        </p:txBody>
      </p:sp>
      <p:sp>
        <p:nvSpPr>
          <p:cNvPr id="2" name="page-2">
            <a:extLst xmlns:a="http://schemas.openxmlformats.org/drawingml/2006/main">
              <a:ext uri="{FF2B5EF4-FFF2-40B4-BE49-F238E27FC236}">
                <a16:creationId xmlns:a16="http://schemas.microsoft.com/office/drawing/2014/main" id="{9D207616-CFD4-4C59-B481-973BE4A731E2}"/>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2</a:t>
            </a:r>
          </a:p>
        </p:txBody>
      </p:sp>
      <p:sp>
        <p:nvSpPr>
          <p:cNvPr id="3" name="extract-head">
            <a:extLst xmlns:a="http://schemas.openxmlformats.org/drawingml/2006/main">
              <a:ext uri="{FF2B5EF4-FFF2-40B4-BE49-F238E27FC236}">
                <a16:creationId xmlns:a16="http://schemas.microsoft.com/office/drawing/2014/main" id="{52FE721E-AACB-4581-A3E0-0E5D435215C9}"/>
              </a:ext>
            </a:extLst>
          </p:cNvPr>
          <p:cNvSpPr>
            <a:spLocks xmlns:a="http://schemas.openxmlformats.org/drawingml/2006/main" noGrp="1"/>
          </p:cNvSpPr>
          <p:nvPr/>
        </p:nvSpPr>
        <p:spPr>
          <a:xfrm xmlns:a="http://schemas.openxmlformats.org/drawingml/2006/main">
            <a:off x="619125" y="1143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好みの抽出</a:t>
            </a:r>
          </a:p>
        </p:txBody>
      </p:sp>
      <p:sp>
        <p:nvSpPr>
          <p:cNvPr id="4" name="apply-head">
            <a:extLst xmlns:a="http://schemas.openxmlformats.org/drawingml/2006/main">
              <a:ext uri="{FF2B5EF4-FFF2-40B4-BE49-F238E27FC236}">
                <a16:creationId xmlns:a16="http://schemas.microsoft.com/office/drawing/2014/main" id="{9618AEF8-70F0-4CB8-92C1-15236BF33D86}"/>
              </a:ext>
            </a:extLst>
          </p:cNvPr>
          <p:cNvSpPr>
            <a:spLocks xmlns:a="http://schemas.openxmlformats.org/drawingml/2006/main" noGrp="1"/>
          </p:cNvSpPr>
          <p:nvPr/>
        </p:nvSpPr>
        <p:spPr>
          <a:xfrm xmlns:a="http://schemas.openxmlformats.org/drawingml/2006/main">
            <a:off x="6810375" y="1143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E8A34B"/>
                </a:solidFill>
                <a:latin typeface="Helvetica Neue"/>
                <a:ea typeface="Helvetica Neue"/>
                <a:cs typeface="Helvetica Neue"/>
              </a:defRPr>
            </a:pPr>
            <a:r>
              <a:rPr sz="1875" b="1">
                <a:solidFill>
                  <a:srgbClr val="E8A34B"/>
                </a:solidFill>
                <a:latin typeface="Helvetica Neue"/>
                <a:ea typeface="Helvetica Neue"/>
                <a:cs typeface="Helvetica Neue"/>
              </a:rPr>
              <a:t>好みの反映</a:t>
            </a:r>
          </a:p>
        </p:txBody>
      </p:sp>
      <p:sp>
        <p:nvSpPr>
          <p:cNvPr id="5" name="left-a1">
            <a:extLst xmlns:a="http://schemas.openxmlformats.org/drawingml/2006/main">
              <a:ext uri="{FF2B5EF4-FFF2-40B4-BE49-F238E27FC236}">
                <a16:creationId xmlns:a16="http://schemas.microsoft.com/office/drawing/2014/main" id="{10CBE218-0BD6-4661-9177-EA082BD50348}"/>
              </a:ext>
            </a:extLst>
          </p:cNvPr>
          <p:cNvSpPr>
            <a:spLocks xmlns:a="http://schemas.openxmlformats.org/drawingml/2006/main" noGrp="1"/>
          </p:cNvSpPr>
          <p:nvPr/>
        </p:nvSpPr>
        <p:spPr>
          <a:xfrm xmlns:a="http://schemas.openxmlformats.org/drawingml/2006/main">
            <a:off x="2333625" y="2314575"/>
            <a:ext cx="3333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left-a2">
            <a:extLst xmlns:a="http://schemas.openxmlformats.org/drawingml/2006/main">
              <a:ext uri="{FF2B5EF4-FFF2-40B4-BE49-F238E27FC236}">
                <a16:creationId xmlns:a16="http://schemas.microsoft.com/office/drawing/2014/main" id="{560481E4-E7B0-4111-8150-46E202574E2F}"/>
              </a:ext>
            </a:extLst>
          </p:cNvPr>
          <p:cNvSpPr>
            <a:spLocks xmlns:a="http://schemas.openxmlformats.org/drawingml/2006/main" noGrp="1"/>
          </p:cNvSpPr>
          <p:nvPr/>
        </p:nvSpPr>
        <p:spPr>
          <a:xfrm xmlns:a="http://schemas.openxmlformats.org/drawingml/2006/main">
            <a:off x="4476750" y="2314575"/>
            <a:ext cx="3333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bridge">
            <a:extLst xmlns:a="http://schemas.openxmlformats.org/drawingml/2006/main">
              <a:ext uri="{FF2B5EF4-FFF2-40B4-BE49-F238E27FC236}">
                <a16:creationId xmlns:a16="http://schemas.microsoft.com/office/drawing/2014/main" id="{04D342F7-855F-4D62-92F4-0D13B6F4FAD9}"/>
              </a:ext>
            </a:extLst>
          </p:cNvPr>
          <p:cNvSpPr>
            <a:spLocks xmlns:a="http://schemas.openxmlformats.org/drawingml/2006/main" noGrp="1"/>
          </p:cNvSpPr>
          <p:nvPr/>
        </p:nvSpPr>
        <p:spPr>
          <a:xfrm xmlns:a="http://schemas.openxmlformats.org/drawingml/2006/main">
            <a:off x="6619875" y="2314575"/>
            <a:ext cx="428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right-a1">
            <a:extLst xmlns:a="http://schemas.openxmlformats.org/drawingml/2006/main">
              <a:ext uri="{FF2B5EF4-FFF2-40B4-BE49-F238E27FC236}">
                <a16:creationId xmlns:a16="http://schemas.microsoft.com/office/drawing/2014/main" id="{F68C8715-31F9-4A6D-9403-A4F6D5EC1FFF}"/>
              </a:ext>
            </a:extLst>
          </p:cNvPr>
          <p:cNvSpPr>
            <a:spLocks xmlns:a="http://schemas.openxmlformats.org/drawingml/2006/main" noGrp="1"/>
          </p:cNvSpPr>
          <p:nvPr/>
        </p:nvSpPr>
        <p:spPr>
          <a:xfrm xmlns:a="http://schemas.openxmlformats.org/drawingml/2006/main">
            <a:off x="9144000" y="2314575"/>
            <a:ext cx="3333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left-0">
            <a:extLst xmlns:a="http://schemas.openxmlformats.org/drawingml/2006/main">
              <a:ext uri="{FF2B5EF4-FFF2-40B4-BE49-F238E27FC236}">
                <a16:creationId xmlns:a16="http://schemas.microsoft.com/office/drawing/2014/main" id="{7B10A384-989F-455B-8834-D4B03A76FB71}"/>
              </a:ext>
            </a:extLst>
          </p:cNvPr>
          <p:cNvSpPr>
            <a:spLocks xmlns:a="http://schemas.openxmlformats.org/drawingml/2006/main" noGrp="1"/>
          </p:cNvSpPr>
          <p:nvPr/>
        </p:nvSpPr>
        <p:spPr>
          <a:xfrm xmlns:a="http://schemas.openxmlformats.org/drawingml/2006/main">
            <a:off x="523875" y="1714500"/>
            <a:ext cx="1809750" cy="11906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left-h-0">
            <a:extLst xmlns:a="http://schemas.openxmlformats.org/drawingml/2006/main">
              <a:ext uri="{FF2B5EF4-FFF2-40B4-BE49-F238E27FC236}">
                <a16:creationId xmlns:a16="http://schemas.microsoft.com/office/drawing/2014/main" id="{07960D84-B7AB-477F-8DC4-35ED8E5E510B}"/>
              </a:ext>
            </a:extLst>
          </p:cNvPr>
          <p:cNvSpPr>
            <a:spLocks xmlns:a="http://schemas.openxmlformats.org/drawingml/2006/main" noGrp="1"/>
          </p:cNvSpPr>
          <p:nvPr/>
        </p:nvSpPr>
        <p:spPr>
          <a:xfrm xmlns:a="http://schemas.openxmlformats.org/drawingml/2006/main">
            <a:off x="619125" y="19240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① 正規化編集距離</a:t>
            </a:r>
          </a:p>
        </p:txBody>
      </p:sp>
      <p:sp>
        <p:nvSpPr>
          <p:cNvPr id="11" name="left-b-0">
            <a:extLst xmlns:a="http://schemas.openxmlformats.org/drawingml/2006/main">
              <a:ext uri="{FF2B5EF4-FFF2-40B4-BE49-F238E27FC236}">
                <a16:creationId xmlns:a16="http://schemas.microsoft.com/office/drawing/2014/main" id="{A46C1FD7-D3F2-480A-9825-E35CAF157C82}"/>
              </a:ext>
            </a:extLst>
          </p:cNvPr>
          <p:cNvSpPr>
            <a:spLocks xmlns:a="http://schemas.openxmlformats.org/drawingml/2006/main" noGrp="1"/>
          </p:cNvSpPr>
          <p:nvPr/>
        </p:nvSpPr>
        <p:spPr>
          <a:xfrm xmlns:a="http://schemas.openxmlformats.org/drawingml/2006/main">
            <a:off x="619125" y="23812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編集差 ≤ 3% を除外</a:t>
            </a:r>
          </a:p>
        </p:txBody>
      </p:sp>
      <p:sp>
        <p:nvSpPr>
          <p:cNvPr id="12" name="left-1">
            <a:extLst xmlns:a="http://schemas.openxmlformats.org/drawingml/2006/main">
              <a:ext uri="{FF2B5EF4-FFF2-40B4-BE49-F238E27FC236}">
                <a16:creationId xmlns:a16="http://schemas.microsoft.com/office/drawing/2014/main" id="{A7CE566E-FA97-49BF-A7C8-48BB2C872D5C}"/>
              </a:ext>
            </a:extLst>
          </p:cNvPr>
          <p:cNvSpPr>
            <a:spLocks xmlns:a="http://schemas.openxmlformats.org/drawingml/2006/main" noGrp="1"/>
          </p:cNvSpPr>
          <p:nvPr/>
        </p:nvSpPr>
        <p:spPr>
          <a:xfrm xmlns:a="http://schemas.openxmlformats.org/drawingml/2006/main">
            <a:off x="2667000" y="1714500"/>
            <a:ext cx="1809750" cy="11906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left-h-1">
            <a:extLst xmlns:a="http://schemas.openxmlformats.org/drawingml/2006/main">
              <a:ext uri="{FF2B5EF4-FFF2-40B4-BE49-F238E27FC236}">
                <a16:creationId xmlns:a16="http://schemas.microsoft.com/office/drawing/2014/main" id="{8C86C346-99F4-4678-B148-EF20E983D856}"/>
              </a:ext>
            </a:extLst>
          </p:cNvPr>
          <p:cNvSpPr>
            <a:spLocks xmlns:a="http://schemas.openxmlformats.org/drawingml/2006/main" noGrp="1"/>
          </p:cNvSpPr>
          <p:nvPr/>
        </p:nvSpPr>
        <p:spPr>
          <a:xfrm xmlns:a="http://schemas.openxmlformats.org/drawingml/2006/main">
            <a:off x="2762250" y="19240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192"/>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② LLMによる意図推定</a:t>
            </a:r>
          </a:p>
        </p:txBody>
      </p:sp>
      <p:sp>
        <p:nvSpPr>
          <p:cNvPr id="14" name="left-b-1">
            <a:extLst xmlns:a="http://schemas.openxmlformats.org/drawingml/2006/main">
              <a:ext uri="{FF2B5EF4-FFF2-40B4-BE49-F238E27FC236}">
                <a16:creationId xmlns:a16="http://schemas.microsoft.com/office/drawing/2014/main" id="{ACCF8AE1-E6DD-4946-B1D2-E16B9CE95575}"/>
              </a:ext>
            </a:extLst>
          </p:cNvPr>
          <p:cNvSpPr>
            <a:spLocks xmlns:a="http://schemas.openxmlformats.org/drawingml/2006/main" noGrp="1"/>
          </p:cNvSpPr>
          <p:nvPr/>
        </p:nvSpPr>
        <p:spPr>
          <a:xfrm xmlns:a="http://schemas.openxmlformats.org/drawingml/2006/main">
            <a:off x="2762250" y="23812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2917"/>
          </a:bodyPr>
          <a:lstStyle xmlns:a="http://schemas.openxmlformats.org/drawingml/2006/main"/>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好み／内容訂正／今回だけ／不明</a:t>
            </a:r>
          </a:p>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に分類し、好みを一般化</a:t>
            </a:r>
          </a:p>
        </p:txBody>
      </p:sp>
      <p:sp>
        <p:nvSpPr>
          <p:cNvPr id="15" name="left-2">
            <a:extLst xmlns:a="http://schemas.openxmlformats.org/drawingml/2006/main">
              <a:ext uri="{FF2B5EF4-FFF2-40B4-BE49-F238E27FC236}">
                <a16:creationId xmlns:a16="http://schemas.microsoft.com/office/drawing/2014/main" id="{6C6B9E72-B746-4484-8F61-A46832468432}"/>
              </a:ext>
            </a:extLst>
          </p:cNvPr>
          <p:cNvSpPr>
            <a:spLocks xmlns:a="http://schemas.openxmlformats.org/drawingml/2006/main" noGrp="1"/>
          </p:cNvSpPr>
          <p:nvPr/>
        </p:nvSpPr>
        <p:spPr>
          <a:xfrm xmlns:a="http://schemas.openxmlformats.org/drawingml/2006/main">
            <a:off x="4810125" y="1714500"/>
            <a:ext cx="1809750" cy="11906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6" name="left-h-2">
            <a:extLst xmlns:a="http://schemas.openxmlformats.org/drawingml/2006/main">
              <a:ext uri="{FF2B5EF4-FFF2-40B4-BE49-F238E27FC236}">
                <a16:creationId xmlns:a16="http://schemas.microsoft.com/office/drawing/2014/main" id="{9A58E10F-D94E-4D90-9845-6179AD25F966}"/>
              </a:ext>
            </a:extLst>
          </p:cNvPr>
          <p:cNvSpPr>
            <a:spLocks xmlns:a="http://schemas.openxmlformats.org/drawingml/2006/main" noGrp="1"/>
          </p:cNvSpPr>
          <p:nvPr/>
        </p:nvSpPr>
        <p:spPr>
          <a:xfrm xmlns:a="http://schemas.openxmlformats.org/drawingml/2006/main">
            <a:off x="4905375" y="19240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③ Scope付きで保存</a:t>
            </a:r>
          </a:p>
        </p:txBody>
      </p:sp>
      <p:sp>
        <p:nvSpPr>
          <p:cNvPr id="17" name="left-b-2">
            <a:extLst xmlns:a="http://schemas.openxmlformats.org/drawingml/2006/main">
              <a:ext uri="{FF2B5EF4-FFF2-40B4-BE49-F238E27FC236}">
                <a16:creationId xmlns:a16="http://schemas.microsoft.com/office/drawing/2014/main" id="{85C8EA18-4357-4583-8188-053955E6638B}"/>
              </a:ext>
            </a:extLst>
          </p:cNvPr>
          <p:cNvSpPr>
            <a:spLocks xmlns:a="http://schemas.openxmlformats.org/drawingml/2006/main" noGrp="1"/>
          </p:cNvSpPr>
          <p:nvPr/>
        </p:nvSpPr>
        <p:spPr>
          <a:xfrm xmlns:a="http://schemas.openxmlformats.org/drawingml/2006/main">
            <a:off x="4905375" y="23812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4347"/>
          </a:bodyPr>
          <a:lstStyle xmlns:a="http://schemas.openxmlformats.org/drawingml/2006/main"/>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user・project・mode・difficulty</a:t>
            </a:r>
          </a:p>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の適用範囲とともに記録</a:t>
            </a:r>
          </a:p>
        </p:txBody>
      </p:sp>
      <p:sp>
        <p:nvSpPr>
          <p:cNvPr id="18" name="right-0">
            <a:extLst xmlns:a="http://schemas.openxmlformats.org/drawingml/2006/main">
              <a:ext uri="{FF2B5EF4-FFF2-40B4-BE49-F238E27FC236}">
                <a16:creationId xmlns:a16="http://schemas.microsoft.com/office/drawing/2014/main" id="{C65F86D0-A9E5-4899-800B-F5B54058824E}"/>
              </a:ext>
            </a:extLst>
          </p:cNvPr>
          <p:cNvSpPr>
            <a:spLocks xmlns:a="http://schemas.openxmlformats.org/drawingml/2006/main" noGrp="1"/>
          </p:cNvSpPr>
          <p:nvPr/>
        </p:nvSpPr>
        <p:spPr>
          <a:xfrm xmlns:a="http://schemas.openxmlformats.org/drawingml/2006/main">
            <a:off x="7048500" y="1714500"/>
            <a:ext cx="2190750" cy="11906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right-h-0">
            <a:extLst xmlns:a="http://schemas.openxmlformats.org/drawingml/2006/main">
              <a:ext uri="{FF2B5EF4-FFF2-40B4-BE49-F238E27FC236}">
                <a16:creationId xmlns:a16="http://schemas.microsoft.com/office/drawing/2014/main" id="{1F6A58A8-5D03-4AA1-9E71-6248EE74D0DB}"/>
              </a:ext>
            </a:extLst>
          </p:cNvPr>
          <p:cNvSpPr>
            <a:spLocks xmlns:a="http://schemas.openxmlformats.org/drawingml/2006/main" noGrp="1"/>
          </p:cNvSpPr>
          <p:nvPr/>
        </p:nvSpPr>
        <p:spPr>
          <a:xfrm xmlns:a="http://schemas.openxmlformats.org/drawingml/2006/main">
            <a:off x="7162800" y="192405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④ 文脈類似度で検索</a:t>
            </a:r>
          </a:p>
        </p:txBody>
      </p:sp>
      <p:sp>
        <p:nvSpPr>
          <p:cNvPr id="20" name="right-b-0">
            <a:extLst xmlns:a="http://schemas.openxmlformats.org/drawingml/2006/main">
              <a:ext uri="{FF2B5EF4-FFF2-40B4-BE49-F238E27FC236}">
                <a16:creationId xmlns:a16="http://schemas.microsoft.com/office/drawing/2014/main" id="{A29C1889-B38A-451A-A941-70059374A94E}"/>
              </a:ext>
            </a:extLst>
          </p:cNvPr>
          <p:cNvSpPr>
            <a:spLocks xmlns:a="http://schemas.openxmlformats.org/drawingml/2006/main" noGrp="1"/>
          </p:cNvSpPr>
          <p:nvPr/>
        </p:nvSpPr>
        <p:spPr>
          <a:xfrm xmlns:a="http://schemas.openxmlformats.org/drawingml/2006/main">
            <a:off x="7162800" y="2352675"/>
            <a:ext cx="1962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806"/>
          </a:bodyPr>
          <a:lstStyle xmlns:a="http://schemas.openxmlformats.org/drawingml/2006/main"/>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text-embedding-3-small</a:t>
            </a:r>
          </a:p>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＋コサイン類似度で順位付け</a:t>
            </a:r>
          </a:p>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上位8件を取得</a:t>
            </a:r>
          </a:p>
        </p:txBody>
      </p:sp>
      <p:sp>
        <p:nvSpPr>
          <p:cNvPr id="21" name="right-1">
            <a:extLst xmlns:a="http://schemas.openxmlformats.org/drawingml/2006/main">
              <a:ext uri="{FF2B5EF4-FFF2-40B4-BE49-F238E27FC236}">
                <a16:creationId xmlns:a16="http://schemas.microsoft.com/office/drawing/2014/main" id="{B59A74DC-EC46-4551-B8C4-403D78859A5F}"/>
              </a:ext>
            </a:extLst>
          </p:cNvPr>
          <p:cNvSpPr>
            <a:spLocks xmlns:a="http://schemas.openxmlformats.org/drawingml/2006/main" noGrp="1"/>
          </p:cNvSpPr>
          <p:nvPr/>
        </p:nvSpPr>
        <p:spPr>
          <a:xfrm xmlns:a="http://schemas.openxmlformats.org/drawingml/2006/main">
            <a:off x="9477375" y="1714500"/>
            <a:ext cx="2190750" cy="1190625"/>
          </a:xfrm>
          <a:prstGeom xmlns:a="http://schemas.openxmlformats.org/drawingml/2006/main" prst="rect">
            <a:avLst/>
          </a:prstGeom>
          <a:solidFill xmlns:a="http://schemas.openxmlformats.org/drawingml/2006/main">
            <a:srgbClr val="F9E6C8"/>
          </a:solidFill>
          <a:ln xmlns:a="http://schemas.openxmlformats.org/drawingml/2006/main" w="0">
            <a:noFill/>
            <a:prstDash val="solid"/>
          </a:ln>
        </p:spPr>
      </p:sp>
      <p:sp>
        <p:nvSpPr>
          <p:cNvPr id="22" name="right-h-1">
            <a:extLst xmlns:a="http://schemas.openxmlformats.org/drawingml/2006/main">
              <a:ext uri="{FF2B5EF4-FFF2-40B4-BE49-F238E27FC236}">
                <a16:creationId xmlns:a16="http://schemas.microsoft.com/office/drawing/2014/main" id="{45972079-B066-4C40-B481-DEE49C671168}"/>
              </a:ext>
            </a:extLst>
          </p:cNvPr>
          <p:cNvSpPr>
            <a:spLocks xmlns:a="http://schemas.openxmlformats.org/drawingml/2006/main" noGrp="1"/>
          </p:cNvSpPr>
          <p:nvPr/>
        </p:nvSpPr>
        <p:spPr>
          <a:xfrm xmlns:a="http://schemas.openxmlformats.org/drawingml/2006/main">
            <a:off x="9591675" y="192405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086"/>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⑤ LLMで統合 → Prompt追加</a:t>
            </a:r>
          </a:p>
        </p:txBody>
      </p:sp>
      <p:sp>
        <p:nvSpPr>
          <p:cNvPr id="23" name="right-b-1">
            <a:extLst xmlns:a="http://schemas.openxmlformats.org/drawingml/2006/main">
              <a:ext uri="{FF2B5EF4-FFF2-40B4-BE49-F238E27FC236}">
                <a16:creationId xmlns:a16="http://schemas.microsoft.com/office/drawing/2014/main" id="{317955B2-7588-4F1D-83DC-BACAA8ECBDCD}"/>
              </a:ext>
            </a:extLst>
          </p:cNvPr>
          <p:cNvSpPr>
            <a:spLocks xmlns:a="http://schemas.openxmlformats.org/drawingml/2006/main" noGrp="1"/>
          </p:cNvSpPr>
          <p:nvPr/>
        </p:nvSpPr>
        <p:spPr>
          <a:xfrm xmlns:a="http://schemas.openxmlformats.org/drawingml/2006/main">
            <a:off x="9591675" y="2352675"/>
            <a:ext cx="1962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891"/>
          </a:bodyPr>
          <a:lstStyle xmlns:a="http://schemas.openxmlformats.org/drawingml/2006/main"/>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重複・矛盾を整理し、該当時だけ</a:t>
            </a:r>
          </a:p>
          <a:p xmlns:a="http://schemas.openxmlformats.org/drawingml/2006/main">
            <a:pPr algn="ctr">
              <a:defRPr sz="1200" b="0">
                <a:solidFill>
                  <a:srgbClr val="111111"/>
                </a:solidFill>
                <a:latin typeface="Helvetica Neue"/>
                <a:ea typeface="Helvetica Neue"/>
                <a:cs typeface="Helvetica Neue"/>
              </a:defRPr>
            </a:pPr>
            <a:r>
              <a:rPr sz="1200" b="0">
                <a:solidFill>
                  <a:srgbClr val="111111"/>
                </a:solidFill>
                <a:latin typeface="Helvetica Neue"/>
                <a:ea typeface="Helvetica Neue"/>
                <a:cs typeface="Helvetica Neue"/>
              </a:rPr>
              <a:t>説明順序・補足量・言い換え方へ反映</a:t>
            </a:r>
          </a:p>
        </p:txBody>
      </p:sp>
      <p:sp>
        <p:nvSpPr>
          <p:cNvPr id="24" name="db">
            <a:extLst xmlns:a="http://schemas.openxmlformats.org/drawingml/2006/main">
              <a:ext uri="{FF2B5EF4-FFF2-40B4-BE49-F238E27FC236}">
                <a16:creationId xmlns:a16="http://schemas.microsoft.com/office/drawing/2014/main" id="{1D05A95D-1C43-40C3-AF0B-F3B8527FE9DD}"/>
              </a:ext>
            </a:extLst>
          </p:cNvPr>
          <p:cNvSpPr>
            <a:spLocks xmlns:a="http://schemas.openxmlformats.org/drawingml/2006/main" noGrp="1"/>
          </p:cNvSpPr>
          <p:nvPr/>
        </p:nvSpPr>
        <p:spPr>
          <a:xfrm xmlns:a="http://schemas.openxmlformats.org/drawingml/2006/main">
            <a:off x="5191125" y="3238500"/>
            <a:ext cx="18097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5" name="db-t">
            <a:extLst xmlns:a="http://schemas.openxmlformats.org/drawingml/2006/main">
              <a:ext uri="{FF2B5EF4-FFF2-40B4-BE49-F238E27FC236}">
                <a16:creationId xmlns:a16="http://schemas.microsoft.com/office/drawing/2014/main" id="{5BF737C5-2D9A-428F-8750-13BAFB1DF350}"/>
              </a:ext>
            </a:extLst>
          </p:cNvPr>
          <p:cNvSpPr>
            <a:spLocks xmlns:a="http://schemas.openxmlformats.org/drawingml/2006/main" noGrp="1"/>
          </p:cNvSpPr>
          <p:nvPr/>
        </p:nvSpPr>
        <p:spPr>
          <a:xfrm xmlns:a="http://schemas.openxmlformats.org/drawingml/2006/main">
            <a:off x="5334000" y="33718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7232"/>
          </a:bodyPr>
          <a:lstStyle xmlns:a="http://schemas.openxmlformats.org/drawingml/2006/main"/>
          <a:p xmlns:a="http://schemas.openxmlformats.org/drawingml/2006/main">
            <a:pPr algn="ctr">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編集履歴DB</a:t>
            </a:r>
          </a:p>
          <a:p xmlns:a="http://schemas.openxmlformats.org/drawingml/2006/main">
            <a:pPr algn="ctr">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一般化した好み＋文脈ベクトル</a:t>
            </a:r>
          </a:p>
        </p:txBody>
      </p:sp>
      <p:sp>
        <p:nvSpPr>
          <p:cNvPr id="26" name="example-label">
            <a:extLst xmlns:a="http://schemas.openxmlformats.org/drawingml/2006/main">
              <a:ext uri="{FF2B5EF4-FFF2-40B4-BE49-F238E27FC236}">
                <a16:creationId xmlns:a16="http://schemas.microsoft.com/office/drawing/2014/main" id="{47BBBF94-83A4-411D-B163-3DC8D9522FCB}"/>
              </a:ext>
            </a:extLst>
          </p:cNvPr>
          <p:cNvSpPr>
            <a:spLocks xmlns:a="http://schemas.openxmlformats.org/drawingml/2006/main" noGrp="1"/>
          </p:cNvSpPr>
          <p:nvPr/>
        </p:nvSpPr>
        <p:spPr>
          <a:xfrm xmlns:a="http://schemas.openxmlformats.org/drawingml/2006/main">
            <a:off x="619125" y="40957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具体例</a:t>
            </a:r>
          </a:p>
        </p:txBody>
      </p:sp>
      <p:sp>
        <p:nvSpPr>
          <p:cNvPr id="27" name="ex-before">
            <a:extLst xmlns:a="http://schemas.openxmlformats.org/drawingml/2006/main">
              <a:ext uri="{FF2B5EF4-FFF2-40B4-BE49-F238E27FC236}">
                <a16:creationId xmlns:a16="http://schemas.microsoft.com/office/drawing/2014/main" id="{03C7784F-E248-4417-97DA-247A401704A1}"/>
              </a:ext>
            </a:extLst>
          </p:cNvPr>
          <p:cNvSpPr>
            <a:spLocks xmlns:a="http://schemas.openxmlformats.org/drawingml/2006/main" noGrp="1"/>
          </p:cNvSpPr>
          <p:nvPr/>
        </p:nvSpPr>
        <p:spPr>
          <a:xfrm xmlns:a="http://schemas.openxmlformats.org/drawingml/2006/main">
            <a:off x="619125" y="4495800"/>
            <a:ext cx="3143250" cy="666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8" name="ex-before-t">
            <a:extLst xmlns:a="http://schemas.openxmlformats.org/drawingml/2006/main">
              <a:ext uri="{FF2B5EF4-FFF2-40B4-BE49-F238E27FC236}">
                <a16:creationId xmlns:a16="http://schemas.microsoft.com/office/drawing/2014/main" id="{8D576CA6-3D0A-4BC8-AC38-E9A889D5568A}"/>
              </a:ext>
            </a:extLst>
          </p:cNvPr>
          <p:cNvSpPr>
            <a:spLocks xmlns:a="http://schemas.openxmlformats.org/drawingml/2006/main" noGrp="1"/>
          </p:cNvSpPr>
          <p:nvPr/>
        </p:nvSpPr>
        <p:spPr>
          <a:xfrm xmlns:a="http://schemas.openxmlformats.org/drawingml/2006/main">
            <a:off x="781050" y="4629150"/>
            <a:ext cx="281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編集前</a:t>
            </a:r>
          </a:p>
          <a:p xmlns:a="http://schemas.openxmlformats.org/drawingml/2006/main">
            <a:pPr algn="ctr">
              <a:defRPr sz="1275" b="0">
                <a:solidFill>
                  <a:srgbClr val="111111"/>
                </a:solidFill>
                <a:latin typeface="Helvetica Neue"/>
                <a:ea typeface="Helvetica Neue"/>
                <a:cs typeface="Helvetica Neue"/>
              </a:defRPr>
            </a:pPr>
            <a:r>
              <a:rPr sz="1275" b="0">
                <a:solidFill>
                  <a:srgbClr val="111111"/>
                </a:solidFill>
                <a:latin typeface="Helvetica Neue"/>
                <a:ea typeface="Helvetica Neue"/>
                <a:cs typeface="Helvetica Neue"/>
              </a:rPr>
              <a:t>「キーの役割を具体化します」</a:t>
            </a:r>
          </a:p>
        </p:txBody>
      </p:sp>
      <p:sp>
        <p:nvSpPr>
          <p:cNvPr id="29" name="ex-a1">
            <a:extLst xmlns:a="http://schemas.openxmlformats.org/drawingml/2006/main">
              <a:ext uri="{FF2B5EF4-FFF2-40B4-BE49-F238E27FC236}">
                <a16:creationId xmlns:a16="http://schemas.microsoft.com/office/drawing/2014/main" id="{08495B59-72F5-4D81-883B-68E91570CEC2}"/>
              </a:ext>
            </a:extLst>
          </p:cNvPr>
          <p:cNvSpPr>
            <a:spLocks xmlns:a="http://schemas.openxmlformats.org/drawingml/2006/main" noGrp="1"/>
          </p:cNvSpPr>
          <p:nvPr/>
        </p:nvSpPr>
        <p:spPr>
          <a:xfrm xmlns:a="http://schemas.openxmlformats.org/drawingml/2006/main">
            <a:off x="3905250" y="4810125"/>
            <a:ext cx="428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30" name="ex-after">
            <a:extLst xmlns:a="http://schemas.openxmlformats.org/drawingml/2006/main">
              <a:ext uri="{FF2B5EF4-FFF2-40B4-BE49-F238E27FC236}">
                <a16:creationId xmlns:a16="http://schemas.microsoft.com/office/drawing/2014/main" id="{FDCC9C0A-5442-4CD7-9E1B-26DA27A8CEBD}"/>
              </a:ext>
            </a:extLst>
          </p:cNvPr>
          <p:cNvSpPr>
            <a:spLocks xmlns:a="http://schemas.openxmlformats.org/drawingml/2006/main" noGrp="1"/>
          </p:cNvSpPr>
          <p:nvPr/>
        </p:nvSpPr>
        <p:spPr>
          <a:xfrm xmlns:a="http://schemas.openxmlformats.org/drawingml/2006/main">
            <a:off x="4476750" y="4495800"/>
            <a:ext cx="3905250" cy="666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31" name="ex-after-t">
            <a:extLst xmlns:a="http://schemas.openxmlformats.org/drawingml/2006/main">
              <a:ext uri="{FF2B5EF4-FFF2-40B4-BE49-F238E27FC236}">
                <a16:creationId xmlns:a16="http://schemas.microsoft.com/office/drawing/2014/main" id="{1FC412E9-B8DE-4E26-9329-CDED9CF77F05}"/>
              </a:ext>
            </a:extLst>
          </p:cNvPr>
          <p:cNvSpPr>
            <a:spLocks xmlns:a="http://schemas.openxmlformats.org/drawingml/2006/main" noGrp="1"/>
          </p:cNvSpPr>
          <p:nvPr/>
        </p:nvSpPr>
        <p:spPr>
          <a:xfrm xmlns:a="http://schemas.openxmlformats.org/drawingml/2006/main">
            <a:off x="4638675" y="4591050"/>
            <a:ext cx="3581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699"/>
          </a:bodyPr>
          <a:lstStyle xmlns:a="http://schemas.openxmlformats.org/drawingml/2006/main"/>
          <a:p xmlns:a="http://schemas.openxmlformats.org/drawingml/2006/main">
            <a:pPr algn="ctr">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編集後</a:t>
            </a:r>
          </a:p>
          <a:p xmlns:a="http://schemas.openxmlformats.org/drawingml/2006/main">
            <a:pPr algn="ctr">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「主キーは行を一意に識別し、外部キーは表同士を結び付けます」</a:t>
            </a:r>
          </a:p>
        </p:txBody>
      </p:sp>
      <p:sp>
        <p:nvSpPr>
          <p:cNvPr id="32" name="ex-a2">
            <a:extLst xmlns:a="http://schemas.openxmlformats.org/drawingml/2006/main">
              <a:ext uri="{FF2B5EF4-FFF2-40B4-BE49-F238E27FC236}">
                <a16:creationId xmlns:a16="http://schemas.microsoft.com/office/drawing/2014/main" id="{CF8B0A3D-937F-4769-BDEC-DE6E4B5696CF}"/>
              </a:ext>
            </a:extLst>
          </p:cNvPr>
          <p:cNvSpPr>
            <a:spLocks xmlns:a="http://schemas.openxmlformats.org/drawingml/2006/main" noGrp="1"/>
          </p:cNvSpPr>
          <p:nvPr/>
        </p:nvSpPr>
        <p:spPr>
          <a:xfrm xmlns:a="http://schemas.openxmlformats.org/drawingml/2006/main">
            <a:off x="8524875" y="4810125"/>
            <a:ext cx="428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33" name="ex-pref">
            <a:extLst xmlns:a="http://schemas.openxmlformats.org/drawingml/2006/main">
              <a:ext uri="{FF2B5EF4-FFF2-40B4-BE49-F238E27FC236}">
                <a16:creationId xmlns:a16="http://schemas.microsoft.com/office/drawing/2014/main" id="{63C20E07-EFD3-450F-8DDA-C058BF960ACA}"/>
              </a:ext>
            </a:extLst>
          </p:cNvPr>
          <p:cNvSpPr>
            <a:spLocks xmlns:a="http://schemas.openxmlformats.org/drawingml/2006/main" noGrp="1"/>
          </p:cNvSpPr>
          <p:nvPr/>
        </p:nvSpPr>
        <p:spPr>
          <a:xfrm xmlns:a="http://schemas.openxmlformats.org/drawingml/2006/main">
            <a:off x="9096375" y="4362450"/>
            <a:ext cx="2571750" cy="933450"/>
          </a:xfrm>
          <a:prstGeom xmlns:a="http://schemas.openxmlformats.org/drawingml/2006/main" prst="rect">
            <a:avLst/>
          </a:prstGeom>
          <a:solidFill xmlns:a="http://schemas.openxmlformats.org/drawingml/2006/main">
            <a:srgbClr val="F9E6C8"/>
          </a:solidFill>
          <a:ln xmlns:a="http://schemas.openxmlformats.org/drawingml/2006/main" w="0">
            <a:noFill/>
            <a:prstDash val="solid"/>
          </a:ln>
        </p:spPr>
      </p:sp>
      <p:sp>
        <p:nvSpPr>
          <p:cNvPr id="34" name="ex-pref-t">
            <a:extLst xmlns:a="http://schemas.openxmlformats.org/drawingml/2006/main">
              <a:ext uri="{FF2B5EF4-FFF2-40B4-BE49-F238E27FC236}">
                <a16:creationId xmlns:a16="http://schemas.microsoft.com/office/drawing/2014/main" id="{715A5410-D6D8-47EE-8361-F7FFB7DAB569}"/>
              </a:ext>
            </a:extLst>
          </p:cNvPr>
          <p:cNvSpPr>
            <a:spLocks xmlns:a="http://schemas.openxmlformats.org/drawingml/2006/main" noGrp="1"/>
          </p:cNvSpPr>
          <p:nvPr/>
        </p:nvSpPr>
        <p:spPr>
          <a:xfrm xmlns:a="http://schemas.openxmlformats.org/drawingml/2006/main">
            <a:off x="9239250" y="4514850"/>
            <a:ext cx="2286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抽出された好み</a:t>
            </a:r>
          </a:p>
          <a:p xmlns:a="http://schemas.openxmlformats.org/drawingml/2006/main">
            <a:pPr algn="ctr">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「曖昧な予告ではなく、</a:t>
            </a:r>
          </a:p>
          <a:p xmlns:a="http://schemas.openxmlformats.org/drawingml/2006/main">
            <a:pPr algn="ctr">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主要内容を先に示す」</a:t>
            </a:r>
          </a:p>
        </p:txBody>
      </p:sp>
      <p:sp>
        <p:nvSpPr>
          <p:cNvPr id="35" name="limit-main">
            <a:extLst xmlns:a="http://schemas.openxmlformats.org/drawingml/2006/main">
              <a:ext uri="{FF2B5EF4-FFF2-40B4-BE49-F238E27FC236}">
                <a16:creationId xmlns:a16="http://schemas.microsoft.com/office/drawing/2014/main" id="{73215EC0-5FDB-4C8B-9213-938854E72589}"/>
              </a:ext>
            </a:extLst>
          </p:cNvPr>
          <p:cNvSpPr>
            <a:spLocks xmlns:a="http://schemas.openxmlformats.org/drawingml/2006/main" noGrp="1"/>
          </p:cNvSpPr>
          <p:nvPr/>
        </p:nvSpPr>
        <p:spPr>
          <a:xfrm xmlns:a="http://schemas.openxmlformats.org/drawingml/2006/main">
            <a:off x="1952625" y="5715000"/>
            <a:ext cx="828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D66A5E"/>
                </a:solidFill>
                <a:latin typeface="Helvetica Neue"/>
                <a:ea typeface="Helvetica Neue"/>
                <a:cs typeface="Helvetica Neue"/>
              </a:defRPr>
            </a:pPr>
            <a:r>
              <a:rPr sz="1500" b="1">
                <a:solidFill>
                  <a:srgbClr val="D66A5E"/>
                </a:solidFill>
                <a:latin typeface="Helvetica Neue"/>
                <a:ea typeface="Helvetica Neue"/>
                <a:cs typeface="Helvetica Neue"/>
              </a:rPr>
              <a:t>現状：コサイン類似度は順位付けのみに使用し、採用閾値は未設定</a:t>
            </a:r>
          </a:p>
        </p:txBody>
      </p:sp>
      <p:sp>
        <p:nvSpPr>
          <p:cNvPr id="36" name="flow-foot">
            <a:extLst xmlns:a="http://schemas.openxmlformats.org/drawingml/2006/main">
              <a:ext uri="{FF2B5EF4-FFF2-40B4-BE49-F238E27FC236}">
                <a16:creationId xmlns:a16="http://schemas.microsoft.com/office/drawing/2014/main" id="{730565AC-9A90-4872-AB6A-1FB16F4DD6DA}"/>
              </a:ext>
            </a:extLst>
          </p:cNvPr>
          <p:cNvSpPr>
            <a:spLocks xmlns:a="http://schemas.openxmlformats.org/drawingml/2006/main" noGrp="1"/>
          </p:cNvSpPr>
          <p:nvPr/>
        </p:nvSpPr>
        <p:spPr>
          <a:xfrm xmlns:a="http://schemas.openxmlformats.org/drawingml/2006/main">
            <a:off x="2571750" y="6115050"/>
            <a:ext cx="704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0">
                <a:solidFill>
                  <a:srgbClr val="61666E"/>
                </a:solidFill>
                <a:latin typeface="Helvetica Neue"/>
                <a:ea typeface="Helvetica Neue"/>
                <a:cs typeface="Helvetica Neue"/>
              </a:defRPr>
            </a:pPr>
            <a:r>
              <a:rPr sz="1275" b="0">
                <a:solidFill>
                  <a:srgbClr val="61666E"/>
                </a:solidFill>
                <a:latin typeface="Helvetica Neue"/>
                <a:ea typeface="Helvetica Neue"/>
                <a:cs typeface="Helvetica Neue"/>
              </a:rPr>
              <a:t>詳細な数式・入出力・例外処理は補足スライド13〜16に記載</a:t>
            </a:r>
          </a:p>
        </p:txBody>
      </p:sp>
    </p:spTree>
    <p:extLst>
      <p:ext uri="{BB962C8B-B14F-4D97-AF65-F5344CB8AC3E}">
        <p14:creationId xmlns:p14="http://schemas.microsoft.com/office/powerpoint/2010/main" val="14394501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3">
            <a:extLst xmlns:a="http://schemas.openxmlformats.org/drawingml/2006/main">
              <a:ext uri="{FF2B5EF4-FFF2-40B4-BE49-F238E27FC236}">
                <a16:creationId xmlns:a16="http://schemas.microsoft.com/office/drawing/2014/main" id="{713BC1B1-4F10-4E3D-BF96-818C660223A8}"/>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実際の連続利用に、効果測定用の比較を加えた</a:t>
            </a:r>
          </a:p>
        </p:txBody>
      </p:sp>
      <p:sp>
        <p:nvSpPr>
          <p:cNvPr id="2" name="page-3">
            <a:extLst xmlns:a="http://schemas.openxmlformats.org/drawingml/2006/main">
              <a:ext uri="{FF2B5EF4-FFF2-40B4-BE49-F238E27FC236}">
                <a16:creationId xmlns:a16="http://schemas.microsoft.com/office/drawing/2014/main" id="{5DC6585F-4D23-4ADE-80DE-A539E7AD8031}"/>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3</a:t>
            </a:r>
          </a:p>
        </p:txBody>
      </p:sp>
      <p:sp>
        <p:nvSpPr>
          <p:cNvPr id="3" name="legend-live">
            <a:extLst xmlns:a="http://schemas.openxmlformats.org/drawingml/2006/main">
              <a:ext uri="{FF2B5EF4-FFF2-40B4-BE49-F238E27FC236}">
                <a16:creationId xmlns:a16="http://schemas.microsoft.com/office/drawing/2014/main" id="{41C8795B-9FF3-46C2-B822-EF8FF47B3B59}"/>
              </a:ext>
            </a:extLst>
          </p:cNvPr>
          <p:cNvSpPr>
            <a:spLocks xmlns:a="http://schemas.openxmlformats.org/drawingml/2006/main" noGrp="1"/>
          </p:cNvSpPr>
          <p:nvPr/>
        </p:nvSpPr>
        <p:spPr>
          <a:xfrm xmlns:a="http://schemas.openxmlformats.org/drawingml/2006/main">
            <a:off x="619125" y="1095375"/>
            <a:ext cx="209550" cy="209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legend-live-t">
            <a:extLst xmlns:a="http://schemas.openxmlformats.org/drawingml/2006/main">
              <a:ext uri="{FF2B5EF4-FFF2-40B4-BE49-F238E27FC236}">
                <a16:creationId xmlns:a16="http://schemas.microsoft.com/office/drawing/2014/main" id="{0A92573B-B207-4644-B607-B8833026A99C}"/>
              </a:ext>
            </a:extLst>
          </p:cNvPr>
          <p:cNvSpPr>
            <a:spLocks xmlns:a="http://schemas.openxmlformats.org/drawingml/2006/main" noGrp="1"/>
          </p:cNvSpPr>
          <p:nvPr/>
        </p:nvSpPr>
        <p:spPr>
          <a:xfrm xmlns:a="http://schemas.openxmlformats.org/drawingml/2006/main">
            <a:off x="952500" y="1066800"/>
            <a:ext cx="423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実利用：編集履歴を次回へ引き継ぐ</a:t>
            </a:r>
          </a:p>
        </p:txBody>
      </p:sp>
      <p:sp>
        <p:nvSpPr>
          <p:cNvPr id="5" name="legend-control">
            <a:extLst xmlns:a="http://schemas.openxmlformats.org/drawingml/2006/main">
              <a:ext uri="{FF2B5EF4-FFF2-40B4-BE49-F238E27FC236}">
                <a16:creationId xmlns:a16="http://schemas.microsoft.com/office/drawing/2014/main" id="{E7265045-9CBC-41AB-82D3-2BEB577F29D3}"/>
              </a:ext>
            </a:extLst>
          </p:cNvPr>
          <p:cNvSpPr>
            <a:spLocks xmlns:a="http://schemas.openxmlformats.org/drawingml/2006/main" noGrp="1"/>
          </p:cNvSpPr>
          <p:nvPr/>
        </p:nvSpPr>
        <p:spPr>
          <a:xfrm xmlns:a="http://schemas.openxmlformats.org/drawingml/2006/main">
            <a:off x="6477000" y="1095375"/>
            <a:ext cx="209550" cy="2095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legend-control-t">
            <a:extLst xmlns:a="http://schemas.openxmlformats.org/drawingml/2006/main">
              <a:ext uri="{FF2B5EF4-FFF2-40B4-BE49-F238E27FC236}">
                <a16:creationId xmlns:a16="http://schemas.microsoft.com/office/drawing/2014/main" id="{0B655A34-AA88-4904-814C-EFAE418C50E0}"/>
              </a:ext>
            </a:extLst>
          </p:cNvPr>
          <p:cNvSpPr>
            <a:spLocks xmlns:a="http://schemas.openxmlformats.org/drawingml/2006/main" noGrp="1"/>
          </p:cNvSpPr>
          <p:nvPr/>
        </p:nvSpPr>
        <p:spPr>
          <a:xfrm xmlns:a="http://schemas.openxmlformats.org/drawingml/2006/main">
            <a:off x="6810375" y="10668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比較用：履歴なしで生成し、次回へは引き継がない</a:t>
            </a:r>
          </a:p>
        </p:txBody>
      </p:sp>
      <p:sp>
        <p:nvSpPr>
          <p:cNvPr id="7" name="live-a1">
            <a:extLst xmlns:a="http://schemas.openxmlformats.org/drawingml/2006/main">
              <a:ext uri="{FF2B5EF4-FFF2-40B4-BE49-F238E27FC236}">
                <a16:creationId xmlns:a16="http://schemas.microsoft.com/office/drawing/2014/main" id="{86D7DE20-62CC-4749-8EE2-479F787D3446}"/>
              </a:ext>
            </a:extLst>
          </p:cNvPr>
          <p:cNvSpPr>
            <a:spLocks xmlns:a="http://schemas.openxmlformats.org/drawingml/2006/main" noGrp="1"/>
          </p:cNvSpPr>
          <p:nvPr/>
        </p:nvSpPr>
        <p:spPr>
          <a:xfrm xmlns:a="http://schemas.openxmlformats.org/drawingml/2006/main">
            <a:off x="3714750" y="2952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live-a2">
            <a:extLst xmlns:a="http://schemas.openxmlformats.org/drawingml/2006/main">
              <a:ext uri="{FF2B5EF4-FFF2-40B4-BE49-F238E27FC236}">
                <a16:creationId xmlns:a16="http://schemas.microsoft.com/office/drawing/2014/main" id="{D1EE9DFB-CB8D-49E3-ABBD-0290EE3F6323}"/>
              </a:ext>
            </a:extLst>
          </p:cNvPr>
          <p:cNvSpPr>
            <a:spLocks xmlns:a="http://schemas.openxmlformats.org/drawingml/2006/main" noGrp="1"/>
          </p:cNvSpPr>
          <p:nvPr/>
        </p:nvSpPr>
        <p:spPr>
          <a:xfrm xmlns:a="http://schemas.openxmlformats.org/drawingml/2006/main">
            <a:off x="7667625" y="2952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rh-0">
            <a:extLst xmlns:a="http://schemas.openxmlformats.org/drawingml/2006/main">
              <a:ext uri="{FF2B5EF4-FFF2-40B4-BE49-F238E27FC236}">
                <a16:creationId xmlns:a16="http://schemas.microsoft.com/office/drawing/2014/main" id="{75CD4565-0C9D-45F7-9D89-E848F5A25562}"/>
              </a:ext>
            </a:extLst>
          </p:cNvPr>
          <p:cNvSpPr>
            <a:spLocks xmlns:a="http://schemas.openxmlformats.org/drawingml/2006/main" noGrp="1"/>
          </p:cNvSpPr>
          <p:nvPr/>
        </p:nvSpPr>
        <p:spPr>
          <a:xfrm xmlns:a="http://schemas.openxmlformats.org/drawingml/2006/main">
            <a:off x="523875"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1回目</a:t>
            </a:r>
          </a:p>
        </p:txBody>
      </p:sp>
      <p:sp>
        <p:nvSpPr>
          <p:cNvPr id="10" name="live-0">
            <a:extLst xmlns:a="http://schemas.openxmlformats.org/drawingml/2006/main">
              <a:ext uri="{FF2B5EF4-FFF2-40B4-BE49-F238E27FC236}">
                <a16:creationId xmlns:a16="http://schemas.microsoft.com/office/drawing/2014/main" id="{3E525BB0-77FC-4532-BD92-148E3BBFD7B4}"/>
              </a:ext>
            </a:extLst>
          </p:cNvPr>
          <p:cNvSpPr>
            <a:spLocks xmlns:a="http://schemas.openxmlformats.org/drawingml/2006/main" noGrp="1"/>
          </p:cNvSpPr>
          <p:nvPr/>
        </p:nvSpPr>
        <p:spPr>
          <a:xfrm xmlns:a="http://schemas.openxmlformats.org/drawingml/2006/main">
            <a:off x="523875"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live-mark-0">
            <a:extLst xmlns:a="http://schemas.openxmlformats.org/drawingml/2006/main">
              <a:ext uri="{FF2B5EF4-FFF2-40B4-BE49-F238E27FC236}">
                <a16:creationId xmlns:a16="http://schemas.microsoft.com/office/drawing/2014/main" id="{92E23C98-E509-4F1B-A3E6-20073FED1188}"/>
              </a:ext>
            </a:extLst>
          </p:cNvPr>
          <p:cNvSpPr>
            <a:spLocks xmlns:a="http://schemas.openxmlformats.org/drawingml/2006/main" noGrp="1"/>
          </p:cNvSpPr>
          <p:nvPr/>
        </p:nvSpPr>
        <p:spPr>
          <a:xfrm xmlns:a="http://schemas.openxmlformats.org/drawingml/2006/main">
            <a:off x="523875"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ive-t-0">
            <a:extLst xmlns:a="http://schemas.openxmlformats.org/drawingml/2006/main">
              <a:ext uri="{FF2B5EF4-FFF2-40B4-BE49-F238E27FC236}">
                <a16:creationId xmlns:a16="http://schemas.microsoft.com/office/drawing/2014/main" id="{81A6855C-70C7-4750-8E78-41001CE66C92}"/>
              </a:ext>
            </a:extLst>
          </p:cNvPr>
          <p:cNvSpPr>
            <a:spLocks xmlns:a="http://schemas.openxmlformats.org/drawingml/2006/main" noGrp="1"/>
          </p:cNvSpPr>
          <p:nvPr/>
        </p:nvSpPr>
        <p:spPr>
          <a:xfrm xmlns:a="http://schemas.openxmlformats.org/drawingml/2006/main">
            <a:off x="828675"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履歴なしで生成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好み履歴①を作る</a:t>
            </a:r>
          </a:p>
        </p:txBody>
      </p:sp>
      <p:sp>
        <p:nvSpPr>
          <p:cNvPr id="13" name="rh-1">
            <a:extLst xmlns:a="http://schemas.openxmlformats.org/drawingml/2006/main">
              <a:ext uri="{FF2B5EF4-FFF2-40B4-BE49-F238E27FC236}">
                <a16:creationId xmlns:a16="http://schemas.microsoft.com/office/drawing/2014/main" id="{839DF3F5-D901-4C78-A4E9-63C69997A24D}"/>
              </a:ext>
            </a:extLst>
          </p:cNvPr>
          <p:cNvSpPr>
            <a:spLocks xmlns:a="http://schemas.openxmlformats.org/drawingml/2006/main" noGrp="1"/>
          </p:cNvSpPr>
          <p:nvPr/>
        </p:nvSpPr>
        <p:spPr>
          <a:xfrm xmlns:a="http://schemas.openxmlformats.org/drawingml/2006/main">
            <a:off x="4476750"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2回目</a:t>
            </a:r>
          </a:p>
        </p:txBody>
      </p:sp>
      <p:sp>
        <p:nvSpPr>
          <p:cNvPr id="14" name="live-1">
            <a:extLst xmlns:a="http://schemas.openxmlformats.org/drawingml/2006/main">
              <a:ext uri="{FF2B5EF4-FFF2-40B4-BE49-F238E27FC236}">
                <a16:creationId xmlns:a16="http://schemas.microsoft.com/office/drawing/2014/main" id="{71FE745F-863C-4291-9313-999C4991357D}"/>
              </a:ext>
            </a:extLst>
          </p:cNvPr>
          <p:cNvSpPr>
            <a:spLocks xmlns:a="http://schemas.openxmlformats.org/drawingml/2006/main" noGrp="1"/>
          </p:cNvSpPr>
          <p:nvPr/>
        </p:nvSpPr>
        <p:spPr>
          <a:xfrm xmlns:a="http://schemas.openxmlformats.org/drawingml/2006/main">
            <a:off x="4476750"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5" name="live-mark-1">
            <a:extLst xmlns:a="http://schemas.openxmlformats.org/drawingml/2006/main">
              <a:ext uri="{FF2B5EF4-FFF2-40B4-BE49-F238E27FC236}">
                <a16:creationId xmlns:a16="http://schemas.microsoft.com/office/drawing/2014/main" id="{D215C795-0789-4AA0-A4F2-22DFD0619412}"/>
              </a:ext>
            </a:extLst>
          </p:cNvPr>
          <p:cNvSpPr>
            <a:spLocks xmlns:a="http://schemas.openxmlformats.org/drawingml/2006/main" noGrp="1"/>
          </p:cNvSpPr>
          <p:nvPr/>
        </p:nvSpPr>
        <p:spPr>
          <a:xfrm xmlns:a="http://schemas.openxmlformats.org/drawingml/2006/main">
            <a:off x="4476750"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ive-t-1">
            <a:extLst xmlns:a="http://schemas.openxmlformats.org/drawingml/2006/main">
              <a:ext uri="{FF2B5EF4-FFF2-40B4-BE49-F238E27FC236}">
                <a16:creationId xmlns:a16="http://schemas.microsoft.com/office/drawing/2014/main" id="{285F4496-0EA8-49B7-B9A8-AE3EF1BCCC8D}"/>
              </a:ext>
            </a:extLst>
          </p:cNvPr>
          <p:cNvSpPr>
            <a:spLocks xmlns:a="http://schemas.openxmlformats.org/drawingml/2006/main" noGrp="1"/>
          </p:cNvSpPr>
          <p:nvPr/>
        </p:nvSpPr>
        <p:spPr>
          <a:xfrm xmlns:a="http://schemas.openxmlformats.org/drawingml/2006/main">
            <a:off x="4781550"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履歴①で新教材を生成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好み履歴②を追加</a:t>
            </a:r>
          </a:p>
        </p:txBody>
      </p:sp>
      <p:sp>
        <p:nvSpPr>
          <p:cNvPr id="17" name="rh-2">
            <a:extLst xmlns:a="http://schemas.openxmlformats.org/drawingml/2006/main">
              <a:ext uri="{FF2B5EF4-FFF2-40B4-BE49-F238E27FC236}">
                <a16:creationId xmlns:a16="http://schemas.microsoft.com/office/drawing/2014/main" id="{6DE9C55E-BCE9-43D6-8E9B-9E7DD6FAE3AA}"/>
              </a:ext>
            </a:extLst>
          </p:cNvPr>
          <p:cNvSpPr>
            <a:spLocks xmlns:a="http://schemas.openxmlformats.org/drawingml/2006/main" noGrp="1"/>
          </p:cNvSpPr>
          <p:nvPr/>
        </p:nvSpPr>
        <p:spPr>
          <a:xfrm xmlns:a="http://schemas.openxmlformats.org/drawingml/2006/main">
            <a:off x="8429625"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3回目</a:t>
            </a:r>
          </a:p>
        </p:txBody>
      </p:sp>
      <p:sp>
        <p:nvSpPr>
          <p:cNvPr id="18" name="live-2">
            <a:extLst xmlns:a="http://schemas.openxmlformats.org/drawingml/2006/main">
              <a:ext uri="{FF2B5EF4-FFF2-40B4-BE49-F238E27FC236}">
                <a16:creationId xmlns:a16="http://schemas.microsoft.com/office/drawing/2014/main" id="{A440909D-CD5E-4B5E-9315-014911C9CE80}"/>
              </a:ext>
            </a:extLst>
          </p:cNvPr>
          <p:cNvSpPr>
            <a:spLocks xmlns:a="http://schemas.openxmlformats.org/drawingml/2006/main" noGrp="1"/>
          </p:cNvSpPr>
          <p:nvPr/>
        </p:nvSpPr>
        <p:spPr>
          <a:xfrm xmlns:a="http://schemas.openxmlformats.org/drawingml/2006/main">
            <a:off x="8429625"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9" name="live-mark-2">
            <a:extLst xmlns:a="http://schemas.openxmlformats.org/drawingml/2006/main">
              <a:ext uri="{FF2B5EF4-FFF2-40B4-BE49-F238E27FC236}">
                <a16:creationId xmlns:a16="http://schemas.microsoft.com/office/drawing/2014/main" id="{601CBF07-1B25-4382-B834-3A70052778E5}"/>
              </a:ext>
            </a:extLst>
          </p:cNvPr>
          <p:cNvSpPr>
            <a:spLocks xmlns:a="http://schemas.openxmlformats.org/drawingml/2006/main" noGrp="1"/>
          </p:cNvSpPr>
          <p:nvPr/>
        </p:nvSpPr>
        <p:spPr>
          <a:xfrm xmlns:a="http://schemas.openxmlformats.org/drawingml/2006/main">
            <a:off x="8429625"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live-t-2">
            <a:extLst xmlns:a="http://schemas.openxmlformats.org/drawingml/2006/main">
              <a:ext uri="{FF2B5EF4-FFF2-40B4-BE49-F238E27FC236}">
                <a16:creationId xmlns:a16="http://schemas.microsoft.com/office/drawing/2014/main" id="{D57A8BAA-AB4E-427C-ADA5-27012E488A8A}"/>
              </a:ext>
            </a:extLst>
          </p:cNvPr>
          <p:cNvSpPr>
            <a:spLocks xmlns:a="http://schemas.openxmlformats.org/drawingml/2006/main" noGrp="1"/>
          </p:cNvSpPr>
          <p:nvPr/>
        </p:nvSpPr>
        <p:spPr>
          <a:xfrm xmlns:a="http://schemas.openxmlformats.org/drawingml/2006/main">
            <a:off x="8734425"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履歴①＋②で</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新教材を生成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p:txBody>
      </p:sp>
      <p:sp>
        <p:nvSpPr>
          <p:cNvPr id="21" name="control-1">
            <a:extLst xmlns:a="http://schemas.openxmlformats.org/drawingml/2006/main">
              <a:ext uri="{FF2B5EF4-FFF2-40B4-BE49-F238E27FC236}">
                <a16:creationId xmlns:a16="http://schemas.microsoft.com/office/drawing/2014/main" id="{C420AFE4-5C68-4F7B-AFDA-4D6619F6D7C0}"/>
              </a:ext>
            </a:extLst>
          </p:cNvPr>
          <p:cNvSpPr>
            <a:spLocks xmlns:a="http://schemas.openxmlformats.org/drawingml/2006/main" noGrp="1"/>
          </p:cNvSpPr>
          <p:nvPr/>
        </p:nvSpPr>
        <p:spPr>
          <a:xfrm xmlns:a="http://schemas.openxmlformats.org/drawingml/2006/main">
            <a:off x="4476750" y="4238625"/>
            <a:ext cx="3238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2" name="control-t-1">
            <a:extLst xmlns:a="http://schemas.openxmlformats.org/drawingml/2006/main">
              <a:ext uri="{FF2B5EF4-FFF2-40B4-BE49-F238E27FC236}">
                <a16:creationId xmlns:a16="http://schemas.microsoft.com/office/drawing/2014/main" id="{7A6DDC53-8916-47A0-91D8-C49C612C4B5D}"/>
              </a:ext>
            </a:extLst>
          </p:cNvPr>
          <p:cNvSpPr>
            <a:spLocks xmlns:a="http://schemas.openxmlformats.org/drawingml/2006/main" noGrp="1"/>
          </p:cNvSpPr>
          <p:nvPr/>
        </p:nvSpPr>
        <p:spPr>
          <a:xfrm xmlns:a="http://schemas.openxmlformats.org/drawingml/2006/main">
            <a:off x="4619625" y="444817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同じ2回目教材を履歴なしで生成</a:t>
            </a:r>
          </a:p>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実利用側との要修正文率を比較</a:t>
            </a:r>
          </a:p>
        </p:txBody>
      </p:sp>
      <p:sp>
        <p:nvSpPr>
          <p:cNvPr id="23" name="control-2">
            <a:extLst xmlns:a="http://schemas.openxmlformats.org/drawingml/2006/main">
              <a:ext uri="{FF2B5EF4-FFF2-40B4-BE49-F238E27FC236}">
                <a16:creationId xmlns:a16="http://schemas.microsoft.com/office/drawing/2014/main" id="{9573501B-97A6-48C9-B33B-D036501F09E4}"/>
              </a:ext>
            </a:extLst>
          </p:cNvPr>
          <p:cNvSpPr>
            <a:spLocks xmlns:a="http://schemas.openxmlformats.org/drawingml/2006/main" noGrp="1"/>
          </p:cNvSpPr>
          <p:nvPr/>
        </p:nvSpPr>
        <p:spPr>
          <a:xfrm xmlns:a="http://schemas.openxmlformats.org/drawingml/2006/main">
            <a:off x="8429625" y="4238625"/>
            <a:ext cx="3238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4" name="control-t-2">
            <a:extLst xmlns:a="http://schemas.openxmlformats.org/drawingml/2006/main">
              <a:ext uri="{FF2B5EF4-FFF2-40B4-BE49-F238E27FC236}">
                <a16:creationId xmlns:a16="http://schemas.microsoft.com/office/drawing/2014/main" id="{F6DF524D-8F77-45CF-9634-5C8322EA5A4A}"/>
              </a:ext>
            </a:extLst>
          </p:cNvPr>
          <p:cNvSpPr>
            <a:spLocks xmlns:a="http://schemas.openxmlformats.org/drawingml/2006/main" noGrp="1"/>
          </p:cNvSpPr>
          <p:nvPr/>
        </p:nvSpPr>
        <p:spPr>
          <a:xfrm xmlns:a="http://schemas.openxmlformats.org/drawingml/2006/main">
            <a:off x="8572500" y="444817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同じ3回目教材を履歴なしで生成</a:t>
            </a:r>
          </a:p>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実利用側との要修正文率を比較</a:t>
            </a:r>
          </a:p>
        </p:txBody>
      </p:sp>
      <p:sp>
        <p:nvSpPr>
          <p:cNvPr id="25" name="no-feed-1">
            <a:extLst xmlns:a="http://schemas.openxmlformats.org/drawingml/2006/main">
              <a:ext uri="{FF2B5EF4-FFF2-40B4-BE49-F238E27FC236}">
                <a16:creationId xmlns:a16="http://schemas.microsoft.com/office/drawing/2014/main" id="{EED3F5CB-1858-4492-9173-EC9582970FCC}"/>
              </a:ext>
            </a:extLst>
          </p:cNvPr>
          <p:cNvSpPr>
            <a:spLocks xmlns:a="http://schemas.openxmlformats.org/drawingml/2006/main" noGrp="1"/>
          </p:cNvSpPr>
          <p:nvPr/>
        </p:nvSpPr>
        <p:spPr>
          <a:xfrm xmlns:a="http://schemas.openxmlformats.org/drawingml/2006/main">
            <a:off x="4953000" y="5381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比較結果だけを記録</a:t>
            </a:r>
          </a:p>
        </p:txBody>
      </p:sp>
      <p:sp>
        <p:nvSpPr>
          <p:cNvPr id="26" name="no-feed-2">
            <a:extLst xmlns:a="http://schemas.openxmlformats.org/drawingml/2006/main">
              <a:ext uri="{FF2B5EF4-FFF2-40B4-BE49-F238E27FC236}">
                <a16:creationId xmlns:a16="http://schemas.microsoft.com/office/drawing/2014/main" id="{D72954A2-B76B-4BE1-B65A-B99861E5FF8F}"/>
              </a:ext>
            </a:extLst>
          </p:cNvPr>
          <p:cNvSpPr>
            <a:spLocks xmlns:a="http://schemas.openxmlformats.org/drawingml/2006/main" noGrp="1"/>
          </p:cNvSpPr>
          <p:nvPr/>
        </p:nvSpPr>
        <p:spPr>
          <a:xfrm xmlns:a="http://schemas.openxmlformats.org/drawingml/2006/main">
            <a:off x="8905875" y="5381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比較結果だけを記録</a:t>
            </a:r>
          </a:p>
        </p:txBody>
      </p:sp>
      <p:sp>
        <p:nvSpPr>
          <p:cNvPr id="27" name="key">
            <a:extLst xmlns:a="http://schemas.openxmlformats.org/drawingml/2006/main">
              <a:ext uri="{FF2B5EF4-FFF2-40B4-BE49-F238E27FC236}">
                <a16:creationId xmlns:a16="http://schemas.microsoft.com/office/drawing/2014/main" id="{371C1B48-CB1B-4FED-B47F-94A23040ADF9}"/>
              </a:ext>
            </a:extLst>
          </p:cNvPr>
          <p:cNvSpPr>
            <a:spLocks xmlns:a="http://schemas.openxmlformats.org/drawingml/2006/main" noGrp="1"/>
          </p:cNvSpPr>
          <p:nvPr/>
        </p:nvSpPr>
        <p:spPr>
          <a:xfrm xmlns:a="http://schemas.openxmlformats.org/drawingml/2006/main">
            <a:off x="1381125" y="5953125"/>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次回へ進むのは青い経路だけ。灰色は好み反映の効果を測るための比較用Control</a:t>
            </a:r>
          </a:p>
        </p:txBody>
      </p:sp>
    </p:spTree>
    <p:extLst>
      <p:ext uri="{BB962C8B-B14F-4D97-AF65-F5344CB8AC3E}">
        <p14:creationId xmlns:p14="http://schemas.microsoft.com/office/powerpoint/2010/main" val="12999368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4">
            <a:extLst xmlns:a="http://schemas.openxmlformats.org/drawingml/2006/main">
              <a:ext uri="{FF2B5EF4-FFF2-40B4-BE49-F238E27FC236}">
                <a16:creationId xmlns:a16="http://schemas.microsoft.com/office/drawing/2014/main" id="{0B21649A-5C41-4283-8366-E552B50ABD86}"/>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編集回数は決めず、必要な文だけを直した</a:t>
            </a:r>
          </a:p>
        </p:txBody>
      </p:sp>
      <p:sp>
        <p:nvSpPr>
          <p:cNvPr id="2" name="page-4">
            <a:extLst xmlns:a="http://schemas.openxmlformats.org/drawingml/2006/main">
              <a:ext uri="{FF2B5EF4-FFF2-40B4-BE49-F238E27FC236}">
                <a16:creationId xmlns:a16="http://schemas.microsoft.com/office/drawing/2014/main" id="{16A93A2E-E99F-47BD-AACE-BF9A5433434B}"/>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4</a:t>
            </a:r>
          </a:p>
        </p:txBody>
      </p:sp>
      <p:sp>
        <p:nvSpPr>
          <p:cNvPr id="3" name="policy">
            <a:extLst xmlns:a="http://schemas.openxmlformats.org/drawingml/2006/main">
              <a:ext uri="{FF2B5EF4-FFF2-40B4-BE49-F238E27FC236}">
                <a16:creationId xmlns:a16="http://schemas.microsoft.com/office/drawing/2014/main" id="{1EF1AD1E-1DC9-4C75-964D-0230B665CE1F}"/>
              </a:ext>
            </a:extLst>
          </p:cNvPr>
          <p:cNvSpPr>
            <a:spLocks xmlns:a="http://schemas.openxmlformats.org/drawingml/2006/main" noGrp="1"/>
          </p:cNvSpPr>
          <p:nvPr/>
        </p:nvSpPr>
        <p:spPr>
          <a:xfrm xmlns:a="http://schemas.openxmlformats.org/drawingml/2006/main">
            <a:off x="1238250" y="125730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各好みの方針に照らし、すでに満たしている文は変更しない</a:t>
            </a:r>
          </a:p>
        </p:txBody>
      </p:sp>
      <p:sp>
        <p:nvSpPr>
          <p:cNvPr id="4" name="ex1-h">
            <a:extLst xmlns:a="http://schemas.openxmlformats.org/drawingml/2006/main">
              <a:ext uri="{FF2B5EF4-FFF2-40B4-BE49-F238E27FC236}">
                <a16:creationId xmlns:a16="http://schemas.microsoft.com/office/drawing/2014/main" id="{B6DFD946-1D6B-4678-85EA-22C6F3B8AB64}"/>
              </a:ext>
            </a:extLst>
          </p:cNvPr>
          <p:cNvSpPr>
            <a:spLocks xmlns:a="http://schemas.openxmlformats.org/drawingml/2006/main" noGrp="1"/>
          </p:cNvSpPr>
          <p:nvPr/>
        </p:nvSpPr>
        <p:spPr>
          <a:xfrm xmlns:a="http://schemas.openxmlformats.org/drawingml/2006/main">
            <a:off x="666750" y="21907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例：簡潔にする</a:t>
            </a:r>
          </a:p>
        </p:txBody>
      </p:sp>
      <p:sp>
        <p:nvSpPr>
          <p:cNvPr id="5" name="ex1-b">
            <a:extLst xmlns:a="http://schemas.openxmlformats.org/drawingml/2006/main">
              <a:ext uri="{FF2B5EF4-FFF2-40B4-BE49-F238E27FC236}">
                <a16:creationId xmlns:a16="http://schemas.microsoft.com/office/drawing/2014/main" id="{0FED78FF-53A6-4CBD-8406-EC10E879FD19}"/>
              </a:ext>
            </a:extLst>
          </p:cNvPr>
          <p:cNvSpPr>
            <a:spLocks xmlns:a="http://schemas.openxmlformats.org/drawingml/2006/main" noGrp="1"/>
          </p:cNvSpPr>
          <p:nvPr/>
        </p:nvSpPr>
        <p:spPr>
          <a:xfrm xmlns:a="http://schemas.openxmlformats.org/drawingml/2006/main">
            <a:off x="666750" y="2714625"/>
            <a:ext cx="4810125"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ex1-bt">
            <a:extLst xmlns:a="http://schemas.openxmlformats.org/drawingml/2006/main">
              <a:ext uri="{FF2B5EF4-FFF2-40B4-BE49-F238E27FC236}">
                <a16:creationId xmlns:a16="http://schemas.microsoft.com/office/drawing/2014/main" id="{18A20E12-E77B-41D4-98DB-0668B34E6C15}"/>
              </a:ext>
            </a:extLst>
          </p:cNvPr>
          <p:cNvSpPr>
            <a:spLocks xmlns:a="http://schemas.openxmlformats.org/drawingml/2006/main" noGrp="1"/>
          </p:cNvSpPr>
          <p:nvPr/>
        </p:nvSpPr>
        <p:spPr>
          <a:xfrm xmlns:a="http://schemas.openxmlformats.org/drawingml/2006/main">
            <a:off x="904875"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「アクセスを与える前に相手が誰かを確認する」</a:t>
            </a:r>
          </a:p>
        </p:txBody>
      </p:sp>
      <p:sp>
        <p:nvSpPr>
          <p:cNvPr id="7" name="ex1-a">
            <a:extLst xmlns:a="http://schemas.openxmlformats.org/drawingml/2006/main">
              <a:ext uri="{FF2B5EF4-FFF2-40B4-BE49-F238E27FC236}">
                <a16:creationId xmlns:a16="http://schemas.microsoft.com/office/drawing/2014/main" id="{510C248F-6B91-4F6E-B024-CB563D737EFF}"/>
              </a:ext>
            </a:extLst>
          </p:cNvPr>
          <p:cNvSpPr>
            <a:spLocks xmlns:a="http://schemas.openxmlformats.org/drawingml/2006/main" noGrp="1"/>
          </p:cNvSpPr>
          <p:nvPr/>
        </p:nvSpPr>
        <p:spPr>
          <a:xfrm xmlns:a="http://schemas.openxmlformats.org/drawingml/2006/main">
            <a:off x="6715125" y="2714625"/>
            <a:ext cx="4810125" cy="10001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ex1-at">
            <a:extLst xmlns:a="http://schemas.openxmlformats.org/drawingml/2006/main">
              <a:ext uri="{FF2B5EF4-FFF2-40B4-BE49-F238E27FC236}">
                <a16:creationId xmlns:a16="http://schemas.microsoft.com/office/drawing/2014/main" id="{93FE2A17-2546-4BB2-A71D-54CC45EA50DD}"/>
              </a:ext>
            </a:extLst>
          </p:cNvPr>
          <p:cNvSpPr>
            <a:spLocks xmlns:a="http://schemas.openxmlformats.org/drawingml/2006/main" noGrp="1"/>
          </p:cNvSpPr>
          <p:nvPr/>
        </p:nvSpPr>
        <p:spPr>
          <a:xfrm xmlns:a="http://schemas.openxmlformats.org/drawingml/2006/main">
            <a:off x="6953250"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編集後</a:t>
            </a:r>
          </a:p>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「アクセス前に相手が誰かを確認する」</a:t>
            </a:r>
          </a:p>
        </p:txBody>
      </p:sp>
      <p:sp>
        <p:nvSpPr>
          <p:cNvPr id="9" name="ex-arrow">
            <a:extLst xmlns:a="http://schemas.openxmlformats.org/drawingml/2006/main">
              <a:ext uri="{FF2B5EF4-FFF2-40B4-BE49-F238E27FC236}">
                <a16:creationId xmlns:a16="http://schemas.microsoft.com/office/drawing/2014/main" id="{AE195C21-620F-4CCE-B651-27B7333460CB}"/>
              </a:ext>
            </a:extLst>
          </p:cNvPr>
          <p:cNvSpPr>
            <a:spLocks xmlns:a="http://schemas.openxmlformats.org/drawingml/2006/main" noGrp="1"/>
          </p:cNvSpPr>
          <p:nvPr/>
        </p:nvSpPr>
        <p:spPr>
          <a:xfrm xmlns:a="http://schemas.openxmlformats.org/drawingml/2006/main">
            <a:off x="5667375"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ex2-h">
            <a:extLst xmlns:a="http://schemas.openxmlformats.org/drawingml/2006/main">
              <a:ext uri="{FF2B5EF4-FFF2-40B4-BE49-F238E27FC236}">
                <a16:creationId xmlns:a16="http://schemas.microsoft.com/office/drawing/2014/main" id="{67638A08-F84B-45B9-AF51-8C00C37DECE7}"/>
              </a:ext>
            </a:extLst>
          </p:cNvPr>
          <p:cNvSpPr>
            <a:spLocks xmlns:a="http://schemas.openxmlformats.org/drawingml/2006/main" noGrp="1"/>
          </p:cNvSpPr>
          <p:nvPr/>
        </p:nvSpPr>
        <p:spPr>
          <a:xfrm xmlns:a="http://schemas.openxmlformats.org/drawingml/2006/main">
            <a:off x="666750" y="43338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好みによって編集対象が違う</a:t>
            </a:r>
          </a:p>
        </p:txBody>
      </p:sp>
      <p:sp>
        <p:nvSpPr>
          <p:cNvPr id="11" name="ex2">
            <a:extLst xmlns:a="http://schemas.openxmlformats.org/drawingml/2006/main">
              <a:ext uri="{FF2B5EF4-FFF2-40B4-BE49-F238E27FC236}">
                <a16:creationId xmlns:a16="http://schemas.microsoft.com/office/drawing/2014/main" id="{52F00C5C-09F2-44C4-8D61-683DB29BF91E}"/>
              </a:ext>
            </a:extLst>
          </p:cNvPr>
          <p:cNvSpPr>
            <a:spLocks xmlns:a="http://schemas.openxmlformats.org/drawingml/2006/main" noGrp="1"/>
          </p:cNvSpPr>
          <p:nvPr/>
        </p:nvSpPr>
        <p:spPr>
          <a:xfrm xmlns:a="http://schemas.openxmlformats.org/drawingml/2006/main">
            <a:off x="666750" y="4905375"/>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定義重視 22.9%　／　具体例重視 12.6%　／　結論先行 4.7%　／　簡潔さ重視 25.5%</a:t>
            </a:r>
          </a:p>
        </p:txBody>
      </p:sp>
      <p:sp>
        <p:nvSpPr>
          <p:cNvPr id="12" name="ex-foot">
            <a:extLst xmlns:a="http://schemas.openxmlformats.org/drawingml/2006/main">
              <a:ext uri="{FF2B5EF4-FFF2-40B4-BE49-F238E27FC236}">
                <a16:creationId xmlns:a16="http://schemas.microsoft.com/office/drawing/2014/main" id="{093623AB-68CE-4DD9-85B3-CC97C9C42FCA}"/>
              </a:ext>
            </a:extLst>
          </p:cNvPr>
          <p:cNvSpPr>
            <a:spLocks xmlns:a="http://schemas.openxmlformats.org/drawingml/2006/main" noGrp="1"/>
          </p:cNvSpPr>
          <p:nvPr/>
        </p:nvSpPr>
        <p:spPr>
          <a:xfrm xmlns:a="http://schemas.openxmlformats.org/drawingml/2006/main">
            <a:off x="1428750" y="57626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61666E"/>
                </a:solidFill>
                <a:latin typeface="Helvetica Neue"/>
                <a:ea typeface="Helvetica Neue"/>
                <a:cs typeface="Helvetica Neue"/>
              </a:defRPr>
            </a:pPr>
            <a:r>
              <a:rPr sz="1575" b="0">
                <a:solidFill>
                  <a:srgbClr val="61666E"/>
                </a:solidFill>
                <a:latin typeface="Helvetica Neue"/>
                <a:ea typeface="Helvetica Neue"/>
                <a:cs typeface="Helvetica Neue"/>
              </a:rPr>
              <a:t>固定件数の編集ではないため、台本がすでに好みに合えば0文になる</a:t>
            </a:r>
          </a:p>
        </p:txBody>
      </p:sp>
    </p:spTree>
    <p:extLst>
      <p:ext uri="{BB962C8B-B14F-4D97-AF65-F5344CB8AC3E}">
        <p14:creationId xmlns:p14="http://schemas.microsoft.com/office/powerpoint/2010/main" val="5928124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5">
            <a:extLst xmlns:a="http://schemas.openxmlformats.org/drawingml/2006/main">
              <a:ext uri="{FF2B5EF4-FFF2-40B4-BE49-F238E27FC236}">
                <a16:creationId xmlns:a16="http://schemas.microsoft.com/office/drawing/2014/main" id="{6E8A184F-11BE-4AD1-9E2F-CDA820FF3209}"/>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主指標は「修正が必要だった文の割合」</a:t>
            </a:r>
          </a:p>
        </p:txBody>
      </p:sp>
      <p:sp>
        <p:nvSpPr>
          <p:cNvPr id="2" name="page-5">
            <a:extLst xmlns:a="http://schemas.openxmlformats.org/drawingml/2006/main">
              <a:ext uri="{FF2B5EF4-FFF2-40B4-BE49-F238E27FC236}">
                <a16:creationId xmlns:a16="http://schemas.microsoft.com/office/drawing/2014/main" id="{54C621DB-1257-408B-84E2-6D1A94E24559}"/>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5</a:t>
            </a:r>
          </a:p>
        </p:txBody>
      </p:sp>
      <p:sp>
        <p:nvSpPr>
          <p:cNvPr id="3" name="plain-definition">
            <a:extLst xmlns:a="http://schemas.openxmlformats.org/drawingml/2006/main">
              <a:ext uri="{FF2B5EF4-FFF2-40B4-BE49-F238E27FC236}">
                <a16:creationId xmlns:a16="http://schemas.microsoft.com/office/drawing/2014/main" id="{4D538B7F-B907-4478-BC05-416F98C1E765}"/>
              </a:ext>
            </a:extLst>
          </p:cNvPr>
          <p:cNvSpPr>
            <a:spLocks xmlns:a="http://schemas.openxmlformats.org/drawingml/2006/main" noGrp="1"/>
          </p:cNvSpPr>
          <p:nvPr/>
        </p:nvSpPr>
        <p:spPr>
          <a:xfrm xmlns:a="http://schemas.openxmlformats.org/drawingml/2006/main">
            <a:off x="1571625" y="1143000"/>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75" b="1">
                <a:solidFill>
                  <a:srgbClr val="111111"/>
                </a:solidFill>
                <a:latin typeface="Helvetica Neue"/>
                <a:ea typeface="Helvetica Neue"/>
                <a:cs typeface="Helvetica Neue"/>
              </a:defRPr>
            </a:pPr>
            <a:r>
              <a:rPr sz="2175" b="1">
                <a:solidFill>
                  <a:srgbClr val="111111"/>
                </a:solidFill>
                <a:latin typeface="Helvetica Neue"/>
                <a:ea typeface="Helvetica Neue"/>
                <a:cs typeface="Helvetica Neue"/>
              </a:rPr>
              <a:t>要修正文率 ＝ 修正した文数 ÷ 生成台本の全文数</a:t>
            </a:r>
          </a:p>
        </p:txBody>
      </p:sp>
      <p:sp>
        <p:nvSpPr>
          <p:cNvPr id="4" name="metric-arrow-1">
            <a:extLst xmlns:a="http://schemas.openxmlformats.org/drawingml/2006/main">
              <a:ext uri="{FF2B5EF4-FFF2-40B4-BE49-F238E27FC236}">
                <a16:creationId xmlns:a16="http://schemas.microsoft.com/office/drawing/2014/main" id="{9CB7A8F0-D4D0-4F4B-B729-622535177FD5}"/>
              </a:ext>
            </a:extLst>
          </p:cNvPr>
          <p:cNvSpPr>
            <a:spLocks xmlns:a="http://schemas.openxmlformats.org/drawingml/2006/main" noGrp="1"/>
          </p:cNvSpPr>
          <p:nvPr/>
        </p:nvSpPr>
        <p:spPr>
          <a:xfrm xmlns:a="http://schemas.openxmlformats.org/drawingml/2006/main">
            <a:off x="5429250" y="3190875"/>
            <a:ext cx="10477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example-h">
            <a:extLst xmlns:a="http://schemas.openxmlformats.org/drawingml/2006/main">
              <a:ext uri="{FF2B5EF4-FFF2-40B4-BE49-F238E27FC236}">
                <a16:creationId xmlns:a16="http://schemas.microsoft.com/office/drawing/2014/main" id="{8FE1A578-AE29-4EF9-ACCB-6FCCEDD644BA}"/>
              </a:ext>
            </a:extLst>
          </p:cNvPr>
          <p:cNvSpPr>
            <a:spLocks xmlns:a="http://schemas.openxmlformats.org/drawingml/2006/main" noGrp="1"/>
          </p:cNvSpPr>
          <p:nvPr/>
        </p:nvSpPr>
        <p:spPr>
          <a:xfrm xmlns:a="http://schemas.openxmlformats.org/drawingml/2006/main">
            <a:off x="666750" y="1952625"/>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実測例：結論先行・2回目</a:t>
            </a:r>
          </a:p>
        </p:txBody>
      </p:sp>
      <p:sp>
        <p:nvSpPr>
          <p:cNvPr id="6" name="control-example">
            <a:extLst xmlns:a="http://schemas.openxmlformats.org/drawingml/2006/main">
              <a:ext uri="{FF2B5EF4-FFF2-40B4-BE49-F238E27FC236}">
                <a16:creationId xmlns:a16="http://schemas.microsoft.com/office/drawing/2014/main" id="{BD8E6A8B-CE14-4420-A990-8990AEE01B45}"/>
              </a:ext>
            </a:extLst>
          </p:cNvPr>
          <p:cNvSpPr>
            <a:spLocks xmlns:a="http://schemas.openxmlformats.org/drawingml/2006/main" noGrp="1"/>
          </p:cNvSpPr>
          <p:nvPr/>
        </p:nvSpPr>
        <p:spPr>
          <a:xfrm xmlns:a="http://schemas.openxmlformats.org/drawingml/2006/main">
            <a:off x="666750" y="2571750"/>
            <a:ext cx="4762500" cy="1619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control-example-t">
            <a:extLst xmlns:a="http://schemas.openxmlformats.org/drawingml/2006/main">
              <a:ext uri="{FF2B5EF4-FFF2-40B4-BE49-F238E27FC236}">
                <a16:creationId xmlns:a16="http://schemas.microsoft.com/office/drawing/2014/main" id="{6D86DE86-B1D0-424A-816C-6C6928D74554}"/>
              </a:ext>
            </a:extLst>
          </p:cNvPr>
          <p:cNvSpPr>
            <a:spLocks xmlns:a="http://schemas.openxmlformats.org/drawingml/2006/main" noGrp="1"/>
          </p:cNvSpPr>
          <p:nvPr/>
        </p:nvSpPr>
        <p:spPr>
          <a:xfrm xmlns:a="http://schemas.openxmlformats.org/drawingml/2006/main">
            <a:off x="1000125" y="2857500"/>
            <a:ext cx="4095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比較用：履歴なし</a:t>
            </a:r>
          </a:p>
          <a:p xmlns:a="http://schemas.openxmlformats.org/drawingml/2006/main">
            <a:r>
              <a:t/>
            </a:r>
          </a:p>
          <a:p xmlns:a="http://schemas.openxmlformats.org/drawingml/2006/main">
            <a:pPr algn="ctr">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31文中 4文を修正</a:t>
            </a:r>
          </a:p>
          <a:p xmlns:a="http://schemas.openxmlformats.org/drawingml/2006/main">
            <a:pPr algn="ctr">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4 ÷ 31 ＝ 12.9%</a:t>
            </a:r>
          </a:p>
        </p:txBody>
      </p:sp>
      <p:sp>
        <p:nvSpPr>
          <p:cNvPr id="8" name="treatment-example">
            <a:extLst xmlns:a="http://schemas.openxmlformats.org/drawingml/2006/main">
              <a:ext uri="{FF2B5EF4-FFF2-40B4-BE49-F238E27FC236}">
                <a16:creationId xmlns:a16="http://schemas.microsoft.com/office/drawing/2014/main" id="{8CF84E91-3B7D-42EA-9208-D7A9EA895923}"/>
              </a:ext>
            </a:extLst>
          </p:cNvPr>
          <p:cNvSpPr>
            <a:spLocks xmlns:a="http://schemas.openxmlformats.org/drawingml/2006/main" noGrp="1"/>
          </p:cNvSpPr>
          <p:nvPr/>
        </p:nvSpPr>
        <p:spPr>
          <a:xfrm xmlns:a="http://schemas.openxmlformats.org/drawingml/2006/main">
            <a:off x="6572250" y="2571750"/>
            <a:ext cx="4762500" cy="1619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9" name="treatment-example-t">
            <a:extLst xmlns:a="http://schemas.openxmlformats.org/drawingml/2006/main">
              <a:ext uri="{FF2B5EF4-FFF2-40B4-BE49-F238E27FC236}">
                <a16:creationId xmlns:a16="http://schemas.microsoft.com/office/drawing/2014/main" id="{AEAFCD4E-BC33-4431-8592-C02470EB0FB6}"/>
              </a:ext>
            </a:extLst>
          </p:cNvPr>
          <p:cNvSpPr>
            <a:spLocks xmlns:a="http://schemas.openxmlformats.org/drawingml/2006/main" noGrp="1"/>
          </p:cNvSpPr>
          <p:nvPr/>
        </p:nvSpPr>
        <p:spPr>
          <a:xfrm xmlns:a="http://schemas.openxmlformats.org/drawingml/2006/main">
            <a:off x="6905625" y="2857500"/>
            <a:ext cx="4095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実利用側：履歴あり</a:t>
            </a:r>
          </a:p>
          <a:p xmlns:a="http://schemas.openxmlformats.org/drawingml/2006/main">
            <a:r>
              <a:t/>
            </a:r>
          </a:p>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31文中 0文を修正</a:t>
            </a:r>
          </a:p>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 ÷ 31 ＝ 0%</a:t>
            </a:r>
          </a:p>
        </p:txBody>
      </p:sp>
      <p:sp>
        <p:nvSpPr>
          <p:cNvPr id="10" name="meaning">
            <a:extLst xmlns:a="http://schemas.openxmlformats.org/drawingml/2006/main">
              <a:ext uri="{FF2B5EF4-FFF2-40B4-BE49-F238E27FC236}">
                <a16:creationId xmlns:a16="http://schemas.microsoft.com/office/drawing/2014/main" id="{6490C0EB-E808-4482-84C9-8D3B1E1A0C45}"/>
              </a:ext>
            </a:extLst>
          </p:cNvPr>
          <p:cNvSpPr>
            <a:spLocks xmlns:a="http://schemas.openxmlformats.org/drawingml/2006/main" noGrp="1"/>
          </p:cNvSpPr>
          <p:nvPr/>
        </p:nvSpPr>
        <p:spPr>
          <a:xfrm xmlns:a="http://schemas.openxmlformats.org/drawingml/2006/main">
            <a:off x="1381125" y="4762500"/>
            <a:ext cx="942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12.9% → 0%：好みを使った台本では、修正が必要な文がなくなった</a:t>
            </a:r>
          </a:p>
        </p:txBody>
      </p:sp>
      <p:sp>
        <p:nvSpPr>
          <p:cNvPr id="11" name="rule">
            <a:extLst xmlns:a="http://schemas.openxmlformats.org/drawingml/2006/main">
              <a:ext uri="{FF2B5EF4-FFF2-40B4-BE49-F238E27FC236}">
                <a16:creationId xmlns:a16="http://schemas.microsoft.com/office/drawing/2014/main" id="{59789161-2416-43AB-98AB-BE38F5A93E73}"/>
              </a:ext>
            </a:extLst>
          </p:cNvPr>
          <p:cNvSpPr>
            <a:spLocks xmlns:a="http://schemas.openxmlformats.org/drawingml/2006/main" noGrp="1"/>
          </p:cNvSpPr>
          <p:nvPr/>
        </p:nvSpPr>
        <p:spPr>
          <a:xfrm xmlns:a="http://schemas.openxmlformats.org/drawingml/2006/main">
            <a:off x="1190625" y="5429250"/>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語句を1か所でも変更した文を「要修正」と数える。値が小さいほど、そのまま使える文が多い。</a:t>
            </a:r>
          </a:p>
        </p:txBody>
      </p:sp>
      <p:sp>
        <p:nvSpPr>
          <p:cNvPr id="12" name="limit">
            <a:extLst xmlns:a="http://schemas.openxmlformats.org/drawingml/2006/main">
              <a:ext uri="{FF2B5EF4-FFF2-40B4-BE49-F238E27FC236}">
                <a16:creationId xmlns:a16="http://schemas.microsoft.com/office/drawing/2014/main" id="{E8712B30-03FC-433E-8F6F-E43C1F334386}"/>
              </a:ext>
            </a:extLst>
          </p:cNvPr>
          <p:cNvSpPr>
            <a:spLocks xmlns:a="http://schemas.openxmlformats.org/drawingml/2006/main" noGrp="1"/>
          </p:cNvSpPr>
          <p:nvPr/>
        </p:nvSpPr>
        <p:spPr>
          <a:xfrm xmlns:a="http://schemas.openxmlformats.org/drawingml/2006/main">
            <a:off x="1381125" y="6048375"/>
            <a:ext cx="942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D66A5E"/>
                </a:solidFill>
                <a:latin typeface="Helvetica Neue"/>
                <a:ea typeface="Helvetica Neue"/>
                <a:cs typeface="Helvetica Neue"/>
              </a:defRPr>
            </a:pPr>
            <a:r>
              <a:rPr sz="1425" b="0">
                <a:solidFill>
                  <a:srgbClr val="D66A5E"/>
                </a:solidFill>
                <a:latin typeface="Helvetica Neue"/>
                <a:ea typeface="Helvetica Neue"/>
                <a:cs typeface="Helvetica Neue"/>
              </a:rPr>
              <a:t>修正の大きさは区別しないため、編集距離と具体的な編集例を補助的に確認する</a:t>
            </a:r>
          </a:p>
        </p:txBody>
      </p:sp>
    </p:spTree>
    <p:extLst>
      <p:ext uri="{BB962C8B-B14F-4D97-AF65-F5344CB8AC3E}">
        <p14:creationId xmlns:p14="http://schemas.microsoft.com/office/powerpoint/2010/main" val="12202952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6">
            <a:extLst xmlns:a="http://schemas.openxmlformats.org/drawingml/2006/main">
              <a:ext uri="{FF2B5EF4-FFF2-40B4-BE49-F238E27FC236}">
                <a16:creationId xmlns:a16="http://schemas.microsoft.com/office/drawing/2014/main" id="{388CCE9C-4EC4-4EA4-AAB5-D501C9FEBDCF}"/>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2回目：3種類で要修正文率が低下、簡潔さでは上昇</a:t>
            </a:r>
          </a:p>
        </p:txBody>
      </p:sp>
      <p:sp>
        <p:nvSpPr>
          <p:cNvPr id="2" name="page-6">
            <a:extLst xmlns:a="http://schemas.openxmlformats.org/drawingml/2006/main">
              <a:ext uri="{FF2B5EF4-FFF2-40B4-BE49-F238E27FC236}">
                <a16:creationId xmlns:a16="http://schemas.microsoft.com/office/drawing/2014/main" id="{E8D8DD6E-095F-4562-975A-E4BA5A67E155}"/>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6</a:t>
            </a:r>
          </a:p>
        </p:txBody>
      </p:sp>
      <p:graphicFrame>
        <p:nvGraphicFramePr>
          <p:cNvPr id="14" name="Chart"/>
          <p:cNvGraphicFramePr/>
          <p:nvPr/>
        </p:nvGraphicFramePr>
        <p:xfrm>
          <a:off xmlns:a="http://schemas.openxmlformats.org/drawingml/2006/main" x="571500" y="1381125"/>
          <a:ext xmlns:a="http://schemas.openxmlformats.org/drawingml/2006/main" cx="8096250" cy="4333875"/>
        </p:xfrm>
        <a:graphic xmlns:a="http://schemas.openxmlformats.org/drawingml/2006/main">
          <a:graphicData uri="http://schemas.openxmlformats.org/drawingml/2006/chart">
            <c:chart xmlns:r="http://schemas.openxmlformats.org/officeDocument/2006/relationships" xmlns:c="http://schemas.openxmlformats.org/drawingml/2006/chart" r:id="Raec146d60ed24567"/>
          </a:graphicData>
        </a:graphic>
      </p:graphicFrame>
      <p:sp>
        <p:nvSpPr>
          <p:cNvPr id="4" name="r2-leg-c">
            <a:extLst xmlns:a="http://schemas.openxmlformats.org/drawingml/2006/main">
              <a:ext uri="{FF2B5EF4-FFF2-40B4-BE49-F238E27FC236}">
                <a16:creationId xmlns:a16="http://schemas.microsoft.com/office/drawing/2014/main" id="{37EE6DAA-A7FE-484C-84E2-70F515922EFF}"/>
              </a:ext>
            </a:extLst>
          </p:cNvPr>
          <p:cNvSpPr>
            <a:spLocks xmlns:a="http://schemas.openxmlformats.org/drawingml/2006/main" noGrp="1"/>
          </p:cNvSpPr>
          <p:nvPr/>
        </p:nvSpPr>
        <p:spPr>
          <a:xfrm xmlns:a="http://schemas.openxmlformats.org/drawingml/2006/main">
            <a:off x="2238375" y="5905500"/>
            <a:ext cx="171450" cy="1714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r2-leg-ct">
            <a:extLst xmlns:a="http://schemas.openxmlformats.org/drawingml/2006/main">
              <a:ext uri="{FF2B5EF4-FFF2-40B4-BE49-F238E27FC236}">
                <a16:creationId xmlns:a16="http://schemas.microsoft.com/office/drawing/2014/main" id="{F19B3EBC-3931-4985-B035-955450974F3D}"/>
              </a:ext>
            </a:extLst>
          </p:cNvPr>
          <p:cNvSpPr>
            <a:spLocks xmlns:a="http://schemas.openxmlformats.org/drawingml/2006/main" noGrp="1"/>
          </p:cNvSpPr>
          <p:nvPr/>
        </p:nvSpPr>
        <p:spPr>
          <a:xfrm xmlns:a="http://schemas.openxmlformats.org/drawingml/2006/main">
            <a:off x="2505075" y="58769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比較用：履歴なし</a:t>
            </a:r>
          </a:p>
        </p:txBody>
      </p:sp>
      <p:sp>
        <p:nvSpPr>
          <p:cNvPr id="6" name="r2-leg-t">
            <a:extLst xmlns:a="http://schemas.openxmlformats.org/drawingml/2006/main">
              <a:ext uri="{FF2B5EF4-FFF2-40B4-BE49-F238E27FC236}">
                <a16:creationId xmlns:a16="http://schemas.microsoft.com/office/drawing/2014/main" id="{60CDF503-E204-46BF-94DE-52B2140C071A}"/>
              </a:ext>
            </a:extLst>
          </p:cNvPr>
          <p:cNvSpPr>
            <a:spLocks xmlns:a="http://schemas.openxmlformats.org/drawingml/2006/main" noGrp="1"/>
          </p:cNvSpPr>
          <p:nvPr/>
        </p:nvSpPr>
        <p:spPr>
          <a:xfrm xmlns:a="http://schemas.openxmlformats.org/drawingml/2006/main">
            <a:off x="4476750" y="5905500"/>
            <a:ext cx="17145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r2-leg-tt">
            <a:extLst xmlns:a="http://schemas.openxmlformats.org/drawingml/2006/main">
              <a:ext uri="{FF2B5EF4-FFF2-40B4-BE49-F238E27FC236}">
                <a16:creationId xmlns:a16="http://schemas.microsoft.com/office/drawing/2014/main" id="{636B80AE-A5D1-4BE3-AF91-44A729D55E75}"/>
              </a:ext>
            </a:extLst>
          </p:cNvPr>
          <p:cNvSpPr>
            <a:spLocks xmlns:a="http://schemas.openxmlformats.org/drawingml/2006/main" noGrp="1"/>
          </p:cNvSpPr>
          <p:nvPr/>
        </p:nvSpPr>
        <p:spPr>
          <a:xfrm xmlns:a="http://schemas.openxmlformats.org/drawingml/2006/main">
            <a:off x="4743450" y="58769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実利用側：履歴1回分</a:t>
            </a:r>
          </a:p>
        </p:txBody>
      </p:sp>
      <p:sp>
        <p:nvSpPr>
          <p:cNvPr id="8" name="chart-unit">
            <a:extLst xmlns:a="http://schemas.openxmlformats.org/drawingml/2006/main">
              <a:ext uri="{FF2B5EF4-FFF2-40B4-BE49-F238E27FC236}">
                <a16:creationId xmlns:a16="http://schemas.microsoft.com/office/drawing/2014/main" id="{12B15E19-824E-4030-917C-716C02F5D264}"/>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要修正文率（%）― 小さいほど、そのまま使える文が多い</a:t>
            </a:r>
          </a:p>
        </p:txBody>
      </p:sp>
      <p:sp>
        <p:nvSpPr>
          <p:cNvPr id="9" name="r2-head">
            <a:extLst xmlns:a="http://schemas.openxmlformats.org/drawingml/2006/main">
              <a:ext uri="{FF2B5EF4-FFF2-40B4-BE49-F238E27FC236}">
                <a16:creationId xmlns:a16="http://schemas.microsoft.com/office/drawing/2014/main" id="{A46EF908-0EA9-453B-9DB9-D3EAE5E8B3B0}"/>
              </a:ext>
            </a:extLst>
          </p:cNvPr>
          <p:cNvSpPr>
            <a:spLocks xmlns:a="http://schemas.openxmlformats.org/drawingml/2006/main" noGrp="1"/>
          </p:cNvSpPr>
          <p:nvPr/>
        </p:nvSpPr>
        <p:spPr>
          <a:xfrm xmlns:a="http://schemas.openxmlformats.org/drawingml/2006/main">
            <a:off x="9048750" y="1666875"/>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比較用 → 実利用側</a:t>
            </a:r>
          </a:p>
        </p:txBody>
      </p:sp>
      <p:sp>
        <p:nvSpPr>
          <p:cNvPr id="10" name="r2-values">
            <a:extLst xmlns:a="http://schemas.openxmlformats.org/drawingml/2006/main">
              <a:ext uri="{FF2B5EF4-FFF2-40B4-BE49-F238E27FC236}">
                <a16:creationId xmlns:a16="http://schemas.microsoft.com/office/drawing/2014/main" id="{D1425293-B6CE-47E7-816E-C127B0B7EB10}"/>
              </a:ext>
            </a:extLst>
          </p:cNvPr>
          <p:cNvSpPr>
            <a:spLocks xmlns:a="http://schemas.openxmlformats.org/drawingml/2006/main" noGrp="1"/>
          </p:cNvSpPr>
          <p:nvPr/>
        </p:nvSpPr>
        <p:spPr>
          <a:xfrm xmlns:a="http://schemas.openxmlformats.org/drawingml/2006/main">
            <a:off x="9048750" y="2286000"/>
            <a:ext cx="2619375"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　26.3 → 12.5%</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　14.3 → 12.8%</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　12.9 → 0%</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　9.4 → 12.0%</a:t>
            </a:r>
          </a:p>
        </p:txBody>
      </p:sp>
      <p:sp>
        <p:nvSpPr>
          <p:cNvPr id="11" name="r2-foot">
            <a:extLst xmlns:a="http://schemas.openxmlformats.org/drawingml/2006/main">
              <a:ext uri="{FF2B5EF4-FFF2-40B4-BE49-F238E27FC236}">
                <a16:creationId xmlns:a16="http://schemas.microsoft.com/office/drawing/2014/main" id="{3947F38F-8EE3-4D21-A12F-F0530A073EEB}"/>
              </a:ext>
            </a:extLst>
          </p:cNvPr>
          <p:cNvSpPr>
            <a:spLocks xmlns:a="http://schemas.openxmlformats.org/drawingml/2006/main" noGrp="1"/>
          </p:cNvSpPr>
          <p:nvPr/>
        </p:nvSpPr>
        <p:spPr>
          <a:xfrm xmlns:a="http://schemas.openxmlformats.org/drawingml/2006/main">
            <a:off x="8905875" y="5095875"/>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簡潔さでは、修正文数は3文のまま分母が変化</a:t>
            </a:r>
          </a:p>
        </p:txBody>
      </p:sp>
    </p:spTree>
    <p:extLst>
      <p:ext uri="{BB962C8B-B14F-4D97-AF65-F5344CB8AC3E}">
        <p14:creationId xmlns:p14="http://schemas.microsoft.com/office/powerpoint/2010/main" val="1486038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7">
            <a:extLst xmlns:a="http://schemas.openxmlformats.org/drawingml/2006/main">
              <a:ext uri="{FF2B5EF4-FFF2-40B4-BE49-F238E27FC236}">
                <a16:creationId xmlns:a16="http://schemas.microsoft.com/office/drawing/2014/main" id="{A2695E17-5488-4E49-8A25-91F3DA80D08A}"/>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3回目：定義・簡潔は改善、具体例・結論は悪化</a:t>
            </a:r>
          </a:p>
        </p:txBody>
      </p:sp>
      <p:sp>
        <p:nvSpPr>
          <p:cNvPr id="2" name="page-7">
            <a:extLst xmlns:a="http://schemas.openxmlformats.org/drawingml/2006/main">
              <a:ext uri="{FF2B5EF4-FFF2-40B4-BE49-F238E27FC236}">
                <a16:creationId xmlns:a16="http://schemas.microsoft.com/office/drawing/2014/main" id="{34C5E7D7-CF44-433C-AFBC-D902CE651596}"/>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7</a:t>
            </a:r>
          </a:p>
        </p:txBody>
      </p:sp>
      <p:graphicFrame>
        <p:nvGraphicFramePr>
          <p:cNvPr id="16" name="Chart"/>
          <p:cNvGraphicFramePr/>
          <p:nvPr/>
        </p:nvGraphicFramePr>
        <p:xfrm>
          <a:off xmlns:a="http://schemas.openxmlformats.org/drawingml/2006/main" x="571500" y="1381125"/>
          <a:ext xmlns:a="http://schemas.openxmlformats.org/drawingml/2006/main" cx="8096250" cy="4333875"/>
        </p:xfrm>
        <a:graphic xmlns:a="http://schemas.openxmlformats.org/drawingml/2006/main">
          <a:graphicData uri="http://schemas.openxmlformats.org/drawingml/2006/chart">
            <c:chart xmlns:r="http://schemas.openxmlformats.org/officeDocument/2006/relationships" xmlns:c="http://schemas.openxmlformats.org/drawingml/2006/chart" r:id="R696e56da214c4038"/>
          </a:graphicData>
        </a:graphic>
      </p:graphicFrame>
      <p:sp>
        <p:nvSpPr>
          <p:cNvPr id="4" name="r3-leg-c">
            <a:extLst xmlns:a="http://schemas.openxmlformats.org/drawingml/2006/main">
              <a:ext uri="{FF2B5EF4-FFF2-40B4-BE49-F238E27FC236}">
                <a16:creationId xmlns:a16="http://schemas.microsoft.com/office/drawing/2014/main" id="{283C4D33-3AD1-4E8D-A2A4-72C2C6F227AA}"/>
              </a:ext>
            </a:extLst>
          </p:cNvPr>
          <p:cNvSpPr>
            <a:spLocks xmlns:a="http://schemas.openxmlformats.org/drawingml/2006/main" noGrp="1"/>
          </p:cNvSpPr>
          <p:nvPr/>
        </p:nvSpPr>
        <p:spPr>
          <a:xfrm xmlns:a="http://schemas.openxmlformats.org/drawingml/2006/main">
            <a:off x="2238375" y="5905500"/>
            <a:ext cx="171450" cy="1714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r3-leg-ct">
            <a:extLst xmlns:a="http://schemas.openxmlformats.org/drawingml/2006/main">
              <a:ext uri="{FF2B5EF4-FFF2-40B4-BE49-F238E27FC236}">
                <a16:creationId xmlns:a16="http://schemas.microsoft.com/office/drawing/2014/main" id="{1F35AF98-9E55-425D-9FBE-EB10A167DA3B}"/>
              </a:ext>
            </a:extLst>
          </p:cNvPr>
          <p:cNvSpPr>
            <a:spLocks xmlns:a="http://schemas.openxmlformats.org/drawingml/2006/main" noGrp="1"/>
          </p:cNvSpPr>
          <p:nvPr/>
        </p:nvSpPr>
        <p:spPr>
          <a:xfrm xmlns:a="http://schemas.openxmlformats.org/drawingml/2006/main">
            <a:off x="2505075" y="58769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比較用：履歴なし</a:t>
            </a:r>
          </a:p>
        </p:txBody>
      </p:sp>
      <p:sp>
        <p:nvSpPr>
          <p:cNvPr id="6" name="r3-leg-t">
            <a:extLst xmlns:a="http://schemas.openxmlformats.org/drawingml/2006/main">
              <a:ext uri="{FF2B5EF4-FFF2-40B4-BE49-F238E27FC236}">
                <a16:creationId xmlns:a16="http://schemas.microsoft.com/office/drawing/2014/main" id="{E502BC9D-44B4-44B6-9351-4E09D4A6DBFB}"/>
              </a:ext>
            </a:extLst>
          </p:cNvPr>
          <p:cNvSpPr>
            <a:spLocks xmlns:a="http://schemas.openxmlformats.org/drawingml/2006/main" noGrp="1"/>
          </p:cNvSpPr>
          <p:nvPr/>
        </p:nvSpPr>
        <p:spPr>
          <a:xfrm xmlns:a="http://schemas.openxmlformats.org/drawingml/2006/main">
            <a:off x="4476750" y="5905500"/>
            <a:ext cx="17145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r3-leg-tt">
            <a:extLst xmlns:a="http://schemas.openxmlformats.org/drawingml/2006/main">
              <a:ext uri="{FF2B5EF4-FFF2-40B4-BE49-F238E27FC236}">
                <a16:creationId xmlns:a16="http://schemas.microsoft.com/office/drawing/2014/main" id="{42C8370A-EDF1-4902-BBB8-1F8BBCBBDCE8}"/>
              </a:ext>
            </a:extLst>
          </p:cNvPr>
          <p:cNvSpPr>
            <a:spLocks xmlns:a="http://schemas.openxmlformats.org/drawingml/2006/main" noGrp="1"/>
          </p:cNvSpPr>
          <p:nvPr/>
        </p:nvSpPr>
        <p:spPr>
          <a:xfrm xmlns:a="http://schemas.openxmlformats.org/drawingml/2006/main">
            <a:off x="4743450" y="58769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実利用側：履歴2回分</a:t>
            </a:r>
          </a:p>
        </p:txBody>
      </p:sp>
      <p:sp>
        <p:nvSpPr>
          <p:cNvPr id="8" name="chart-unit-3">
            <a:extLst xmlns:a="http://schemas.openxmlformats.org/drawingml/2006/main">
              <a:ext uri="{FF2B5EF4-FFF2-40B4-BE49-F238E27FC236}">
                <a16:creationId xmlns:a16="http://schemas.microsoft.com/office/drawing/2014/main" id="{7A7BB029-F607-4D91-907D-B4B42BEE9CB5}"/>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要修正文率（%）― 小さいほど、そのまま使える文が多い</a:t>
            </a:r>
          </a:p>
        </p:txBody>
      </p:sp>
      <p:sp>
        <p:nvSpPr>
          <p:cNvPr id="9" name="r3-good">
            <a:extLst xmlns:a="http://schemas.openxmlformats.org/drawingml/2006/main">
              <a:ext uri="{FF2B5EF4-FFF2-40B4-BE49-F238E27FC236}">
                <a16:creationId xmlns:a16="http://schemas.microsoft.com/office/drawing/2014/main" id="{B6788E52-3758-43DD-8D58-EDC5A2C9876F}"/>
              </a:ext>
            </a:extLst>
          </p:cNvPr>
          <p:cNvSpPr>
            <a:spLocks xmlns:a="http://schemas.openxmlformats.org/drawingml/2006/main" noGrp="1"/>
          </p:cNvSpPr>
          <p:nvPr/>
        </p:nvSpPr>
        <p:spPr>
          <a:xfrm xmlns:a="http://schemas.openxmlformats.org/drawingml/2006/main">
            <a:off x="9096375" y="166687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低下</a:t>
            </a:r>
          </a:p>
        </p:txBody>
      </p:sp>
      <p:sp>
        <p:nvSpPr>
          <p:cNvPr id="10" name="r3-good-v">
            <a:extLst xmlns:a="http://schemas.openxmlformats.org/drawingml/2006/main">
              <a:ext uri="{FF2B5EF4-FFF2-40B4-BE49-F238E27FC236}">
                <a16:creationId xmlns:a16="http://schemas.microsoft.com/office/drawing/2014/main" id="{BA95726B-71B2-437D-A0A7-F06905D5E36C}"/>
              </a:ext>
            </a:extLst>
          </p:cNvPr>
          <p:cNvSpPr>
            <a:spLocks xmlns:a="http://schemas.openxmlformats.org/drawingml/2006/main" noGrp="1"/>
          </p:cNvSpPr>
          <p:nvPr/>
        </p:nvSpPr>
        <p:spPr>
          <a:xfrm xmlns:a="http://schemas.openxmlformats.org/drawingml/2006/main">
            <a:off x="9096375" y="2190750"/>
            <a:ext cx="2476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　40.0 → 29.0%</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　40.7 → 31.8%</a:t>
            </a:r>
          </a:p>
        </p:txBody>
      </p:sp>
      <p:sp>
        <p:nvSpPr>
          <p:cNvPr id="11" name="r3-bad">
            <a:extLst xmlns:a="http://schemas.openxmlformats.org/drawingml/2006/main">
              <a:ext uri="{FF2B5EF4-FFF2-40B4-BE49-F238E27FC236}">
                <a16:creationId xmlns:a16="http://schemas.microsoft.com/office/drawing/2014/main" id="{D1B7C520-D593-45BA-917F-3E08418BBFDD}"/>
              </a:ext>
            </a:extLst>
          </p:cNvPr>
          <p:cNvSpPr>
            <a:spLocks xmlns:a="http://schemas.openxmlformats.org/drawingml/2006/main" noGrp="1"/>
          </p:cNvSpPr>
          <p:nvPr/>
        </p:nvSpPr>
        <p:spPr>
          <a:xfrm xmlns:a="http://schemas.openxmlformats.org/drawingml/2006/main">
            <a:off x="9096375" y="347662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D66A5E"/>
                </a:solidFill>
                <a:latin typeface="Helvetica Neue"/>
                <a:ea typeface="Helvetica Neue"/>
                <a:cs typeface="Helvetica Neue"/>
              </a:defRPr>
            </a:pPr>
            <a:r>
              <a:rPr sz="1875" b="1">
                <a:solidFill>
                  <a:srgbClr val="D66A5E"/>
                </a:solidFill>
                <a:latin typeface="Helvetica Neue"/>
                <a:ea typeface="Helvetica Neue"/>
                <a:cs typeface="Helvetica Neue"/>
              </a:rPr>
              <a:t>上昇</a:t>
            </a:r>
          </a:p>
        </p:txBody>
      </p:sp>
      <p:sp>
        <p:nvSpPr>
          <p:cNvPr id="12" name="r3-bad-v">
            <a:extLst xmlns:a="http://schemas.openxmlformats.org/drawingml/2006/main">
              <a:ext uri="{FF2B5EF4-FFF2-40B4-BE49-F238E27FC236}">
                <a16:creationId xmlns:a16="http://schemas.microsoft.com/office/drawing/2014/main" id="{C9503D80-38E3-4531-A018-F065F16EBA52}"/>
              </a:ext>
            </a:extLst>
          </p:cNvPr>
          <p:cNvSpPr>
            <a:spLocks xmlns:a="http://schemas.openxmlformats.org/drawingml/2006/main" noGrp="1"/>
          </p:cNvSpPr>
          <p:nvPr/>
        </p:nvSpPr>
        <p:spPr>
          <a:xfrm xmlns:a="http://schemas.openxmlformats.org/drawingml/2006/main">
            <a:off x="9096375" y="400050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　12.9 → 16.7%</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　0 → 3.5%</a:t>
            </a:r>
          </a:p>
        </p:txBody>
      </p:sp>
      <p:sp>
        <p:nvSpPr>
          <p:cNvPr id="13" name="r3-foot">
            <a:extLst xmlns:a="http://schemas.openxmlformats.org/drawingml/2006/main">
              <a:ext uri="{FF2B5EF4-FFF2-40B4-BE49-F238E27FC236}">
                <a16:creationId xmlns:a16="http://schemas.microsoft.com/office/drawing/2014/main" id="{DB6B1251-D094-4417-893E-DAF0D655684B}"/>
              </a:ext>
            </a:extLst>
          </p:cNvPr>
          <p:cNvSpPr>
            <a:spLocks xmlns:a="http://schemas.openxmlformats.org/drawingml/2006/main" noGrp="1"/>
          </p:cNvSpPr>
          <p:nvPr/>
        </p:nvSpPr>
        <p:spPr>
          <a:xfrm xmlns:a="http://schemas.openxmlformats.org/drawingml/2006/main">
            <a:off x="8858250" y="5286375"/>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履歴が増えても、常に良くなるわけではない</a:t>
            </a:r>
          </a:p>
        </p:txBody>
      </p:sp>
    </p:spTree>
    <p:extLst>
      <p:ext uri="{BB962C8B-B14F-4D97-AF65-F5344CB8AC3E}">
        <p14:creationId xmlns:p14="http://schemas.microsoft.com/office/powerpoint/2010/main" val="12423946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8">
            <a:extLst xmlns:a="http://schemas.openxmlformats.org/drawingml/2006/main">
              <a:ext uri="{FF2B5EF4-FFF2-40B4-BE49-F238E27FC236}">
                <a16:creationId xmlns:a16="http://schemas.microsoft.com/office/drawing/2014/main" id="{2497B2E8-D2A4-4ACA-92A2-7BCF150F21A0}"/>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成功例：結論先行では、2回目の編集が0文になった</a:t>
            </a:r>
          </a:p>
        </p:txBody>
      </p:sp>
      <p:sp>
        <p:nvSpPr>
          <p:cNvPr id="2" name="page-8">
            <a:extLst xmlns:a="http://schemas.openxmlformats.org/drawingml/2006/main">
              <a:ext uri="{FF2B5EF4-FFF2-40B4-BE49-F238E27FC236}">
                <a16:creationId xmlns:a16="http://schemas.microsoft.com/office/drawing/2014/main" id="{AA7AD271-A4EB-4F79-B853-A5EA4E72D88A}"/>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8</a:t>
            </a:r>
          </a:p>
        </p:txBody>
      </p:sp>
      <p:sp>
        <p:nvSpPr>
          <p:cNvPr id="3" name="learn-h">
            <a:extLst xmlns:a="http://schemas.openxmlformats.org/drawingml/2006/main">
              <a:ext uri="{FF2B5EF4-FFF2-40B4-BE49-F238E27FC236}">
                <a16:creationId xmlns:a16="http://schemas.microsoft.com/office/drawing/2014/main" id="{0C01D82E-A46E-4229-AE03-8B81FDEFFCCF}"/>
              </a:ext>
            </a:extLst>
          </p:cNvPr>
          <p:cNvSpPr>
            <a:spLocks xmlns:a="http://schemas.openxmlformats.org/drawingml/2006/main" noGrp="1"/>
          </p:cNvSpPr>
          <p:nvPr/>
        </p:nvSpPr>
        <p:spPr>
          <a:xfrm xmlns:a="http://schemas.openxmlformats.org/drawingml/2006/main">
            <a:off x="666750" y="12382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1回目の編集</a:t>
            </a:r>
          </a:p>
        </p:txBody>
      </p:sp>
      <p:sp>
        <p:nvSpPr>
          <p:cNvPr id="4" name="learn-before">
            <a:extLst xmlns:a="http://schemas.openxmlformats.org/drawingml/2006/main">
              <a:ext uri="{FF2B5EF4-FFF2-40B4-BE49-F238E27FC236}">
                <a16:creationId xmlns:a16="http://schemas.microsoft.com/office/drawing/2014/main" id="{CE84B58C-97AF-49BD-AF2C-28EDE98CBC08}"/>
              </a:ext>
            </a:extLst>
          </p:cNvPr>
          <p:cNvSpPr>
            <a:spLocks xmlns:a="http://schemas.openxmlformats.org/drawingml/2006/main" noGrp="1"/>
          </p:cNvSpPr>
          <p:nvPr/>
        </p:nvSpPr>
        <p:spPr>
          <a:xfrm xmlns:a="http://schemas.openxmlformats.org/drawingml/2006/main">
            <a:off x="666750" y="1762125"/>
            <a:ext cx="4762500" cy="857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learn-before-t">
            <a:extLst xmlns:a="http://schemas.openxmlformats.org/drawingml/2006/main">
              <a:ext uri="{FF2B5EF4-FFF2-40B4-BE49-F238E27FC236}">
                <a16:creationId xmlns:a16="http://schemas.microsoft.com/office/drawing/2014/main" id="{77AB2C9E-7B18-4BCD-B781-61D180CBF7A8}"/>
              </a:ext>
            </a:extLst>
          </p:cNvPr>
          <p:cNvSpPr>
            <a:spLocks xmlns:a="http://schemas.openxmlformats.org/drawingml/2006/main" noGrp="1"/>
          </p:cNvSpPr>
          <p:nvPr/>
        </p:nvSpPr>
        <p:spPr>
          <a:xfrm xmlns:a="http://schemas.openxmlformats.org/drawingml/2006/main">
            <a:off x="904875" y="2047875"/>
            <a:ext cx="428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編集前：「キーの役割を具体化します」</a:t>
            </a:r>
          </a:p>
        </p:txBody>
      </p:sp>
      <p:sp>
        <p:nvSpPr>
          <p:cNvPr id="6" name="learn-after">
            <a:extLst xmlns:a="http://schemas.openxmlformats.org/drawingml/2006/main">
              <a:ext uri="{FF2B5EF4-FFF2-40B4-BE49-F238E27FC236}">
                <a16:creationId xmlns:a16="http://schemas.microsoft.com/office/drawing/2014/main" id="{EA7798C0-62F1-4905-9ECA-AE7EC3A1EBDF}"/>
              </a:ext>
            </a:extLst>
          </p:cNvPr>
          <p:cNvSpPr>
            <a:spLocks xmlns:a="http://schemas.openxmlformats.org/drawingml/2006/main" noGrp="1"/>
          </p:cNvSpPr>
          <p:nvPr/>
        </p:nvSpPr>
        <p:spPr>
          <a:xfrm xmlns:a="http://schemas.openxmlformats.org/drawingml/2006/main">
            <a:off x="666750" y="2857500"/>
            <a:ext cx="476250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learn-after-t">
            <a:extLst xmlns:a="http://schemas.openxmlformats.org/drawingml/2006/main">
              <a:ext uri="{FF2B5EF4-FFF2-40B4-BE49-F238E27FC236}">
                <a16:creationId xmlns:a16="http://schemas.microsoft.com/office/drawing/2014/main" id="{0A4D9665-A72E-4B71-A0E5-A11A5897003B}"/>
              </a:ext>
            </a:extLst>
          </p:cNvPr>
          <p:cNvSpPr>
            <a:spLocks xmlns:a="http://schemas.openxmlformats.org/drawingml/2006/main" noGrp="1"/>
          </p:cNvSpPr>
          <p:nvPr/>
        </p:nvSpPr>
        <p:spPr>
          <a:xfrm xmlns:a="http://schemas.openxmlformats.org/drawingml/2006/main">
            <a:off x="904875" y="312420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編集後：「主キーは行を一意に識別し、</a:t>
            </a:r>
          </a:p>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外部キーは表同士を結び付けます」</a:t>
            </a:r>
          </a:p>
        </p:txBody>
      </p:sp>
      <p:sp>
        <p:nvSpPr>
          <p:cNvPr id="8" name="memory">
            <a:extLst xmlns:a="http://schemas.openxmlformats.org/drawingml/2006/main">
              <a:ext uri="{FF2B5EF4-FFF2-40B4-BE49-F238E27FC236}">
                <a16:creationId xmlns:a16="http://schemas.microsoft.com/office/drawing/2014/main" id="{1701CD17-A2F2-4889-A818-DAFD6762D725}"/>
              </a:ext>
            </a:extLst>
          </p:cNvPr>
          <p:cNvSpPr>
            <a:spLocks xmlns:a="http://schemas.openxmlformats.org/drawingml/2006/main" noGrp="1"/>
          </p:cNvSpPr>
          <p:nvPr/>
        </p:nvSpPr>
        <p:spPr>
          <a:xfrm xmlns:a="http://schemas.openxmlformats.org/drawingml/2006/main">
            <a:off x="6286500" y="1857375"/>
            <a:ext cx="5238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抽出した好み</a:t>
            </a:r>
          </a:p>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「予告だけで終わらず、主要内容を先に示す」</a:t>
            </a:r>
          </a:p>
        </p:txBody>
      </p:sp>
      <p:sp>
        <p:nvSpPr>
          <p:cNvPr id="9" name="success-arrow">
            <a:extLst xmlns:a="http://schemas.openxmlformats.org/drawingml/2006/main">
              <a:ext uri="{FF2B5EF4-FFF2-40B4-BE49-F238E27FC236}">
                <a16:creationId xmlns:a16="http://schemas.microsoft.com/office/drawing/2014/main" id="{F2CAAC38-6F22-49D0-B928-145D2FC8190C}"/>
              </a:ext>
            </a:extLst>
          </p:cNvPr>
          <p:cNvSpPr>
            <a:spLocks xmlns:a="http://schemas.openxmlformats.org/drawingml/2006/main" noGrp="1"/>
          </p:cNvSpPr>
          <p:nvPr/>
        </p:nvSpPr>
        <p:spPr>
          <a:xfrm xmlns:a="http://schemas.openxmlformats.org/drawingml/2006/main">
            <a:off x="5572125" y="3238500"/>
            <a:ext cx="809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compare-h">
            <a:extLst xmlns:a="http://schemas.openxmlformats.org/drawingml/2006/main">
              <a:ext uri="{FF2B5EF4-FFF2-40B4-BE49-F238E27FC236}">
                <a16:creationId xmlns:a16="http://schemas.microsoft.com/office/drawing/2014/main" id="{3575E6A1-6033-4C8B-BD58-27CF9606495B}"/>
              </a:ext>
            </a:extLst>
          </p:cNvPr>
          <p:cNvSpPr>
            <a:spLocks xmlns:a="http://schemas.openxmlformats.org/drawingml/2006/main" noGrp="1"/>
          </p:cNvSpPr>
          <p:nvPr/>
        </p:nvSpPr>
        <p:spPr>
          <a:xfrm xmlns:a="http://schemas.openxmlformats.org/drawingml/2006/main">
            <a:off x="6524625" y="3143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2回目に同じ方針で確認</a:t>
            </a:r>
          </a:p>
        </p:txBody>
      </p:sp>
      <p:sp>
        <p:nvSpPr>
          <p:cNvPr id="11" name="control">
            <a:extLst xmlns:a="http://schemas.openxmlformats.org/drawingml/2006/main">
              <a:ext uri="{FF2B5EF4-FFF2-40B4-BE49-F238E27FC236}">
                <a16:creationId xmlns:a16="http://schemas.microsoft.com/office/drawing/2014/main" id="{2C307137-DC21-48BE-B007-F064865AE37F}"/>
              </a:ext>
            </a:extLst>
          </p:cNvPr>
          <p:cNvSpPr>
            <a:spLocks xmlns:a="http://schemas.openxmlformats.org/drawingml/2006/main" noGrp="1"/>
          </p:cNvSpPr>
          <p:nvPr/>
        </p:nvSpPr>
        <p:spPr>
          <a:xfrm xmlns:a="http://schemas.openxmlformats.org/drawingml/2006/main">
            <a:off x="6524625" y="3762375"/>
            <a:ext cx="2190750" cy="1143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2" name="control-t">
            <a:extLst xmlns:a="http://schemas.openxmlformats.org/drawingml/2006/main">
              <a:ext uri="{FF2B5EF4-FFF2-40B4-BE49-F238E27FC236}">
                <a16:creationId xmlns:a16="http://schemas.microsoft.com/office/drawing/2014/main" id="{310616AF-3258-4370-B0AC-06045A968919}"/>
              </a:ext>
            </a:extLst>
          </p:cNvPr>
          <p:cNvSpPr>
            <a:spLocks xmlns:a="http://schemas.openxmlformats.org/drawingml/2006/main" noGrp="1"/>
          </p:cNvSpPr>
          <p:nvPr/>
        </p:nvSpPr>
        <p:spPr>
          <a:xfrm xmlns:a="http://schemas.openxmlformats.org/drawingml/2006/main">
            <a:off x="6667500" y="40481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比較用：履歴なし</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31文中4文を編集</a:t>
            </a:r>
          </a:p>
        </p:txBody>
      </p:sp>
      <p:sp>
        <p:nvSpPr>
          <p:cNvPr id="13" name="treat">
            <a:extLst xmlns:a="http://schemas.openxmlformats.org/drawingml/2006/main">
              <a:ext uri="{FF2B5EF4-FFF2-40B4-BE49-F238E27FC236}">
                <a16:creationId xmlns:a16="http://schemas.microsoft.com/office/drawing/2014/main" id="{7DFD8EBF-6541-4344-9B3B-C8BFCFCA6C18}"/>
              </a:ext>
            </a:extLst>
          </p:cNvPr>
          <p:cNvSpPr>
            <a:spLocks xmlns:a="http://schemas.openxmlformats.org/drawingml/2006/main" noGrp="1"/>
          </p:cNvSpPr>
          <p:nvPr/>
        </p:nvSpPr>
        <p:spPr>
          <a:xfrm xmlns:a="http://schemas.openxmlformats.org/drawingml/2006/main">
            <a:off x="9096375" y="3762375"/>
            <a:ext cx="219075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treat-t">
            <a:extLst xmlns:a="http://schemas.openxmlformats.org/drawingml/2006/main">
              <a:ext uri="{FF2B5EF4-FFF2-40B4-BE49-F238E27FC236}">
                <a16:creationId xmlns:a16="http://schemas.microsoft.com/office/drawing/2014/main" id="{C0F47D17-53BA-4231-ABA8-2AA30D8F6CB7}"/>
              </a:ext>
            </a:extLst>
          </p:cNvPr>
          <p:cNvSpPr>
            <a:spLocks xmlns:a="http://schemas.openxmlformats.org/drawingml/2006/main" noGrp="1"/>
          </p:cNvSpPr>
          <p:nvPr/>
        </p:nvSpPr>
        <p:spPr>
          <a:xfrm xmlns:a="http://schemas.openxmlformats.org/drawingml/2006/main">
            <a:off x="9239250" y="40481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実利用側：履歴あり</a:t>
            </a:r>
          </a:p>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31文中0文</a:t>
            </a:r>
          </a:p>
        </p:txBody>
      </p:sp>
      <p:sp>
        <p:nvSpPr>
          <p:cNvPr id="15" name="success-foot">
            <a:extLst xmlns:a="http://schemas.openxmlformats.org/drawingml/2006/main">
              <a:ext uri="{FF2B5EF4-FFF2-40B4-BE49-F238E27FC236}">
                <a16:creationId xmlns:a16="http://schemas.microsoft.com/office/drawing/2014/main" id="{3747EC4C-99C0-49FC-B2F9-17711D1C870C}"/>
              </a:ext>
            </a:extLst>
          </p:cNvPr>
          <p:cNvSpPr>
            <a:spLocks xmlns:a="http://schemas.openxmlformats.org/drawingml/2006/main" noGrp="1"/>
          </p:cNvSpPr>
          <p:nvPr/>
        </p:nvSpPr>
        <p:spPr>
          <a:xfrm xmlns:a="http://schemas.openxmlformats.org/drawingml/2006/main">
            <a:off x="1619250" y="5572125"/>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編集 → 好み抽出 → 次回生成 → 再編集量の減少、という流れを確認</a:t>
            </a:r>
          </a:p>
        </p:txBody>
      </p:sp>
    </p:spTree>
    <p:extLst>
      <p:ext uri="{BB962C8B-B14F-4D97-AF65-F5344CB8AC3E}">
        <p14:creationId xmlns:p14="http://schemas.microsoft.com/office/powerpoint/2010/main" val="65949153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9">
            <a:extLst xmlns:a="http://schemas.openxmlformats.org/drawingml/2006/main">
              <a:ext uri="{FF2B5EF4-FFF2-40B4-BE49-F238E27FC236}">
                <a16:creationId xmlns:a16="http://schemas.microsoft.com/office/drawing/2014/main" id="{95353FA7-4338-4A52-82B8-7DC475DA5ACC}"/>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失敗例：具体例重視では、3回目に要修正文率が上がった</a:t>
            </a:r>
          </a:p>
        </p:txBody>
      </p:sp>
      <p:sp>
        <p:nvSpPr>
          <p:cNvPr id="2" name="page-9">
            <a:extLst xmlns:a="http://schemas.openxmlformats.org/drawingml/2006/main">
              <a:ext uri="{FF2B5EF4-FFF2-40B4-BE49-F238E27FC236}">
                <a16:creationId xmlns:a16="http://schemas.microsoft.com/office/drawing/2014/main" id="{0E21B492-D099-4060-83E8-0A58901BCB9E}"/>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9</a:t>
            </a:r>
          </a:p>
        </p:txBody>
      </p:sp>
      <p:sp>
        <p:nvSpPr>
          <p:cNvPr id="3" name="dup-h">
            <a:extLst xmlns:a="http://schemas.openxmlformats.org/drawingml/2006/main">
              <a:ext uri="{FF2B5EF4-FFF2-40B4-BE49-F238E27FC236}">
                <a16:creationId xmlns:a16="http://schemas.microsoft.com/office/drawing/2014/main" id="{30D43E43-98B8-41CD-B5B8-A5253238A320}"/>
              </a:ext>
            </a:extLst>
          </p:cNvPr>
          <p:cNvSpPr>
            <a:spLocks xmlns:a="http://schemas.openxmlformats.org/drawingml/2006/main" noGrp="1"/>
          </p:cNvSpPr>
          <p:nvPr/>
        </p:nvSpPr>
        <p:spPr>
          <a:xfrm xmlns:a="http://schemas.openxmlformats.org/drawingml/2006/main">
            <a:off x="619125" y="12858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履歴に蓄積した表現</a:t>
            </a:r>
          </a:p>
        </p:txBody>
      </p:sp>
      <p:sp>
        <p:nvSpPr>
          <p:cNvPr id="4" name="d-0">
            <a:extLst xmlns:a="http://schemas.openxmlformats.org/drawingml/2006/main">
              <a:ext uri="{FF2B5EF4-FFF2-40B4-BE49-F238E27FC236}">
                <a16:creationId xmlns:a16="http://schemas.microsoft.com/office/drawing/2014/main" id="{BC6A3C93-1307-4580-9C56-90B6E3071EEC}"/>
              </a:ext>
            </a:extLst>
          </p:cNvPr>
          <p:cNvSpPr>
            <a:spLocks xmlns:a="http://schemas.openxmlformats.org/drawingml/2006/main" noGrp="1"/>
          </p:cNvSpPr>
          <p:nvPr/>
        </p:nvSpPr>
        <p:spPr>
          <a:xfrm xmlns:a="http://schemas.openxmlformats.org/drawingml/2006/main">
            <a:off x="619125" y="185737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dt-0">
            <a:extLst xmlns:a="http://schemas.openxmlformats.org/drawingml/2006/main">
              <a:ext uri="{FF2B5EF4-FFF2-40B4-BE49-F238E27FC236}">
                <a16:creationId xmlns:a16="http://schemas.microsoft.com/office/drawing/2014/main" id="{6F3D552C-1F09-4288-A59B-6110787C12F1}"/>
              </a:ext>
            </a:extLst>
          </p:cNvPr>
          <p:cNvSpPr>
            <a:spLocks xmlns:a="http://schemas.openxmlformats.org/drawingml/2006/main" noGrp="1"/>
          </p:cNvSpPr>
          <p:nvPr/>
        </p:nvSpPr>
        <p:spPr>
          <a:xfrm xmlns:a="http://schemas.openxmlformats.org/drawingml/2006/main">
            <a:off x="857250" y="200977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抽象説明には具体例を加える</a:t>
            </a:r>
          </a:p>
        </p:txBody>
      </p:sp>
      <p:sp>
        <p:nvSpPr>
          <p:cNvPr id="6" name="d-1">
            <a:extLst xmlns:a="http://schemas.openxmlformats.org/drawingml/2006/main">
              <a:ext uri="{FF2B5EF4-FFF2-40B4-BE49-F238E27FC236}">
                <a16:creationId xmlns:a16="http://schemas.microsoft.com/office/drawing/2014/main" id="{EAEB228F-F539-4077-983B-19BE4CAF98CF}"/>
              </a:ext>
            </a:extLst>
          </p:cNvPr>
          <p:cNvSpPr>
            <a:spLocks xmlns:a="http://schemas.openxmlformats.org/drawingml/2006/main" noGrp="1"/>
          </p:cNvSpPr>
          <p:nvPr/>
        </p:nvSpPr>
        <p:spPr>
          <a:xfrm xmlns:a="http://schemas.openxmlformats.org/drawingml/2006/main">
            <a:off x="619125" y="257175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dt-1">
            <a:extLst xmlns:a="http://schemas.openxmlformats.org/drawingml/2006/main">
              <a:ext uri="{FF2B5EF4-FFF2-40B4-BE49-F238E27FC236}">
                <a16:creationId xmlns:a16="http://schemas.microsoft.com/office/drawing/2014/main" id="{11AF9821-942F-476C-9EAE-8C4C013D0034}"/>
              </a:ext>
            </a:extLst>
          </p:cNvPr>
          <p:cNvSpPr>
            <a:spLocks xmlns:a="http://schemas.openxmlformats.org/drawingml/2006/main" noGrp="1"/>
          </p:cNvSpPr>
          <p:nvPr/>
        </p:nvSpPr>
        <p:spPr>
          <a:xfrm xmlns:a="http://schemas.openxmlformats.org/drawingml/2006/main">
            <a:off x="857250" y="272415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身近な例を一つ添える</a:t>
            </a:r>
          </a:p>
        </p:txBody>
      </p:sp>
      <p:sp>
        <p:nvSpPr>
          <p:cNvPr id="8" name="d-2">
            <a:extLst xmlns:a="http://schemas.openxmlformats.org/drawingml/2006/main">
              <a:ext uri="{FF2B5EF4-FFF2-40B4-BE49-F238E27FC236}">
                <a16:creationId xmlns:a16="http://schemas.microsoft.com/office/drawing/2014/main" id="{F1F3D24F-D858-4B0B-99B3-88C58BE44F88}"/>
              </a:ext>
            </a:extLst>
          </p:cNvPr>
          <p:cNvSpPr>
            <a:spLocks xmlns:a="http://schemas.openxmlformats.org/drawingml/2006/main" noGrp="1"/>
          </p:cNvSpPr>
          <p:nvPr/>
        </p:nvSpPr>
        <p:spPr>
          <a:xfrm xmlns:a="http://schemas.openxmlformats.org/drawingml/2006/main">
            <a:off x="619125" y="328612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dt-2">
            <a:extLst xmlns:a="http://schemas.openxmlformats.org/drawingml/2006/main">
              <a:ext uri="{FF2B5EF4-FFF2-40B4-BE49-F238E27FC236}">
                <a16:creationId xmlns:a16="http://schemas.microsoft.com/office/drawing/2014/main" id="{76C31FD1-770E-4F5E-8489-4C6B5979A397}"/>
              </a:ext>
            </a:extLst>
          </p:cNvPr>
          <p:cNvSpPr>
            <a:spLocks xmlns:a="http://schemas.openxmlformats.org/drawingml/2006/main" noGrp="1"/>
          </p:cNvSpPr>
          <p:nvPr/>
        </p:nvSpPr>
        <p:spPr>
          <a:xfrm xmlns:a="http://schemas.openxmlformats.org/drawingml/2006/main">
            <a:off x="857250" y="343852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実務的な例で補足する</a:t>
            </a:r>
          </a:p>
        </p:txBody>
      </p:sp>
      <p:sp>
        <p:nvSpPr>
          <p:cNvPr id="10" name="d-3">
            <a:extLst xmlns:a="http://schemas.openxmlformats.org/drawingml/2006/main">
              <a:ext uri="{FF2B5EF4-FFF2-40B4-BE49-F238E27FC236}">
                <a16:creationId xmlns:a16="http://schemas.microsoft.com/office/drawing/2014/main" id="{5CE35BF5-0339-4A17-8826-C2108C813545}"/>
              </a:ext>
            </a:extLst>
          </p:cNvPr>
          <p:cNvSpPr>
            <a:spLocks xmlns:a="http://schemas.openxmlformats.org/drawingml/2006/main" noGrp="1"/>
          </p:cNvSpPr>
          <p:nvPr/>
        </p:nvSpPr>
        <p:spPr>
          <a:xfrm xmlns:a="http://schemas.openxmlformats.org/drawingml/2006/main">
            <a:off x="619125" y="400050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dt-3">
            <a:extLst xmlns:a="http://schemas.openxmlformats.org/drawingml/2006/main">
              <a:ext uri="{FF2B5EF4-FFF2-40B4-BE49-F238E27FC236}">
                <a16:creationId xmlns:a16="http://schemas.microsoft.com/office/drawing/2014/main" id="{D2E332B7-D5FB-4581-8652-631EEACBDD0F}"/>
              </a:ext>
            </a:extLst>
          </p:cNvPr>
          <p:cNvSpPr>
            <a:spLocks xmlns:a="http://schemas.openxmlformats.org/drawingml/2006/main" noGrp="1"/>
          </p:cNvSpPr>
          <p:nvPr/>
        </p:nvSpPr>
        <p:spPr>
          <a:xfrm xmlns:a="http://schemas.openxmlformats.org/drawingml/2006/main">
            <a:off x="857250" y="415290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利用場面と対応付ける</a:t>
            </a:r>
          </a:p>
        </p:txBody>
      </p:sp>
      <p:sp>
        <p:nvSpPr>
          <p:cNvPr id="12" name="fail-arrow">
            <a:extLst xmlns:a="http://schemas.openxmlformats.org/drawingml/2006/main">
              <a:ext uri="{FF2B5EF4-FFF2-40B4-BE49-F238E27FC236}">
                <a16:creationId xmlns:a16="http://schemas.microsoft.com/office/drawing/2014/main" id="{5673DAA5-2126-4613-8AEE-1FF9B744654D}"/>
              </a:ext>
            </a:extLst>
          </p:cNvPr>
          <p:cNvSpPr>
            <a:spLocks xmlns:a="http://schemas.openxmlformats.org/drawingml/2006/main" noGrp="1"/>
          </p:cNvSpPr>
          <p:nvPr/>
        </p:nvSpPr>
        <p:spPr>
          <a:xfrm xmlns:a="http://schemas.openxmlformats.org/drawingml/2006/main">
            <a:off x="6191250"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fail-box">
            <a:extLst xmlns:a="http://schemas.openxmlformats.org/drawingml/2006/main">
              <a:ext uri="{FF2B5EF4-FFF2-40B4-BE49-F238E27FC236}">
                <a16:creationId xmlns:a16="http://schemas.microsoft.com/office/drawing/2014/main" id="{A2A6A1D3-5583-4D73-B451-410918ABCFE9}"/>
              </a:ext>
            </a:extLst>
          </p:cNvPr>
          <p:cNvSpPr>
            <a:spLocks xmlns:a="http://schemas.openxmlformats.org/drawingml/2006/main" noGrp="1"/>
          </p:cNvSpPr>
          <p:nvPr/>
        </p:nvSpPr>
        <p:spPr>
          <a:xfrm xmlns:a="http://schemas.openxmlformats.org/drawingml/2006/main">
            <a:off x="7524750" y="1952625"/>
            <a:ext cx="3810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fail-title">
            <a:extLst xmlns:a="http://schemas.openxmlformats.org/drawingml/2006/main">
              <a:ext uri="{FF2B5EF4-FFF2-40B4-BE49-F238E27FC236}">
                <a16:creationId xmlns:a16="http://schemas.microsoft.com/office/drawing/2014/main" id="{2AC867A2-E33A-4BD3-814D-C020F6C26853}"/>
              </a:ext>
            </a:extLst>
          </p:cNvPr>
          <p:cNvSpPr>
            <a:spLocks xmlns:a="http://schemas.openxmlformats.org/drawingml/2006/main" noGrp="1"/>
          </p:cNvSpPr>
          <p:nvPr/>
        </p:nvSpPr>
        <p:spPr>
          <a:xfrm xmlns:a="http://schemas.openxmlformats.org/drawingml/2006/main">
            <a:off x="7858125" y="22860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具体例重視・3回目</a:t>
            </a:r>
          </a:p>
        </p:txBody>
      </p:sp>
      <p:sp>
        <p:nvSpPr>
          <p:cNvPr id="15" name="fail-values">
            <a:extLst xmlns:a="http://schemas.openxmlformats.org/drawingml/2006/main">
              <a:ext uri="{FF2B5EF4-FFF2-40B4-BE49-F238E27FC236}">
                <a16:creationId xmlns:a16="http://schemas.microsoft.com/office/drawing/2014/main" id="{B11107E2-3499-4998-894D-547F7D76A935}"/>
              </a:ext>
            </a:extLst>
          </p:cNvPr>
          <p:cNvSpPr>
            <a:spLocks xmlns:a="http://schemas.openxmlformats.org/drawingml/2006/main" noGrp="1"/>
          </p:cNvSpPr>
          <p:nvPr/>
        </p:nvSpPr>
        <p:spPr>
          <a:xfrm xmlns:a="http://schemas.openxmlformats.org/drawingml/2006/main">
            <a:off x="7715250" y="3000375"/>
            <a:ext cx="3429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比較用　4 / 31文（12.9%）</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実利用側　5 / 30文（16.7%）</a:t>
            </a:r>
          </a:p>
        </p:txBody>
      </p:sp>
      <p:sp>
        <p:nvSpPr>
          <p:cNvPr id="16" name="fail-red">
            <a:extLst xmlns:a="http://schemas.openxmlformats.org/drawingml/2006/main">
              <a:ext uri="{FF2B5EF4-FFF2-40B4-BE49-F238E27FC236}">
                <a16:creationId xmlns:a16="http://schemas.microsoft.com/office/drawing/2014/main" id="{8C9A8E21-6250-484A-A63A-416364BA3DBB}"/>
              </a:ext>
            </a:extLst>
          </p:cNvPr>
          <p:cNvSpPr>
            <a:spLocks xmlns:a="http://schemas.openxmlformats.org/drawingml/2006/main" noGrp="1"/>
          </p:cNvSpPr>
          <p:nvPr/>
        </p:nvSpPr>
        <p:spPr>
          <a:xfrm xmlns:a="http://schemas.openxmlformats.org/drawingml/2006/main">
            <a:off x="7667625" y="3857625"/>
            <a:ext cx="3524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D66A5E"/>
                </a:solidFill>
                <a:latin typeface="Helvetica Neue"/>
                <a:ea typeface="Helvetica Neue"/>
                <a:cs typeface="Helvetica Neue"/>
              </a:defRPr>
            </a:pPr>
            <a:r>
              <a:rPr sz="1650" b="1">
                <a:solidFill>
                  <a:srgbClr val="D66A5E"/>
                </a:solidFill>
                <a:latin typeface="Helvetica Neue"/>
                <a:ea typeface="Helvetica Neue"/>
                <a:cs typeface="Helvetica Neue"/>
              </a:rPr>
              <a:t>要修正文率 3.8ポイント増</a:t>
            </a:r>
          </a:p>
        </p:txBody>
      </p:sp>
      <p:sp>
        <p:nvSpPr>
          <p:cNvPr id="17" name="fail-meaning">
            <a:extLst xmlns:a="http://schemas.openxmlformats.org/drawingml/2006/main">
              <a:ext uri="{FF2B5EF4-FFF2-40B4-BE49-F238E27FC236}">
                <a16:creationId xmlns:a16="http://schemas.microsoft.com/office/drawing/2014/main" id="{F058F8FB-585E-4427-BD10-45A8366D7EF2}"/>
              </a:ext>
            </a:extLst>
          </p:cNvPr>
          <p:cNvSpPr>
            <a:spLocks xmlns:a="http://schemas.openxmlformats.org/drawingml/2006/main" noGrp="1"/>
          </p:cNvSpPr>
          <p:nvPr/>
        </p:nvSpPr>
        <p:spPr>
          <a:xfrm xmlns:a="http://schemas.openxmlformats.org/drawingml/2006/main">
            <a:off x="1238250" y="5095875"/>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似た好みを別々に蓄積すると、必要でない箇所にも適用される可能性がある</a:t>
            </a:r>
          </a:p>
        </p:txBody>
      </p:sp>
      <p:sp>
        <p:nvSpPr>
          <p:cNvPr id="18" name="fail-next">
            <a:extLst xmlns:a="http://schemas.openxmlformats.org/drawingml/2006/main">
              <a:ext uri="{FF2B5EF4-FFF2-40B4-BE49-F238E27FC236}">
                <a16:creationId xmlns:a16="http://schemas.microsoft.com/office/drawing/2014/main" id="{15A72918-8D8A-4185-9BE2-C4A130970C52}"/>
              </a:ext>
            </a:extLst>
          </p:cNvPr>
          <p:cNvSpPr>
            <a:spLocks xmlns:a="http://schemas.openxmlformats.org/drawingml/2006/main" noGrp="1"/>
          </p:cNvSpPr>
          <p:nvPr/>
        </p:nvSpPr>
        <p:spPr>
          <a:xfrm xmlns:a="http://schemas.openxmlformats.org/drawingml/2006/main">
            <a:off x="2190750" y="5857875"/>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61666E"/>
                </a:solidFill>
                <a:latin typeface="Helvetica Neue"/>
                <a:ea typeface="Helvetica Neue"/>
                <a:cs typeface="Helvetica Neue"/>
              </a:defRPr>
            </a:pPr>
            <a:r>
              <a:rPr sz="1500" b="0">
                <a:solidFill>
                  <a:srgbClr val="61666E"/>
                </a:solidFill>
                <a:latin typeface="Helvetica Neue"/>
                <a:ea typeface="Helvetica Neue"/>
                <a:cs typeface="Helvetica Neue"/>
              </a:rPr>
              <a:t>必要な改善：重複する好みの統合／適用しない条件の記憶</a:t>
            </a:r>
          </a:p>
        </p:txBody>
      </p:sp>
    </p:spTree>
    <p:extLst>
      <p:ext uri="{BB962C8B-B14F-4D97-AF65-F5344CB8AC3E}">
        <p14:creationId xmlns:p14="http://schemas.microsoft.com/office/powerpoint/2010/main" val="21312801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10">
            <a:extLst xmlns:a="http://schemas.openxmlformats.org/drawingml/2006/main">
              <a:ext uri="{FF2B5EF4-FFF2-40B4-BE49-F238E27FC236}">
                <a16:creationId xmlns:a16="http://schemas.microsoft.com/office/drawing/2014/main" id="{FBDFCEC5-B143-4047-BBB2-B1CA3538E8B6}"/>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今回分かったことと、次に確かめること</a:t>
            </a:r>
          </a:p>
        </p:txBody>
      </p:sp>
      <p:sp>
        <p:nvSpPr>
          <p:cNvPr id="2" name="page-10">
            <a:extLst xmlns:a="http://schemas.openxmlformats.org/drawingml/2006/main">
              <a:ext uri="{FF2B5EF4-FFF2-40B4-BE49-F238E27FC236}">
                <a16:creationId xmlns:a16="http://schemas.microsoft.com/office/drawing/2014/main" id="{A94030A7-1F45-483B-906E-FE1645599447}"/>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10</a:t>
            </a:r>
          </a:p>
        </p:txBody>
      </p:sp>
      <p:sp>
        <p:nvSpPr>
          <p:cNvPr id="3" name="known-h">
            <a:extLst xmlns:a="http://schemas.openxmlformats.org/drawingml/2006/main">
              <a:ext uri="{FF2B5EF4-FFF2-40B4-BE49-F238E27FC236}">
                <a16:creationId xmlns:a16="http://schemas.microsoft.com/office/drawing/2014/main" id="{E3C14ECD-4E31-4B8F-ACBD-6BBCB732C5E0}"/>
              </a:ext>
            </a:extLst>
          </p:cNvPr>
          <p:cNvSpPr>
            <a:spLocks xmlns:a="http://schemas.openxmlformats.org/drawingml/2006/main" noGrp="1"/>
          </p:cNvSpPr>
          <p:nvPr/>
        </p:nvSpPr>
        <p:spPr>
          <a:xfrm xmlns:a="http://schemas.openxmlformats.org/drawingml/2006/main">
            <a:off x="6667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今回分かったこと</a:t>
            </a:r>
          </a:p>
        </p:txBody>
      </p:sp>
      <p:sp>
        <p:nvSpPr>
          <p:cNvPr id="4" name="known">
            <a:extLst xmlns:a="http://schemas.openxmlformats.org/drawingml/2006/main">
              <a:ext uri="{FF2B5EF4-FFF2-40B4-BE49-F238E27FC236}">
                <a16:creationId xmlns:a16="http://schemas.microsoft.com/office/drawing/2014/main" id="{43E34F94-F305-4B9F-916B-20BB76A93AC4}"/>
              </a:ext>
            </a:extLst>
          </p:cNvPr>
          <p:cNvSpPr>
            <a:spLocks xmlns:a="http://schemas.openxmlformats.org/drawingml/2006/main" noGrp="1"/>
          </p:cNvSpPr>
          <p:nvPr/>
        </p:nvSpPr>
        <p:spPr>
          <a:xfrm xmlns:a="http://schemas.openxmlformats.org/drawingml/2006/main">
            <a:off x="666750" y="1952625"/>
            <a:ext cx="4953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known-t">
            <a:extLst xmlns:a="http://schemas.openxmlformats.org/drawingml/2006/main">
              <a:ext uri="{FF2B5EF4-FFF2-40B4-BE49-F238E27FC236}">
                <a16:creationId xmlns:a16="http://schemas.microsoft.com/office/drawing/2014/main" id="{E50D4395-A833-42BA-B5BC-853FB42F59BF}"/>
              </a:ext>
            </a:extLst>
          </p:cNvPr>
          <p:cNvSpPr>
            <a:spLocks xmlns:a="http://schemas.openxmlformats.org/drawingml/2006/main" noGrp="1"/>
          </p:cNvSpPr>
          <p:nvPr/>
        </p:nvSpPr>
        <p:spPr>
          <a:xfrm xmlns:a="http://schemas.openxmlformats.org/drawingml/2006/main">
            <a:off x="10001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・編集履歴から次回生成を変えられた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・編集量が減る好みがあった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・履歴が増えると悪化する場合もあった</a:t>
            </a:r>
          </a:p>
        </p:txBody>
      </p:sp>
      <p:sp>
        <p:nvSpPr>
          <p:cNvPr id="6" name="next-h">
            <a:extLst xmlns:a="http://schemas.openxmlformats.org/drawingml/2006/main">
              <a:ext uri="{FF2B5EF4-FFF2-40B4-BE49-F238E27FC236}">
                <a16:creationId xmlns:a16="http://schemas.microsoft.com/office/drawing/2014/main" id="{E0E9FF74-D9AB-4085-BAA4-5EDBBC45078A}"/>
              </a:ext>
            </a:extLst>
          </p:cNvPr>
          <p:cNvSpPr>
            <a:spLocks xmlns:a="http://schemas.openxmlformats.org/drawingml/2006/main" noGrp="1"/>
          </p:cNvSpPr>
          <p:nvPr/>
        </p:nvSpPr>
        <p:spPr>
          <a:xfrm xmlns:a="http://schemas.openxmlformats.org/drawingml/2006/main">
            <a:off x="65722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次に確かめること</a:t>
            </a:r>
          </a:p>
        </p:txBody>
      </p:sp>
      <p:sp>
        <p:nvSpPr>
          <p:cNvPr id="7" name="next">
            <a:extLst xmlns:a="http://schemas.openxmlformats.org/drawingml/2006/main">
              <a:ext uri="{FF2B5EF4-FFF2-40B4-BE49-F238E27FC236}">
                <a16:creationId xmlns:a16="http://schemas.microsoft.com/office/drawing/2014/main" id="{28699E3A-CB72-45C6-BF89-2DAA35B8DA88}"/>
              </a:ext>
            </a:extLst>
          </p:cNvPr>
          <p:cNvSpPr>
            <a:spLocks xmlns:a="http://schemas.openxmlformats.org/drawingml/2006/main" noGrp="1"/>
          </p:cNvSpPr>
          <p:nvPr/>
        </p:nvSpPr>
        <p:spPr>
          <a:xfrm xmlns:a="http://schemas.openxmlformats.org/drawingml/2006/main">
            <a:off x="6572250" y="1952625"/>
            <a:ext cx="4953000" cy="2428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next-t">
            <a:extLst xmlns:a="http://schemas.openxmlformats.org/drawingml/2006/main">
              <a:ext uri="{FF2B5EF4-FFF2-40B4-BE49-F238E27FC236}">
                <a16:creationId xmlns:a16="http://schemas.microsoft.com/office/drawing/2014/main" id="{586DD556-0DA4-4215-A089-EDF4D1BA9EE8}"/>
              </a:ext>
            </a:extLst>
          </p:cNvPr>
          <p:cNvSpPr>
            <a:spLocks xmlns:a="http://schemas.openxmlformats.org/drawingml/2006/main" noGrp="1"/>
          </p:cNvSpPr>
          <p:nvPr/>
        </p:nvSpPr>
        <p:spPr>
          <a:xfrm xmlns:a="http://schemas.openxmlformats.org/drawingml/2006/main">
            <a:off x="69056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・似た好みを統合すると安定するか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・同じ条件を繰り返して再現するか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・実ユーザでも編集量が減るか</a:t>
            </a:r>
          </a:p>
        </p:txBody>
      </p:sp>
      <p:sp>
        <p:nvSpPr>
          <p:cNvPr id="9" name="conclusion">
            <a:extLst xmlns:a="http://schemas.openxmlformats.org/drawingml/2006/main">
              <a:ext uri="{FF2B5EF4-FFF2-40B4-BE49-F238E27FC236}">
                <a16:creationId xmlns:a16="http://schemas.microsoft.com/office/drawing/2014/main" id="{3D29CB56-C8BF-4C7F-9BE9-0E709E6022A3}"/>
              </a:ext>
            </a:extLst>
          </p:cNvPr>
          <p:cNvSpPr>
            <a:spLocks xmlns:a="http://schemas.openxmlformats.org/drawingml/2006/main" noGrp="1"/>
          </p:cNvSpPr>
          <p:nvPr/>
        </p:nvSpPr>
        <p:spPr>
          <a:xfrm xmlns:a="http://schemas.openxmlformats.org/drawingml/2006/main">
            <a:off x="857250" y="5095875"/>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今回は有効性の証明ではなく、反映経路と改善点を確認した予備実験</a:t>
            </a:r>
          </a:p>
        </p:txBody>
      </p:sp>
    </p:spTree>
    <p:extLst>
      <p:ext uri="{BB962C8B-B14F-4D97-AF65-F5344CB8AC3E}">
        <p14:creationId xmlns:p14="http://schemas.microsoft.com/office/powerpoint/2010/main" val="12223851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itle-11">
            <a:extLst xmlns:a="http://schemas.openxmlformats.org/drawingml/2006/main">
              <a:ext uri="{FF2B5EF4-FFF2-40B4-BE49-F238E27FC236}">
                <a16:creationId xmlns:a16="http://schemas.microsoft.com/office/drawing/2014/main" id="{8A2ADC86-D3BE-497C-9B24-F72A8549471D}"/>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今後は、好みを増やす前に「正しく使える記憶」にする</a:t>
            </a:r>
          </a:p>
        </p:txBody>
      </p:sp>
      <p:sp>
        <p:nvSpPr>
          <p:cNvPr id="2" name="page-11">
            <a:extLst xmlns:a="http://schemas.openxmlformats.org/drawingml/2006/main">
              <a:ext uri="{FF2B5EF4-FFF2-40B4-BE49-F238E27FC236}">
                <a16:creationId xmlns:a16="http://schemas.microsoft.com/office/drawing/2014/main" id="{F3725198-E212-4DD9-9174-6A81D4D53B90}"/>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11</a:t>
            </a:r>
          </a:p>
        </p:txBody>
      </p:sp>
      <p:sp>
        <p:nvSpPr>
          <p:cNvPr id="3" name="road-origin">
            <a:extLst xmlns:a="http://schemas.openxmlformats.org/drawingml/2006/main">
              <a:ext uri="{FF2B5EF4-FFF2-40B4-BE49-F238E27FC236}">
                <a16:creationId xmlns:a16="http://schemas.microsoft.com/office/drawing/2014/main" id="{565D449F-101C-4E01-93EC-B0C5E2CDA5BA}"/>
              </a:ext>
            </a:extLst>
          </p:cNvPr>
          <p:cNvSpPr>
            <a:spLocks xmlns:a="http://schemas.openxmlformats.org/drawingml/2006/main" noGrp="1"/>
          </p:cNvSpPr>
          <p:nvPr/>
        </p:nvSpPr>
        <p:spPr>
          <a:xfrm xmlns:a="http://schemas.openxmlformats.org/drawingml/2006/main">
            <a:off x="619125" y="10668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基本ループは先行研究を参考</a:t>
            </a:r>
          </a:p>
        </p:txBody>
      </p:sp>
      <p:sp>
        <p:nvSpPr>
          <p:cNvPr id="4" name="road-next">
            <a:extLst xmlns:a="http://schemas.openxmlformats.org/drawingml/2006/main">
              <a:ext uri="{FF2B5EF4-FFF2-40B4-BE49-F238E27FC236}">
                <a16:creationId xmlns:a16="http://schemas.microsoft.com/office/drawing/2014/main" id="{BD042C2C-B908-4ECA-8ED7-965C9C8F5D70}"/>
              </a:ext>
            </a:extLst>
          </p:cNvPr>
          <p:cNvSpPr>
            <a:spLocks xmlns:a="http://schemas.openxmlformats.org/drawingml/2006/main" noGrp="1"/>
          </p:cNvSpPr>
          <p:nvPr/>
        </p:nvSpPr>
        <p:spPr>
          <a:xfrm xmlns:a="http://schemas.openxmlformats.org/drawingml/2006/main">
            <a:off x="4429125" y="10668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E8A34B"/>
                </a:solidFill>
                <a:latin typeface="Helvetica Neue"/>
                <a:ea typeface="Helvetica Neue"/>
                <a:cs typeface="Helvetica Neue"/>
              </a:defRPr>
            </a:pPr>
            <a:r>
              <a:rPr sz="1500" b="1">
                <a:solidFill>
                  <a:srgbClr val="E8A34B"/>
                </a:solidFill>
                <a:latin typeface="Helvetica Neue"/>
                <a:ea typeface="Helvetica Neue"/>
                <a:cs typeface="Helvetica Neue"/>
              </a:rPr>
              <a:t>今回の結果から次に実装</a:t>
            </a:r>
          </a:p>
        </p:txBody>
      </p:sp>
      <p:sp>
        <p:nvSpPr>
          <p:cNvPr id="5" name="road-long">
            <a:extLst xmlns:a="http://schemas.openxmlformats.org/drawingml/2006/main">
              <a:ext uri="{FF2B5EF4-FFF2-40B4-BE49-F238E27FC236}">
                <a16:creationId xmlns:a16="http://schemas.microsoft.com/office/drawing/2014/main" id="{E26028EA-C7F7-44E9-A5D6-16D7E4E9075F}"/>
              </a:ext>
            </a:extLst>
          </p:cNvPr>
          <p:cNvSpPr>
            <a:spLocks xmlns:a="http://schemas.openxmlformats.org/drawingml/2006/main" noGrp="1"/>
          </p:cNvSpPr>
          <p:nvPr/>
        </p:nvSpPr>
        <p:spPr>
          <a:xfrm xmlns:a="http://schemas.openxmlformats.org/drawingml/2006/main">
            <a:off x="8239125" y="10668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61666E"/>
                </a:solidFill>
                <a:latin typeface="Helvetica Neue"/>
                <a:ea typeface="Helvetica Neue"/>
                <a:cs typeface="Helvetica Neue"/>
              </a:defRPr>
            </a:pPr>
            <a:r>
              <a:rPr sz="1500" b="1">
                <a:solidFill>
                  <a:srgbClr val="61666E"/>
                </a:solidFill>
                <a:latin typeface="Helvetica Neue"/>
                <a:ea typeface="Helvetica Neue"/>
                <a:cs typeface="Helvetica Neue"/>
              </a:rPr>
              <a:t>安定後の長期構想</a:t>
            </a:r>
          </a:p>
        </p:txBody>
      </p:sp>
      <p:sp>
        <p:nvSpPr>
          <p:cNvPr id="6" name="road-a1">
            <a:extLst xmlns:a="http://schemas.openxmlformats.org/drawingml/2006/main">
              <a:ext uri="{FF2B5EF4-FFF2-40B4-BE49-F238E27FC236}">
                <a16:creationId xmlns:a16="http://schemas.microsoft.com/office/drawing/2014/main" id="{010B37A5-3C62-4E80-8BAC-6A3E6C812E77}"/>
              </a:ext>
            </a:extLst>
          </p:cNvPr>
          <p:cNvSpPr>
            <a:spLocks xmlns:a="http://schemas.openxmlformats.org/drawingml/2006/main" noGrp="1"/>
          </p:cNvSpPr>
          <p:nvPr/>
        </p:nvSpPr>
        <p:spPr>
          <a:xfrm xmlns:a="http://schemas.openxmlformats.org/drawingml/2006/main">
            <a:off x="3857625" y="2924175"/>
            <a:ext cx="476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road-a2">
            <a:extLst xmlns:a="http://schemas.openxmlformats.org/drawingml/2006/main">
              <a:ext uri="{FF2B5EF4-FFF2-40B4-BE49-F238E27FC236}">
                <a16:creationId xmlns:a16="http://schemas.microsoft.com/office/drawing/2014/main" id="{178B25B6-02F9-4915-A4C1-C601BCE40A25}"/>
              </a:ext>
            </a:extLst>
          </p:cNvPr>
          <p:cNvSpPr>
            <a:spLocks xmlns:a="http://schemas.openxmlformats.org/drawingml/2006/main" noGrp="1"/>
          </p:cNvSpPr>
          <p:nvPr/>
        </p:nvSpPr>
        <p:spPr>
          <a:xfrm xmlns:a="http://schemas.openxmlformats.org/drawingml/2006/main">
            <a:off x="7667625" y="2924175"/>
            <a:ext cx="476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road-paper">
            <a:extLst xmlns:a="http://schemas.openxmlformats.org/drawingml/2006/main">
              <a:ext uri="{FF2B5EF4-FFF2-40B4-BE49-F238E27FC236}">
                <a16:creationId xmlns:a16="http://schemas.microsoft.com/office/drawing/2014/main" id="{A88E4FC5-53F0-4D91-AC82-F8C5B3CA0B88}"/>
              </a:ext>
            </a:extLst>
          </p:cNvPr>
          <p:cNvSpPr>
            <a:spLocks xmlns:a="http://schemas.openxmlformats.org/drawingml/2006/main" noGrp="1"/>
          </p:cNvSpPr>
          <p:nvPr/>
        </p:nvSpPr>
        <p:spPr>
          <a:xfrm xmlns:a="http://schemas.openxmlformats.org/drawingml/2006/main">
            <a:off x="523875" y="1571625"/>
            <a:ext cx="3333750" cy="2762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9" name="road-paper-h">
            <a:extLst xmlns:a="http://schemas.openxmlformats.org/drawingml/2006/main">
              <a:ext uri="{FF2B5EF4-FFF2-40B4-BE49-F238E27FC236}">
                <a16:creationId xmlns:a16="http://schemas.microsoft.com/office/drawing/2014/main" id="{55A3EC25-D6F8-4CA7-AE24-2BA0E83EAAA0}"/>
              </a:ext>
            </a:extLst>
          </p:cNvPr>
          <p:cNvSpPr>
            <a:spLocks xmlns:a="http://schemas.openxmlformats.org/drawingml/2006/main" noGrp="1"/>
          </p:cNvSpPr>
          <p:nvPr/>
        </p:nvSpPr>
        <p:spPr>
          <a:xfrm xmlns:a="http://schemas.openxmlformats.org/drawingml/2006/main">
            <a:off x="781050" y="18573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① 編集から好みを学ぶ</a:t>
            </a:r>
          </a:p>
        </p:txBody>
      </p:sp>
      <p:sp>
        <p:nvSpPr>
          <p:cNvPr id="10" name="road-paper-t">
            <a:extLst xmlns:a="http://schemas.openxmlformats.org/drawingml/2006/main">
              <a:ext uri="{FF2B5EF4-FFF2-40B4-BE49-F238E27FC236}">
                <a16:creationId xmlns:a16="http://schemas.microsoft.com/office/drawing/2014/main" id="{249078CC-C0B4-4AF2-ADD2-2E91AD307C6B}"/>
              </a:ext>
            </a:extLst>
          </p:cNvPr>
          <p:cNvSpPr>
            <a:spLocks xmlns:a="http://schemas.openxmlformats.org/drawingml/2006/main" noGrp="1"/>
          </p:cNvSpPr>
          <p:nvPr/>
        </p:nvSpPr>
        <p:spPr>
          <a:xfrm xmlns:a="http://schemas.openxmlformats.org/drawingml/2006/main">
            <a:off x="809625" y="2476500"/>
            <a:ext cx="276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編集前後からLLMで好みを推定</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次回の生成プロンプトへ反映</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再編集量で効果を確認</a:t>
            </a:r>
          </a:p>
        </p:txBody>
      </p:sp>
      <p:sp>
        <p:nvSpPr>
          <p:cNvPr id="11" name="road-paper-ex">
            <a:extLst xmlns:a="http://schemas.openxmlformats.org/drawingml/2006/main">
              <a:ext uri="{FF2B5EF4-FFF2-40B4-BE49-F238E27FC236}">
                <a16:creationId xmlns:a16="http://schemas.microsoft.com/office/drawing/2014/main" id="{F35B758B-BD72-45C8-B408-6B0D022EE8D3}"/>
              </a:ext>
            </a:extLst>
          </p:cNvPr>
          <p:cNvSpPr>
            <a:spLocks xmlns:a="http://schemas.openxmlformats.org/drawingml/2006/main" noGrp="1"/>
          </p:cNvSpPr>
          <p:nvPr/>
        </p:nvSpPr>
        <p:spPr>
          <a:xfrm xmlns:a="http://schemas.openxmlformats.org/drawingml/2006/main">
            <a:off x="809625" y="3571875"/>
            <a:ext cx="276225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2" name="road-paper-ex-t">
            <a:extLst xmlns:a="http://schemas.openxmlformats.org/drawingml/2006/main">
              <a:ext uri="{FF2B5EF4-FFF2-40B4-BE49-F238E27FC236}">
                <a16:creationId xmlns:a16="http://schemas.microsoft.com/office/drawing/2014/main" id="{481387CE-AE3A-4EBE-B79D-F7F998177CDB}"/>
              </a:ext>
            </a:extLst>
          </p:cNvPr>
          <p:cNvSpPr>
            <a:spLocks xmlns:a="http://schemas.openxmlformats.org/drawingml/2006/main" noGrp="1"/>
          </p:cNvSpPr>
          <p:nvPr/>
        </p:nvSpPr>
        <p:spPr>
          <a:xfrm xmlns:a="http://schemas.openxmlformats.org/drawingml/2006/main">
            <a:off x="952500" y="37147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例：結論を先に示す</a:t>
            </a:r>
          </a:p>
        </p:txBody>
      </p:sp>
      <p:sp>
        <p:nvSpPr>
          <p:cNvPr id="13" name="road-now">
            <a:extLst xmlns:a="http://schemas.openxmlformats.org/drawingml/2006/main">
              <a:ext uri="{FF2B5EF4-FFF2-40B4-BE49-F238E27FC236}">
                <a16:creationId xmlns:a16="http://schemas.microsoft.com/office/drawing/2014/main" id="{84C09FB1-EE49-410B-864F-6ADA34B817E5}"/>
              </a:ext>
            </a:extLst>
          </p:cNvPr>
          <p:cNvSpPr>
            <a:spLocks xmlns:a="http://schemas.openxmlformats.org/drawingml/2006/main" noGrp="1"/>
          </p:cNvSpPr>
          <p:nvPr/>
        </p:nvSpPr>
        <p:spPr>
          <a:xfrm xmlns:a="http://schemas.openxmlformats.org/drawingml/2006/main">
            <a:off x="4333875" y="1571625"/>
            <a:ext cx="3333750" cy="2762250"/>
          </a:xfrm>
          <a:prstGeom xmlns:a="http://schemas.openxmlformats.org/drawingml/2006/main" prst="rect">
            <a:avLst/>
          </a:prstGeom>
          <a:solidFill xmlns:a="http://schemas.openxmlformats.org/drawingml/2006/main">
            <a:srgbClr val="F9E6C8"/>
          </a:solidFill>
          <a:ln xmlns:a="http://schemas.openxmlformats.org/drawingml/2006/main" w="0">
            <a:noFill/>
            <a:prstDash val="solid"/>
          </a:ln>
        </p:spPr>
      </p:sp>
      <p:sp>
        <p:nvSpPr>
          <p:cNvPr id="14" name="road-now-h">
            <a:extLst xmlns:a="http://schemas.openxmlformats.org/drawingml/2006/main">
              <a:ext uri="{FF2B5EF4-FFF2-40B4-BE49-F238E27FC236}">
                <a16:creationId xmlns:a16="http://schemas.microsoft.com/office/drawing/2014/main" id="{7762ECE7-3724-4BF2-8F20-B3DE8BABAA9F}"/>
              </a:ext>
            </a:extLst>
          </p:cNvPr>
          <p:cNvSpPr>
            <a:spLocks xmlns:a="http://schemas.openxmlformats.org/drawingml/2006/main" noGrp="1"/>
          </p:cNvSpPr>
          <p:nvPr/>
        </p:nvSpPr>
        <p:spPr>
          <a:xfrm xmlns:a="http://schemas.openxmlformats.org/drawingml/2006/main">
            <a:off x="4591050" y="18573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② 過剰適用を防ぐ</a:t>
            </a:r>
          </a:p>
        </p:txBody>
      </p:sp>
      <p:sp>
        <p:nvSpPr>
          <p:cNvPr id="15" name="road-now-t">
            <a:extLst xmlns:a="http://schemas.openxmlformats.org/drawingml/2006/main">
              <a:ext uri="{FF2B5EF4-FFF2-40B4-BE49-F238E27FC236}">
                <a16:creationId xmlns:a16="http://schemas.microsoft.com/office/drawing/2014/main" id="{7D0F8668-638D-484F-9EC3-987222364D00}"/>
              </a:ext>
            </a:extLst>
          </p:cNvPr>
          <p:cNvSpPr>
            <a:spLocks xmlns:a="http://schemas.openxmlformats.org/drawingml/2006/main" noGrp="1"/>
          </p:cNvSpPr>
          <p:nvPr/>
        </p:nvSpPr>
        <p:spPr>
          <a:xfrm xmlns:a="http://schemas.openxmlformats.org/drawingml/2006/main">
            <a:off x="4619625" y="2476500"/>
            <a:ext cx="276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似た好みを保存時に統合</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類似度の採用閾値を追加</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好みと生成文の対応を記録</a:t>
            </a:r>
          </a:p>
        </p:txBody>
      </p:sp>
      <p:sp>
        <p:nvSpPr>
          <p:cNvPr id="16" name="road-now-ex">
            <a:extLst xmlns:a="http://schemas.openxmlformats.org/drawingml/2006/main">
              <a:ext uri="{FF2B5EF4-FFF2-40B4-BE49-F238E27FC236}">
                <a16:creationId xmlns:a16="http://schemas.microsoft.com/office/drawing/2014/main" id="{A4DE0D55-371D-4AB4-B6DF-A2D948C5C4D2}"/>
              </a:ext>
            </a:extLst>
          </p:cNvPr>
          <p:cNvSpPr>
            <a:spLocks xmlns:a="http://schemas.openxmlformats.org/drawingml/2006/main" noGrp="1"/>
          </p:cNvSpPr>
          <p:nvPr/>
        </p:nvSpPr>
        <p:spPr>
          <a:xfrm xmlns:a="http://schemas.openxmlformats.org/drawingml/2006/main">
            <a:off x="4619625" y="3571875"/>
            <a:ext cx="276225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7" name="road-now-ex-t">
            <a:extLst xmlns:a="http://schemas.openxmlformats.org/drawingml/2006/main">
              <a:ext uri="{FF2B5EF4-FFF2-40B4-BE49-F238E27FC236}">
                <a16:creationId xmlns:a16="http://schemas.microsoft.com/office/drawing/2014/main" id="{7CF3CFFF-9A3B-4A70-8362-4A5114E2FA60}"/>
              </a:ext>
            </a:extLst>
          </p:cNvPr>
          <p:cNvSpPr>
            <a:spLocks xmlns:a="http://schemas.openxmlformats.org/drawingml/2006/main" noGrp="1"/>
          </p:cNvSpPr>
          <p:nvPr/>
        </p:nvSpPr>
        <p:spPr>
          <a:xfrm xmlns:a="http://schemas.openxmlformats.org/drawingml/2006/main">
            <a:off x="4762500" y="37147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例：具体例の指示3件 → 1件</a:t>
            </a:r>
          </a:p>
        </p:txBody>
      </p:sp>
      <p:sp>
        <p:nvSpPr>
          <p:cNvPr id="18" name="road-later">
            <a:extLst xmlns:a="http://schemas.openxmlformats.org/drawingml/2006/main">
              <a:ext uri="{FF2B5EF4-FFF2-40B4-BE49-F238E27FC236}">
                <a16:creationId xmlns:a16="http://schemas.microsoft.com/office/drawing/2014/main" id="{1F7CA1F6-B888-431D-A8AD-34426B98F403}"/>
              </a:ext>
            </a:extLst>
          </p:cNvPr>
          <p:cNvSpPr>
            <a:spLocks xmlns:a="http://schemas.openxmlformats.org/drawingml/2006/main" noGrp="1"/>
          </p:cNvSpPr>
          <p:nvPr/>
        </p:nvSpPr>
        <p:spPr>
          <a:xfrm xmlns:a="http://schemas.openxmlformats.org/drawingml/2006/main">
            <a:off x="8143875" y="1571625"/>
            <a:ext cx="3333750" cy="2762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road-later-h">
            <a:extLst xmlns:a="http://schemas.openxmlformats.org/drawingml/2006/main">
              <a:ext uri="{FF2B5EF4-FFF2-40B4-BE49-F238E27FC236}">
                <a16:creationId xmlns:a16="http://schemas.microsoft.com/office/drawing/2014/main" id="{DC33D747-869E-47D0-8DD6-FF466ECABDB8}"/>
              </a:ext>
            </a:extLst>
          </p:cNvPr>
          <p:cNvSpPr>
            <a:spLocks xmlns:a="http://schemas.openxmlformats.org/drawingml/2006/main" noGrp="1"/>
          </p:cNvSpPr>
          <p:nvPr/>
        </p:nvSpPr>
        <p:spPr>
          <a:xfrm xmlns:a="http://schemas.openxmlformats.org/drawingml/2006/main">
            <a:off x="8401050" y="18573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③ 反応を受けて更新する</a:t>
            </a:r>
          </a:p>
        </p:txBody>
      </p:sp>
      <p:sp>
        <p:nvSpPr>
          <p:cNvPr id="20" name="road-later-t">
            <a:extLst xmlns:a="http://schemas.openxmlformats.org/drawingml/2006/main">
              <a:ext uri="{FF2B5EF4-FFF2-40B4-BE49-F238E27FC236}">
                <a16:creationId xmlns:a16="http://schemas.microsoft.com/office/drawing/2014/main" id="{1BAC4F3C-8EF9-4D45-8A84-21016528B47A}"/>
              </a:ext>
            </a:extLst>
          </p:cNvPr>
          <p:cNvSpPr>
            <a:spLocks xmlns:a="http://schemas.openxmlformats.org/drawingml/2006/main" noGrp="1"/>
          </p:cNvSpPr>
          <p:nvPr/>
        </p:nvSpPr>
        <p:spPr>
          <a:xfrm xmlns:a="http://schemas.openxmlformats.org/drawingml/2006/main">
            <a:off x="8429625" y="2476500"/>
            <a:ext cx="276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支持・拒否から信頼度を更新</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好みの管理画面を追加</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台本以外の出力へ拡張</a:t>
            </a:r>
          </a:p>
        </p:txBody>
      </p:sp>
      <p:sp>
        <p:nvSpPr>
          <p:cNvPr id="21" name="road-later-ex">
            <a:extLst xmlns:a="http://schemas.openxmlformats.org/drawingml/2006/main">
              <a:ext uri="{FF2B5EF4-FFF2-40B4-BE49-F238E27FC236}">
                <a16:creationId xmlns:a16="http://schemas.microsoft.com/office/drawing/2014/main" id="{6AAE6810-78D9-4771-8EA0-952BF0C8EB4C}"/>
              </a:ext>
            </a:extLst>
          </p:cNvPr>
          <p:cNvSpPr>
            <a:spLocks xmlns:a="http://schemas.openxmlformats.org/drawingml/2006/main" noGrp="1"/>
          </p:cNvSpPr>
          <p:nvPr/>
        </p:nvSpPr>
        <p:spPr>
          <a:xfrm xmlns:a="http://schemas.openxmlformats.org/drawingml/2006/main">
            <a:off x="8429625" y="3571875"/>
            <a:ext cx="2762250"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2" name="road-later-ex-t">
            <a:extLst xmlns:a="http://schemas.openxmlformats.org/drawingml/2006/main">
              <a:ext uri="{FF2B5EF4-FFF2-40B4-BE49-F238E27FC236}">
                <a16:creationId xmlns:a16="http://schemas.microsoft.com/office/drawing/2014/main" id="{82AFE02B-0A35-471B-B464-F3027148D2DA}"/>
              </a:ext>
            </a:extLst>
          </p:cNvPr>
          <p:cNvSpPr>
            <a:spLocks xmlns:a="http://schemas.openxmlformats.org/drawingml/2006/main" noGrp="1"/>
          </p:cNvSpPr>
          <p:nvPr/>
        </p:nvSpPr>
        <p:spPr>
          <a:xfrm xmlns:a="http://schemas.openxmlformats.org/drawingml/2006/main">
            <a:off x="8572500" y="37147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例：取り消された好みを弱める</a:t>
            </a:r>
          </a:p>
        </p:txBody>
      </p:sp>
      <p:sp>
        <p:nvSpPr>
          <p:cNvPr id="23" name="road-label">
            <a:extLst xmlns:a="http://schemas.openxmlformats.org/drawingml/2006/main">
              <a:ext uri="{FF2B5EF4-FFF2-40B4-BE49-F238E27FC236}">
                <a16:creationId xmlns:a16="http://schemas.microsoft.com/office/drawing/2014/main" id="{CB50A1AE-64F8-4B02-AF34-CDF15BC3C2A1}"/>
              </a:ext>
            </a:extLst>
          </p:cNvPr>
          <p:cNvSpPr>
            <a:spLocks xmlns:a="http://schemas.openxmlformats.org/drawingml/2006/main" noGrp="1"/>
          </p:cNvSpPr>
          <p:nvPr/>
        </p:nvSpPr>
        <p:spPr>
          <a:xfrm xmlns:a="http://schemas.openxmlformats.org/drawingml/2006/main">
            <a:off x="619125" y="4810125"/>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実装順序</a:t>
            </a:r>
          </a:p>
        </p:txBody>
      </p:sp>
      <p:sp>
        <p:nvSpPr>
          <p:cNvPr id="24" name="road-phases">
            <a:extLst xmlns:a="http://schemas.openxmlformats.org/drawingml/2006/main">
              <a:ext uri="{FF2B5EF4-FFF2-40B4-BE49-F238E27FC236}">
                <a16:creationId xmlns:a16="http://schemas.microsoft.com/office/drawing/2014/main" id="{C759DF3A-C67B-42DD-859D-8DFA0CD049E4}"/>
              </a:ext>
            </a:extLst>
          </p:cNvPr>
          <p:cNvSpPr>
            <a:spLocks xmlns:a="http://schemas.openxmlformats.org/drawingml/2006/main" noGrp="1"/>
          </p:cNvSpPr>
          <p:nvPr/>
        </p:nvSpPr>
        <p:spPr>
          <a:xfrm xmlns:a="http://schemas.openxmlformats.org/drawingml/2006/main">
            <a:off x="1143000" y="5257800"/>
            <a:ext cx="990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821"/>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Phase 1　重複統合・検索閾値　→　Phase 2　適用履歴の記録　→　Phase 3　信頼度・管理UI　→　実ユーザ評価</a:t>
            </a:r>
          </a:p>
        </p:txBody>
      </p:sp>
      <p:sp>
        <p:nvSpPr>
          <p:cNvPr id="25" name="road-definition">
            <a:extLst xmlns:a="http://schemas.openxmlformats.org/drawingml/2006/main">
              <a:ext uri="{FF2B5EF4-FFF2-40B4-BE49-F238E27FC236}">
                <a16:creationId xmlns:a16="http://schemas.microsoft.com/office/drawing/2014/main" id="{9C04D30F-F71D-42A8-986E-1ECD1AA1CDE1}"/>
              </a:ext>
            </a:extLst>
          </p:cNvPr>
          <p:cNvSpPr>
            <a:spLocks xmlns:a="http://schemas.openxmlformats.org/drawingml/2006/main" noGrp="1"/>
          </p:cNvSpPr>
          <p:nvPr/>
        </p:nvSpPr>
        <p:spPr>
          <a:xfrm xmlns:a="http://schemas.openxmlformats.org/drawingml/2006/main">
            <a:off x="1285875" y="5953125"/>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61666E"/>
                </a:solidFill>
                <a:latin typeface="Helvetica Neue"/>
                <a:ea typeface="Helvetica Neue"/>
                <a:cs typeface="Helvetica Neue"/>
              </a:defRPr>
            </a:pPr>
            <a:r>
              <a:rPr sz="1500" b="0">
                <a:solidFill>
                  <a:srgbClr val="61666E"/>
                </a:solidFill>
                <a:latin typeface="Helvetica Neue"/>
                <a:ea typeface="Helvetica Neue"/>
                <a:cs typeface="Helvetica Neue"/>
              </a:rPr>
              <a:t>本研究での成長 ＝ 反応を受けて、好みの内容・範囲・強さが更新されること</a:t>
            </a:r>
          </a:p>
        </p:txBody>
      </p:sp>
    </p:spTree>
    <p:extLst>
      <p:ext uri="{BB962C8B-B14F-4D97-AF65-F5344CB8AC3E}">
        <p14:creationId xmlns:p14="http://schemas.microsoft.com/office/powerpoint/2010/main" val="11637506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12">
            <a:extLst xmlns:a="http://schemas.openxmlformats.org/drawingml/2006/main">
              <a:ext uri="{FF2B5EF4-FFF2-40B4-BE49-F238E27FC236}">
                <a16:creationId xmlns:a16="http://schemas.microsoft.com/office/drawing/2014/main" id="{A1B3945B-922D-407E-AAB5-770EE5E06726}"/>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補足：先行研究との対応と、要修正文率の限界</a:t>
            </a:r>
          </a:p>
        </p:txBody>
      </p:sp>
      <p:sp>
        <p:nvSpPr>
          <p:cNvPr id="2" name="page-12">
            <a:extLst xmlns:a="http://schemas.openxmlformats.org/drawingml/2006/main">
              <a:ext uri="{FF2B5EF4-FFF2-40B4-BE49-F238E27FC236}">
                <a16:creationId xmlns:a16="http://schemas.microsoft.com/office/drawing/2014/main" id="{141FEBE0-B526-43B1-8E33-8866900D3742}"/>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12</a:t>
            </a:r>
          </a:p>
        </p:txBody>
      </p:sp>
      <p:sp>
        <p:nvSpPr>
          <p:cNvPr id="3" name="paper-h">
            <a:extLst xmlns:a="http://schemas.openxmlformats.org/drawingml/2006/main">
              <a:ext uri="{FF2B5EF4-FFF2-40B4-BE49-F238E27FC236}">
                <a16:creationId xmlns:a16="http://schemas.microsoft.com/office/drawing/2014/main" id="{2EB2FB31-8C75-4CDD-A14D-5DF4DE95D428}"/>
              </a:ext>
            </a:extLst>
          </p:cNvPr>
          <p:cNvSpPr>
            <a:spLocks xmlns:a="http://schemas.openxmlformats.org/drawingml/2006/main" noGrp="1"/>
          </p:cNvSpPr>
          <p:nvPr/>
        </p:nvSpPr>
        <p:spPr>
          <a:xfrm xmlns:a="http://schemas.openxmlformats.org/drawingml/2006/main">
            <a:off x="666750" y="1238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CIPHER/PRELUDE論文</a:t>
            </a:r>
          </a:p>
        </p:txBody>
      </p:sp>
      <p:sp>
        <p:nvSpPr>
          <p:cNvPr id="4" name="paper-main">
            <a:extLst xmlns:a="http://schemas.openxmlformats.org/drawingml/2006/main">
              <a:ext uri="{FF2B5EF4-FFF2-40B4-BE49-F238E27FC236}">
                <a16:creationId xmlns:a16="http://schemas.microsoft.com/office/drawing/2014/main" id="{27F3FB6F-437C-48EE-93F2-3370797023A3}"/>
              </a:ext>
            </a:extLst>
          </p:cNvPr>
          <p:cNvSpPr>
            <a:spLocks xmlns:a="http://schemas.openxmlformats.org/drawingml/2006/main" noGrp="1"/>
          </p:cNvSpPr>
          <p:nvPr/>
        </p:nvSpPr>
        <p:spPr>
          <a:xfrm xmlns:a="http://schemas.openxmlformats.org/drawingml/2006/main">
            <a:off x="666750" y="1857375"/>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主指標</a:t>
            </a:r>
          </a:p>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全200回で発生したトークン編集距離の累計</a:t>
            </a:r>
          </a:p>
        </p:txBody>
      </p:sp>
      <p:sp>
        <p:nvSpPr>
          <p:cNvPr id="5" name="paper-sub">
            <a:extLst xmlns:a="http://schemas.openxmlformats.org/drawingml/2006/main">
              <a:ext uri="{FF2B5EF4-FFF2-40B4-BE49-F238E27FC236}">
                <a16:creationId xmlns:a16="http://schemas.microsoft.com/office/drawing/2014/main" id="{13DA44BF-E65C-4134-AD41-F734D1ED6843}"/>
              </a:ext>
            </a:extLst>
          </p:cNvPr>
          <p:cNvSpPr>
            <a:spLocks xmlns:a="http://schemas.openxmlformats.org/drawingml/2006/main" noGrp="1"/>
          </p:cNvSpPr>
          <p:nvPr/>
        </p:nvSpPr>
        <p:spPr>
          <a:xfrm xmlns:a="http://schemas.openxmlformats.org/drawingml/2006/main">
            <a:off x="666750" y="2857500"/>
            <a:ext cx="50958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補助分析</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・長さで正規化した編集距離</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・編集が0だった出力の割合</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・人間による出力比較</a:t>
            </a:r>
          </a:p>
        </p:txBody>
      </p:sp>
      <p:sp>
        <p:nvSpPr>
          <p:cNvPr id="6" name="adapt">
            <a:extLst xmlns:a="http://schemas.openxmlformats.org/drawingml/2006/main">
              <a:ext uri="{FF2B5EF4-FFF2-40B4-BE49-F238E27FC236}">
                <a16:creationId xmlns:a16="http://schemas.microsoft.com/office/drawing/2014/main" id="{E32555EB-3391-4573-AEF9-9542CB0093D3}"/>
              </a:ext>
            </a:extLst>
          </p:cNvPr>
          <p:cNvSpPr>
            <a:spLocks xmlns:a="http://schemas.openxmlformats.org/drawingml/2006/main" noGrp="1"/>
          </p:cNvSpPr>
          <p:nvPr/>
        </p:nvSpPr>
        <p:spPr>
          <a:xfrm xmlns:a="http://schemas.openxmlformats.org/drawingml/2006/main">
            <a:off x="666750" y="4476750"/>
            <a:ext cx="5095875" cy="904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adapt-t">
            <a:extLst xmlns:a="http://schemas.openxmlformats.org/drawingml/2006/main">
              <a:ext uri="{FF2B5EF4-FFF2-40B4-BE49-F238E27FC236}">
                <a16:creationId xmlns:a16="http://schemas.microsoft.com/office/drawing/2014/main" id="{85C07E1C-99F1-47A5-9119-2B70E8434E77}"/>
              </a:ext>
            </a:extLst>
          </p:cNvPr>
          <p:cNvSpPr>
            <a:spLocks xmlns:a="http://schemas.openxmlformats.org/drawingml/2006/main" noGrp="1"/>
          </p:cNvSpPr>
          <p:nvPr/>
        </p:nvSpPr>
        <p:spPr>
          <a:xfrm xmlns:a="http://schemas.openxmlformats.org/drawingml/2006/main">
            <a:off x="904875" y="4695825"/>
            <a:ext cx="4619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203"/>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LectureCraftでは文単位で編集するため</a:t>
            </a:r>
          </a:p>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要修正文率を主指標に変更</a:t>
            </a:r>
          </a:p>
        </p:txBody>
      </p:sp>
      <p:sp>
        <p:nvSpPr>
          <p:cNvPr id="8" name="limit-h">
            <a:extLst xmlns:a="http://schemas.openxmlformats.org/drawingml/2006/main">
              <a:ext uri="{FF2B5EF4-FFF2-40B4-BE49-F238E27FC236}">
                <a16:creationId xmlns:a16="http://schemas.microsoft.com/office/drawing/2014/main" id="{5AF896C4-E377-4BB4-BFF4-06B46ECA163D}"/>
              </a:ext>
            </a:extLst>
          </p:cNvPr>
          <p:cNvSpPr>
            <a:spLocks xmlns:a="http://schemas.openxmlformats.org/drawingml/2006/main" noGrp="1"/>
          </p:cNvSpPr>
          <p:nvPr/>
        </p:nvSpPr>
        <p:spPr>
          <a:xfrm xmlns:a="http://schemas.openxmlformats.org/drawingml/2006/main">
            <a:off x="6667500" y="1238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要修正文率の限界</a:t>
            </a:r>
          </a:p>
        </p:txBody>
      </p:sp>
      <p:sp>
        <p:nvSpPr>
          <p:cNvPr id="9" name="limit-1">
            <a:extLst xmlns:a="http://schemas.openxmlformats.org/drawingml/2006/main">
              <a:ext uri="{FF2B5EF4-FFF2-40B4-BE49-F238E27FC236}">
                <a16:creationId xmlns:a16="http://schemas.microsoft.com/office/drawing/2014/main" id="{0C9E0C37-02CA-4564-B2F8-1760B7D96F1F}"/>
              </a:ext>
            </a:extLst>
          </p:cNvPr>
          <p:cNvSpPr>
            <a:spLocks xmlns:a="http://schemas.openxmlformats.org/drawingml/2006/main" noGrp="1"/>
          </p:cNvSpPr>
          <p:nvPr/>
        </p:nvSpPr>
        <p:spPr>
          <a:xfrm xmlns:a="http://schemas.openxmlformats.org/drawingml/2006/main">
            <a:off x="6667500" y="185737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・1語の修正も、全面書き換えも「1文」</a:t>
            </a:r>
          </a:p>
        </p:txBody>
      </p:sp>
      <p:sp>
        <p:nvSpPr>
          <p:cNvPr id="10" name="limit-2">
            <a:extLst xmlns:a="http://schemas.openxmlformats.org/drawingml/2006/main">
              <a:ext uri="{FF2B5EF4-FFF2-40B4-BE49-F238E27FC236}">
                <a16:creationId xmlns:a16="http://schemas.microsoft.com/office/drawing/2014/main" id="{6486AEEA-CA5D-4D17-9459-49B639514774}"/>
              </a:ext>
            </a:extLst>
          </p:cNvPr>
          <p:cNvSpPr>
            <a:spLocks xmlns:a="http://schemas.openxmlformats.org/drawingml/2006/main" noGrp="1"/>
          </p:cNvSpPr>
          <p:nvPr/>
        </p:nvSpPr>
        <p:spPr>
          <a:xfrm xmlns:a="http://schemas.openxmlformats.org/drawingml/2006/main">
            <a:off x="6667500" y="238125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・台本の長さが変わると分母も変わる</a:t>
            </a:r>
          </a:p>
        </p:txBody>
      </p:sp>
      <p:sp>
        <p:nvSpPr>
          <p:cNvPr id="11" name="limit-3">
            <a:extLst xmlns:a="http://schemas.openxmlformats.org/drawingml/2006/main">
              <a:ext uri="{FF2B5EF4-FFF2-40B4-BE49-F238E27FC236}">
                <a16:creationId xmlns:a16="http://schemas.microsoft.com/office/drawing/2014/main" id="{CD0B88AA-B893-4A8E-9CA4-5183ED928CF9}"/>
              </a:ext>
            </a:extLst>
          </p:cNvPr>
          <p:cNvSpPr>
            <a:spLocks xmlns:a="http://schemas.openxmlformats.org/drawingml/2006/main" noGrp="1"/>
          </p:cNvSpPr>
          <p:nvPr/>
        </p:nvSpPr>
        <p:spPr>
          <a:xfrm xmlns:a="http://schemas.openxmlformats.org/drawingml/2006/main">
            <a:off x="6667500" y="2905125"/>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・編集時間や意味的な品質は測れない</a:t>
            </a:r>
          </a:p>
        </p:txBody>
      </p:sp>
      <p:sp>
        <p:nvSpPr>
          <p:cNvPr id="12" name="choice-h">
            <a:extLst xmlns:a="http://schemas.openxmlformats.org/drawingml/2006/main">
              <a:ext uri="{FF2B5EF4-FFF2-40B4-BE49-F238E27FC236}">
                <a16:creationId xmlns:a16="http://schemas.microsoft.com/office/drawing/2014/main" id="{6084DF2B-4D93-4BAC-BFE2-96156B8797A0}"/>
              </a:ext>
            </a:extLst>
          </p:cNvPr>
          <p:cNvSpPr>
            <a:spLocks xmlns:a="http://schemas.openxmlformats.org/drawingml/2006/main" noGrp="1"/>
          </p:cNvSpPr>
          <p:nvPr/>
        </p:nvSpPr>
        <p:spPr>
          <a:xfrm xmlns:a="http://schemas.openxmlformats.org/drawingml/2006/main">
            <a:off x="6667500" y="37623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そのため併せて示すもの</a:t>
            </a:r>
          </a:p>
        </p:txBody>
      </p:sp>
      <p:sp>
        <p:nvSpPr>
          <p:cNvPr id="13" name="choice">
            <a:extLst xmlns:a="http://schemas.openxmlformats.org/drawingml/2006/main">
              <a:ext uri="{FF2B5EF4-FFF2-40B4-BE49-F238E27FC236}">
                <a16:creationId xmlns:a16="http://schemas.microsoft.com/office/drawing/2014/main" id="{31862C73-0BF7-4356-B2F7-456F3DC0C682}"/>
              </a:ext>
            </a:extLst>
          </p:cNvPr>
          <p:cNvSpPr>
            <a:spLocks xmlns:a="http://schemas.openxmlformats.org/drawingml/2006/main" noGrp="1"/>
          </p:cNvSpPr>
          <p:nvPr/>
        </p:nvSpPr>
        <p:spPr>
          <a:xfrm xmlns:a="http://schemas.openxmlformats.org/drawingml/2006/main">
            <a:off x="6667500" y="4286250"/>
            <a:ext cx="4667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・編集前後の具体例</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・補助指標としての編集距離</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・Controlと実利用側の全文数・修正文数</a:t>
            </a:r>
          </a:p>
        </p:txBody>
      </p:sp>
      <p:sp>
        <p:nvSpPr>
          <p:cNvPr id="14" name="appendix-foot">
            <a:extLst xmlns:a="http://schemas.openxmlformats.org/drawingml/2006/main">
              <a:ext uri="{FF2B5EF4-FFF2-40B4-BE49-F238E27FC236}">
                <a16:creationId xmlns:a16="http://schemas.microsoft.com/office/drawing/2014/main" id="{1883545F-A788-454B-BD97-FC3C7506613A}"/>
              </a:ext>
            </a:extLst>
          </p:cNvPr>
          <p:cNvSpPr>
            <a:spLocks xmlns:a="http://schemas.openxmlformats.org/drawingml/2006/main" noGrp="1"/>
          </p:cNvSpPr>
          <p:nvPr/>
        </p:nvSpPr>
        <p:spPr>
          <a:xfrm xmlns:a="http://schemas.openxmlformats.org/drawingml/2006/main">
            <a:off x="2190750" y="585787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次の実ユーザ実験では、編集時間と主観評価も追加する</a:t>
            </a:r>
          </a:p>
        </p:txBody>
      </p:sp>
    </p:spTree>
    <p:extLst>
      <p:ext uri="{BB962C8B-B14F-4D97-AF65-F5344CB8AC3E}">
        <p14:creationId xmlns:p14="http://schemas.microsoft.com/office/powerpoint/2010/main" val="8656001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13">
            <a:extLst xmlns:a="http://schemas.openxmlformats.org/drawingml/2006/main">
              <a:ext uri="{FF2B5EF4-FFF2-40B4-BE49-F238E27FC236}">
                <a16:creationId xmlns:a16="http://schemas.microsoft.com/office/drawing/2014/main" id="{9181F222-59B6-449A-B063-A7BB65B6B719}"/>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補足：正規化編集距離で抽出対象を選ぶ</a:t>
            </a:r>
          </a:p>
        </p:txBody>
      </p:sp>
      <p:sp>
        <p:nvSpPr>
          <p:cNvPr id="2" name="page-13">
            <a:extLst xmlns:a="http://schemas.openxmlformats.org/drawingml/2006/main">
              <a:ext uri="{FF2B5EF4-FFF2-40B4-BE49-F238E27FC236}">
                <a16:creationId xmlns:a16="http://schemas.microsoft.com/office/drawing/2014/main" id="{16BEE137-6471-40B1-ACAB-A2FBC8024AEC}"/>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13</a:t>
            </a:r>
          </a:p>
        </p:txBody>
      </p:sp>
      <p:sp>
        <p:nvSpPr>
          <p:cNvPr id="3" name="ed-formula">
            <a:extLst xmlns:a="http://schemas.openxmlformats.org/drawingml/2006/main">
              <a:ext uri="{FF2B5EF4-FFF2-40B4-BE49-F238E27FC236}">
                <a16:creationId xmlns:a16="http://schemas.microsoft.com/office/drawing/2014/main" id="{4DD732C7-83A9-4238-9B90-1803793402C1}"/>
              </a:ext>
            </a:extLst>
          </p:cNvPr>
          <p:cNvSpPr>
            <a:spLocks xmlns:a="http://schemas.openxmlformats.org/drawingml/2006/main" noGrp="1"/>
          </p:cNvSpPr>
          <p:nvPr/>
        </p:nvSpPr>
        <p:spPr>
          <a:xfrm xmlns:a="http://schemas.openxmlformats.org/drawingml/2006/main">
            <a:off x="1095375" y="1285875"/>
            <a:ext cx="1000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d(B,A) ＝ Lev(T(B), T(A)) ÷ max(|T(B)|, |T(A)|, 1)</a:t>
            </a:r>
          </a:p>
        </p:txBody>
      </p:sp>
      <p:sp>
        <p:nvSpPr>
          <p:cNvPr id="4" name="ed-def">
            <a:extLst xmlns:a="http://schemas.openxmlformats.org/drawingml/2006/main">
              <a:ext uri="{FF2B5EF4-FFF2-40B4-BE49-F238E27FC236}">
                <a16:creationId xmlns:a16="http://schemas.microsoft.com/office/drawing/2014/main" id="{5291DA6F-8A73-4754-8BF3-E2F143A7A16F}"/>
              </a:ext>
            </a:extLst>
          </p:cNvPr>
          <p:cNvSpPr>
            <a:spLocks xmlns:a="http://schemas.openxmlformats.org/drawingml/2006/main" noGrp="1"/>
          </p:cNvSpPr>
          <p:nvPr/>
        </p:nvSpPr>
        <p:spPr>
          <a:xfrm xmlns:a="http://schemas.openxmlformats.org/drawingml/2006/main">
            <a:off x="1524000" y="1952625"/>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T：o200k_baseによるトークン化　　Lev：追加・削除・置換の最小回数</a:t>
            </a:r>
          </a:p>
        </p:txBody>
      </p:sp>
      <p:sp>
        <p:nvSpPr>
          <p:cNvPr id="5" name="ed-rule">
            <a:extLst xmlns:a="http://schemas.openxmlformats.org/drawingml/2006/main">
              <a:ext uri="{FF2B5EF4-FFF2-40B4-BE49-F238E27FC236}">
                <a16:creationId xmlns:a16="http://schemas.microsoft.com/office/drawing/2014/main" id="{3CBD6855-29BD-47DF-BC07-E7181FB33C8C}"/>
              </a:ext>
            </a:extLst>
          </p:cNvPr>
          <p:cNvSpPr>
            <a:spLocks xmlns:a="http://schemas.openxmlformats.org/drawingml/2006/main" noGrp="1"/>
          </p:cNvSpPr>
          <p:nvPr/>
        </p:nvSpPr>
        <p:spPr>
          <a:xfrm xmlns:a="http://schemas.openxmlformats.org/drawingml/2006/main">
            <a:off x="952500" y="2714625"/>
            <a:ext cx="4762500" cy="17621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ed-rule-h">
            <a:extLst xmlns:a="http://schemas.openxmlformats.org/drawingml/2006/main">
              <a:ext uri="{FF2B5EF4-FFF2-40B4-BE49-F238E27FC236}">
                <a16:creationId xmlns:a16="http://schemas.microsoft.com/office/drawing/2014/main" id="{A4269BDE-9EFC-4171-BDF4-6D7F866C48CA}"/>
              </a:ext>
            </a:extLst>
          </p:cNvPr>
          <p:cNvSpPr>
            <a:spLocks xmlns:a="http://schemas.openxmlformats.org/drawingml/2006/main" noGrp="1"/>
          </p:cNvSpPr>
          <p:nvPr/>
        </p:nvSpPr>
        <p:spPr>
          <a:xfrm xmlns:a="http://schemas.openxmlformats.org/drawingml/2006/main">
            <a:off x="1190625" y="300037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抽出ルール</a:t>
            </a:r>
          </a:p>
        </p:txBody>
      </p:sp>
      <p:sp>
        <p:nvSpPr>
          <p:cNvPr id="7" name="ed-rule-t">
            <a:extLst xmlns:a="http://schemas.openxmlformats.org/drawingml/2006/main">
              <a:ext uri="{FF2B5EF4-FFF2-40B4-BE49-F238E27FC236}">
                <a16:creationId xmlns:a16="http://schemas.microsoft.com/office/drawing/2014/main" id="{2C4C6769-F9DD-4CE1-8F07-40645EBE8430}"/>
              </a:ext>
            </a:extLst>
          </p:cNvPr>
          <p:cNvSpPr>
            <a:spLocks xmlns:a="http://schemas.openxmlformats.org/drawingml/2006/main" noGrp="1"/>
          </p:cNvSpPr>
          <p:nvPr/>
        </p:nvSpPr>
        <p:spPr>
          <a:xfrm xmlns:a="http://schemas.openxmlformats.org/drawingml/2006/main">
            <a:off x="1190625" y="3524250"/>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d ＞ 0.03：LLMで好みを推定</a:t>
            </a:r>
          </a:p>
          <a:p xmlns:a="http://schemas.openxmlformats.org/drawingml/2006/main">
            <a:r>
              <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d ≦ 0.03：新しい好みは抽出しない</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（既に適用した好みがあれば再利用扱い）</a:t>
            </a:r>
          </a:p>
        </p:txBody>
      </p:sp>
      <p:sp>
        <p:nvSpPr>
          <p:cNvPr id="8" name="ed-fallback">
            <a:extLst xmlns:a="http://schemas.openxmlformats.org/drawingml/2006/main">
              <a:ext uri="{FF2B5EF4-FFF2-40B4-BE49-F238E27FC236}">
                <a16:creationId xmlns:a16="http://schemas.microsoft.com/office/drawing/2014/main" id="{E8ABC22E-0606-474B-81AC-F53EADFA8B51}"/>
              </a:ext>
            </a:extLst>
          </p:cNvPr>
          <p:cNvSpPr>
            <a:spLocks xmlns:a="http://schemas.openxmlformats.org/drawingml/2006/main" noGrp="1"/>
          </p:cNvSpPr>
          <p:nvPr/>
        </p:nvSpPr>
        <p:spPr>
          <a:xfrm xmlns:a="http://schemas.openxmlformats.org/drawingml/2006/main">
            <a:off x="6477000" y="2714625"/>
            <a:ext cx="4762500" cy="1762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ed-fallback-h">
            <a:extLst xmlns:a="http://schemas.openxmlformats.org/drawingml/2006/main">
              <a:ext uri="{FF2B5EF4-FFF2-40B4-BE49-F238E27FC236}">
                <a16:creationId xmlns:a16="http://schemas.microsoft.com/office/drawing/2014/main" id="{A8247460-09F9-4A1B-8E2B-035F37848C98}"/>
              </a:ext>
            </a:extLst>
          </p:cNvPr>
          <p:cNvSpPr>
            <a:spLocks xmlns:a="http://schemas.openxmlformats.org/drawingml/2006/main" noGrp="1"/>
          </p:cNvSpPr>
          <p:nvPr/>
        </p:nvSpPr>
        <p:spPr>
          <a:xfrm xmlns:a="http://schemas.openxmlformats.org/drawingml/2006/main">
            <a:off x="6715125" y="300037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実装上の例外</a:t>
            </a:r>
          </a:p>
        </p:txBody>
      </p:sp>
      <p:sp>
        <p:nvSpPr>
          <p:cNvPr id="10" name="ed-fallback-t">
            <a:extLst xmlns:a="http://schemas.openxmlformats.org/drawingml/2006/main">
              <a:ext uri="{FF2B5EF4-FFF2-40B4-BE49-F238E27FC236}">
                <a16:creationId xmlns:a16="http://schemas.microsoft.com/office/drawing/2014/main" id="{6C8C151B-08BB-4DBB-8094-6C04D6F6940A}"/>
              </a:ext>
            </a:extLst>
          </p:cNvPr>
          <p:cNvSpPr>
            <a:spLocks xmlns:a="http://schemas.openxmlformats.org/drawingml/2006/main" noGrp="1"/>
          </p:cNvSpPr>
          <p:nvPr/>
        </p:nvSpPr>
        <p:spPr>
          <a:xfrm xmlns:a="http://schemas.openxmlformats.org/drawingml/2006/main">
            <a:off x="6715125" y="3524250"/>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・両方が空／同一文なら0</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・Tokenizerが使えなければ文字単位</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・結果は小数第4位に丸める</a:t>
            </a:r>
          </a:p>
        </p:txBody>
      </p:sp>
      <p:sp>
        <p:nvSpPr>
          <p:cNvPr id="11" name="ed-note">
            <a:extLst xmlns:a="http://schemas.openxmlformats.org/drawingml/2006/main">
              <a:ext uri="{FF2B5EF4-FFF2-40B4-BE49-F238E27FC236}">
                <a16:creationId xmlns:a16="http://schemas.microsoft.com/office/drawing/2014/main" id="{58E03E69-9F60-415F-AF5C-1E4017A83778}"/>
              </a:ext>
            </a:extLst>
          </p:cNvPr>
          <p:cNvSpPr>
            <a:spLocks xmlns:a="http://schemas.openxmlformats.org/drawingml/2006/main" noGrp="1"/>
          </p:cNvSpPr>
          <p:nvPr/>
        </p:nvSpPr>
        <p:spPr>
          <a:xfrm xmlns:a="http://schemas.openxmlformats.org/drawingml/2006/main">
            <a:off x="1428750" y="5334000"/>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目的は編集量の評価ではなく、軽微な修正を好み抽出から除くための前処理</a:t>
            </a:r>
          </a:p>
        </p:txBody>
      </p:sp>
    </p:spTree>
    <p:extLst>
      <p:ext uri="{BB962C8B-B14F-4D97-AF65-F5344CB8AC3E}">
        <p14:creationId xmlns:p14="http://schemas.microsoft.com/office/powerpoint/2010/main" val="3173440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14">
            <a:extLst xmlns:a="http://schemas.openxmlformats.org/drawingml/2006/main">
              <a:ext uri="{FF2B5EF4-FFF2-40B4-BE49-F238E27FC236}">
                <a16:creationId xmlns:a16="http://schemas.microsoft.com/office/drawing/2014/main" id="{081B0B81-4C5A-40BE-91AE-C5C8514329F5}"/>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補足：LLMは編集意図と適用範囲をJSONで返す</a:t>
            </a:r>
          </a:p>
        </p:txBody>
      </p:sp>
      <p:sp>
        <p:nvSpPr>
          <p:cNvPr id="2" name="page-14">
            <a:extLst xmlns:a="http://schemas.openxmlformats.org/drawingml/2006/main">
              <a:ext uri="{FF2B5EF4-FFF2-40B4-BE49-F238E27FC236}">
                <a16:creationId xmlns:a16="http://schemas.microsoft.com/office/drawing/2014/main" id="{02F52B61-A2A2-4404-B021-3800317B4B49}"/>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14</a:t>
            </a:r>
          </a:p>
        </p:txBody>
      </p:sp>
      <p:sp>
        <p:nvSpPr>
          <p:cNvPr id="3" name="ind-input-h">
            <a:extLst xmlns:a="http://schemas.openxmlformats.org/drawingml/2006/main">
              <a:ext uri="{FF2B5EF4-FFF2-40B4-BE49-F238E27FC236}">
                <a16:creationId xmlns:a16="http://schemas.microsoft.com/office/drawing/2014/main" id="{0F302223-381E-408A-BB92-FB1F6A22411B}"/>
              </a:ext>
            </a:extLst>
          </p:cNvPr>
          <p:cNvSpPr>
            <a:spLocks xmlns:a="http://schemas.openxmlformats.org/drawingml/2006/main" noGrp="1"/>
          </p:cNvSpPr>
          <p:nvPr/>
        </p:nvSpPr>
        <p:spPr>
          <a:xfrm xmlns:a="http://schemas.openxmlformats.org/drawingml/2006/main">
            <a:off x="619125" y="11906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入力</a:t>
            </a:r>
          </a:p>
        </p:txBody>
      </p:sp>
      <p:sp>
        <p:nvSpPr>
          <p:cNvPr id="4" name="ind-input">
            <a:extLst xmlns:a="http://schemas.openxmlformats.org/drawingml/2006/main">
              <a:ext uri="{FF2B5EF4-FFF2-40B4-BE49-F238E27FC236}">
                <a16:creationId xmlns:a16="http://schemas.microsoft.com/office/drawing/2014/main" id="{2CB3CCC3-BED6-4839-B91C-DA4ACF95056E}"/>
              </a:ext>
            </a:extLst>
          </p:cNvPr>
          <p:cNvSpPr>
            <a:spLocks xmlns:a="http://schemas.openxmlformats.org/drawingml/2006/main" noGrp="1"/>
          </p:cNvSpPr>
          <p:nvPr/>
        </p:nvSpPr>
        <p:spPr>
          <a:xfrm xmlns:a="http://schemas.openxmlformats.org/drawingml/2006/main">
            <a:off x="619125" y="1666875"/>
            <a:ext cx="3143250" cy="3143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ind-input-t">
            <a:extLst xmlns:a="http://schemas.openxmlformats.org/drawingml/2006/main">
              <a:ext uri="{FF2B5EF4-FFF2-40B4-BE49-F238E27FC236}">
                <a16:creationId xmlns:a16="http://schemas.microsoft.com/office/drawing/2014/main" id="{78FA2A3A-202A-4911-82B8-A1B685379025}"/>
              </a:ext>
            </a:extLst>
          </p:cNvPr>
          <p:cNvSpPr>
            <a:spLocks xmlns:a="http://schemas.openxmlformats.org/drawingml/2006/main" noGrp="1"/>
          </p:cNvSpPr>
          <p:nvPr/>
        </p:nvSpPr>
        <p:spPr>
          <a:xfrm xmlns:a="http://schemas.openxmlformats.org/drawingml/2006/main">
            <a:off x="904875" y="2047875"/>
            <a:ext cx="2571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・編集前の台本文</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・編集後の台本文</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・生成モード</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・難易度／詳細度</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・利用目的</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・スライド番号／文ID</a:t>
            </a:r>
          </a:p>
        </p:txBody>
      </p:sp>
      <p:sp>
        <p:nvSpPr>
          <p:cNvPr id="6" name="ind-arrow">
            <a:extLst xmlns:a="http://schemas.openxmlformats.org/drawingml/2006/main">
              <a:ext uri="{FF2B5EF4-FFF2-40B4-BE49-F238E27FC236}">
                <a16:creationId xmlns:a16="http://schemas.microsoft.com/office/drawing/2014/main" id="{4FC81928-B8F3-4BA3-8C7E-3C2AB7027900}"/>
              </a:ext>
            </a:extLst>
          </p:cNvPr>
          <p:cNvSpPr>
            <a:spLocks xmlns:a="http://schemas.openxmlformats.org/drawingml/2006/main" noGrp="1"/>
          </p:cNvSpPr>
          <p:nvPr/>
        </p:nvSpPr>
        <p:spPr>
          <a:xfrm xmlns:a="http://schemas.openxmlformats.org/drawingml/2006/main">
            <a:off x="4000500" y="3190875"/>
            <a:ext cx="6667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ind-model">
            <a:extLst xmlns:a="http://schemas.openxmlformats.org/drawingml/2006/main">
              <a:ext uri="{FF2B5EF4-FFF2-40B4-BE49-F238E27FC236}">
                <a16:creationId xmlns:a16="http://schemas.microsoft.com/office/drawing/2014/main" id="{E1FDF7E5-2FD5-4F60-AE7A-A34BF627AD07}"/>
              </a:ext>
            </a:extLst>
          </p:cNvPr>
          <p:cNvSpPr>
            <a:spLocks xmlns:a="http://schemas.openxmlformats.org/drawingml/2006/main" noGrp="1"/>
          </p:cNvSpPr>
          <p:nvPr/>
        </p:nvSpPr>
        <p:spPr>
          <a:xfrm xmlns:a="http://schemas.openxmlformats.org/drawingml/2006/main">
            <a:off x="4905375" y="2047875"/>
            <a:ext cx="2381250" cy="2286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ind-model-h">
            <a:extLst xmlns:a="http://schemas.openxmlformats.org/drawingml/2006/main">
              <a:ext uri="{FF2B5EF4-FFF2-40B4-BE49-F238E27FC236}">
                <a16:creationId xmlns:a16="http://schemas.microsoft.com/office/drawing/2014/main" id="{9AEAAAC9-6D17-4DC5-9FB1-222953EE9D51}"/>
              </a:ext>
            </a:extLst>
          </p:cNvPr>
          <p:cNvSpPr>
            <a:spLocks xmlns:a="http://schemas.openxmlformats.org/drawingml/2006/main" noGrp="1"/>
          </p:cNvSpPr>
          <p:nvPr/>
        </p:nvSpPr>
        <p:spPr>
          <a:xfrm xmlns:a="http://schemas.openxmlformats.org/drawingml/2006/main">
            <a:off x="5095875" y="2381250"/>
            <a:ext cx="2000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744"/>
          </a:bodyPr>
          <a:lstStyle xmlns:a="http://schemas.openxmlformats.org/drawingml/2006/main"/>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LLM-based</a:t>
            </a:r>
          </a:p>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Preference Induction</a:t>
            </a:r>
          </a:p>
        </p:txBody>
      </p:sp>
      <p:sp>
        <p:nvSpPr>
          <p:cNvPr id="9" name="ind-model-t">
            <a:extLst xmlns:a="http://schemas.openxmlformats.org/drawingml/2006/main">
              <a:ext uri="{FF2B5EF4-FFF2-40B4-BE49-F238E27FC236}">
                <a16:creationId xmlns:a16="http://schemas.microsoft.com/office/drawing/2014/main" id="{57E9A2D7-B60E-4A45-93A5-EC5027D6D906}"/>
              </a:ext>
            </a:extLst>
          </p:cNvPr>
          <p:cNvSpPr>
            <a:spLocks xmlns:a="http://schemas.openxmlformats.org/drawingml/2006/main" noGrp="1"/>
          </p:cNvSpPr>
          <p:nvPr/>
        </p:nvSpPr>
        <p:spPr>
          <a:xfrm xmlns:a="http://schemas.openxmlformats.org/drawingml/2006/main">
            <a:off x="5095875" y="3238500"/>
            <a:ext cx="2000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既定モデル：gpt-5</a:t>
            </a:r>
          </a:p>
          <a:p xmlns:a="http://schemas.openxmlformats.org/drawingml/2006/main">
            <a:r>
              <a:t/>
            </a:r>
          </a:p>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固定ルールではなく</a:t>
            </a:r>
          </a:p>
          <a:p xmlns:a="http://schemas.openxmlformats.org/drawingml/2006/main">
            <a:pPr algn="ctr">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編集差の意味を分類</a:t>
            </a:r>
          </a:p>
        </p:txBody>
      </p:sp>
      <p:sp>
        <p:nvSpPr>
          <p:cNvPr id="10" name="ind-arrow2">
            <a:extLst xmlns:a="http://schemas.openxmlformats.org/drawingml/2006/main">
              <a:ext uri="{FF2B5EF4-FFF2-40B4-BE49-F238E27FC236}">
                <a16:creationId xmlns:a16="http://schemas.microsoft.com/office/drawing/2014/main" id="{1D42B45F-C965-4637-A8CD-949093407C00}"/>
              </a:ext>
            </a:extLst>
          </p:cNvPr>
          <p:cNvSpPr>
            <a:spLocks xmlns:a="http://schemas.openxmlformats.org/drawingml/2006/main" noGrp="1"/>
          </p:cNvSpPr>
          <p:nvPr/>
        </p:nvSpPr>
        <p:spPr>
          <a:xfrm xmlns:a="http://schemas.openxmlformats.org/drawingml/2006/main">
            <a:off x="7524750" y="3190875"/>
            <a:ext cx="6667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ind-output-h">
            <a:extLst xmlns:a="http://schemas.openxmlformats.org/drawingml/2006/main">
              <a:ext uri="{FF2B5EF4-FFF2-40B4-BE49-F238E27FC236}">
                <a16:creationId xmlns:a16="http://schemas.microsoft.com/office/drawing/2014/main" id="{4A6DD738-B27D-4BCA-9AEC-C7F93EA44EBD}"/>
              </a:ext>
            </a:extLst>
          </p:cNvPr>
          <p:cNvSpPr>
            <a:spLocks xmlns:a="http://schemas.openxmlformats.org/drawingml/2006/main" noGrp="1"/>
          </p:cNvSpPr>
          <p:nvPr/>
        </p:nvSpPr>
        <p:spPr>
          <a:xfrm xmlns:a="http://schemas.openxmlformats.org/drawingml/2006/main">
            <a:off x="8429625" y="11906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E8A34B"/>
                </a:solidFill>
                <a:latin typeface="Helvetica Neue"/>
                <a:ea typeface="Helvetica Neue"/>
                <a:cs typeface="Helvetica Neue"/>
              </a:defRPr>
            </a:pPr>
            <a:r>
              <a:rPr sz="1800" b="1">
                <a:solidFill>
                  <a:srgbClr val="E8A34B"/>
                </a:solidFill>
                <a:latin typeface="Helvetica Neue"/>
                <a:ea typeface="Helvetica Neue"/>
                <a:cs typeface="Helvetica Neue"/>
              </a:rPr>
              <a:t>JSON出力</a:t>
            </a:r>
          </a:p>
        </p:txBody>
      </p:sp>
      <p:sp>
        <p:nvSpPr>
          <p:cNvPr id="12" name="ind-output">
            <a:extLst xmlns:a="http://schemas.openxmlformats.org/drawingml/2006/main">
              <a:ext uri="{FF2B5EF4-FFF2-40B4-BE49-F238E27FC236}">
                <a16:creationId xmlns:a16="http://schemas.microsoft.com/office/drawing/2014/main" id="{F24D7F02-45D0-4FCF-A50F-1D47D66E5A12}"/>
              </a:ext>
            </a:extLst>
          </p:cNvPr>
          <p:cNvSpPr>
            <a:spLocks xmlns:a="http://schemas.openxmlformats.org/drawingml/2006/main" noGrp="1"/>
          </p:cNvSpPr>
          <p:nvPr/>
        </p:nvSpPr>
        <p:spPr>
          <a:xfrm xmlns:a="http://schemas.openxmlformats.org/drawingml/2006/main">
            <a:off x="8429625" y="1666875"/>
            <a:ext cx="3143250" cy="3143250"/>
          </a:xfrm>
          <a:prstGeom xmlns:a="http://schemas.openxmlformats.org/drawingml/2006/main" prst="rect">
            <a:avLst/>
          </a:prstGeom>
          <a:solidFill xmlns:a="http://schemas.openxmlformats.org/drawingml/2006/main">
            <a:srgbClr val="F9E6C8"/>
          </a:solidFill>
          <a:ln xmlns:a="http://schemas.openxmlformats.org/drawingml/2006/main" w="0">
            <a:noFill/>
            <a:prstDash val="solid"/>
          </a:ln>
        </p:spPr>
      </p:sp>
      <p:sp>
        <p:nvSpPr>
          <p:cNvPr id="13" name="ind-output-t">
            <a:extLst xmlns:a="http://schemas.openxmlformats.org/drawingml/2006/main">
              <a:ext uri="{FF2B5EF4-FFF2-40B4-BE49-F238E27FC236}">
                <a16:creationId xmlns:a16="http://schemas.microsoft.com/office/drawing/2014/main" id="{3FEE8F73-9944-4F4D-9053-60EE20E45899}"/>
              </a:ext>
            </a:extLst>
          </p:cNvPr>
          <p:cNvSpPr>
            <a:spLocks xmlns:a="http://schemas.openxmlformats.org/drawingml/2006/main" noGrp="1"/>
          </p:cNvSpPr>
          <p:nvPr/>
        </p:nvSpPr>
        <p:spPr>
          <a:xfrm xmlns:a="http://schemas.openxmlformats.org/drawingml/2006/main">
            <a:off x="8667750" y="1952625"/>
            <a:ext cx="26670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kind:</a:t>
            </a:r>
          </a:p>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 preference / content_correction /</a:t>
            </a:r>
          </a:p>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 local_instruction / uncertain</a:t>
            </a:r>
          </a:p>
          <a:p xmlns:a="http://schemas.openxmlformats.org/drawingml/2006/main">
            <a:r>
              <a:t/>
            </a:r>
          </a:p>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scope:</a:t>
            </a:r>
          </a:p>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 user / project / mode /</a:t>
            </a:r>
          </a:p>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 difficulty / one_time</a:t>
            </a:r>
          </a:p>
          <a:p xmlns:a="http://schemas.openxmlformats.org/drawingml/2006/main">
            <a:r>
              <a:t/>
            </a:r>
          </a:p>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preference・reason</a:t>
            </a:r>
          </a:p>
        </p:txBody>
      </p:sp>
      <p:sp>
        <p:nvSpPr>
          <p:cNvPr id="14" name="ind-rule">
            <a:extLst xmlns:a="http://schemas.openxmlformats.org/drawingml/2006/main">
              <a:ext uri="{FF2B5EF4-FFF2-40B4-BE49-F238E27FC236}">
                <a16:creationId xmlns:a16="http://schemas.microsoft.com/office/drawing/2014/main" id="{AA076A07-B025-4DF4-A3DC-B2C89C06FBB0}"/>
              </a:ext>
            </a:extLst>
          </p:cNvPr>
          <p:cNvSpPr>
            <a:spLocks xmlns:a="http://schemas.openxmlformats.org/drawingml/2006/main" noGrp="1"/>
          </p:cNvSpPr>
          <p:nvPr/>
        </p:nvSpPr>
        <p:spPr>
          <a:xfrm xmlns:a="http://schemas.openxmlformats.org/drawingml/2006/main">
            <a:off x="1428750" y="5429250"/>
            <a:ext cx="933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kind = preference のときだけ preference_text を保存し、それ以外は null にする</a:t>
            </a:r>
          </a:p>
        </p:txBody>
      </p:sp>
    </p:spTree>
    <p:extLst>
      <p:ext uri="{BB962C8B-B14F-4D97-AF65-F5344CB8AC3E}">
        <p14:creationId xmlns:p14="http://schemas.microsoft.com/office/powerpoint/2010/main" val="208880791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15">
            <a:extLst xmlns:a="http://schemas.openxmlformats.org/drawingml/2006/main">
              <a:ext uri="{FF2B5EF4-FFF2-40B4-BE49-F238E27FC236}">
                <a16:creationId xmlns:a16="http://schemas.microsoft.com/office/drawing/2014/main" id="{934B8F74-045C-4F19-AC09-5D3B3DEFE10D}"/>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補足：scopeで絞り、コサイン類似度で上位8件を選ぶ</a:t>
            </a:r>
          </a:p>
        </p:txBody>
      </p:sp>
      <p:sp>
        <p:nvSpPr>
          <p:cNvPr id="2" name="page-15">
            <a:extLst xmlns:a="http://schemas.openxmlformats.org/drawingml/2006/main">
              <a:ext uri="{FF2B5EF4-FFF2-40B4-BE49-F238E27FC236}">
                <a16:creationId xmlns:a16="http://schemas.microsoft.com/office/drawing/2014/main" id="{2EEA358A-AC44-4700-ADF9-69C0822590A7}"/>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15</a:t>
            </a:r>
          </a:p>
        </p:txBody>
      </p:sp>
      <p:sp>
        <p:nvSpPr>
          <p:cNvPr id="3" name="ret-funnel">
            <a:extLst xmlns:a="http://schemas.openxmlformats.org/drawingml/2006/main">
              <a:ext uri="{FF2B5EF4-FFF2-40B4-BE49-F238E27FC236}">
                <a16:creationId xmlns:a16="http://schemas.microsoft.com/office/drawing/2014/main" id="{B6A403B9-958D-44B9-A479-648442B8F64A}"/>
              </a:ext>
            </a:extLst>
          </p:cNvPr>
          <p:cNvSpPr>
            <a:spLocks xmlns:a="http://schemas.openxmlformats.org/drawingml/2006/main" noGrp="1"/>
          </p:cNvSpPr>
          <p:nvPr/>
        </p:nvSpPr>
        <p:spPr>
          <a:xfrm xmlns:a="http://schemas.openxmlformats.org/drawingml/2006/main">
            <a:off x="666750" y="1190625"/>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同一ユーザの新しい履歴 最大80件</a:t>
            </a:r>
          </a:p>
        </p:txBody>
      </p:sp>
      <p:sp>
        <p:nvSpPr>
          <p:cNvPr id="4" name="ret-step1">
            <a:extLst xmlns:a="http://schemas.openxmlformats.org/drawingml/2006/main">
              <a:ext uri="{FF2B5EF4-FFF2-40B4-BE49-F238E27FC236}">
                <a16:creationId xmlns:a16="http://schemas.microsoft.com/office/drawing/2014/main" id="{CBBAE3A9-4730-4986-8992-BE8D879B5EB7}"/>
              </a:ext>
            </a:extLst>
          </p:cNvPr>
          <p:cNvSpPr>
            <a:spLocks xmlns:a="http://schemas.openxmlformats.org/drawingml/2006/main" noGrp="1"/>
          </p:cNvSpPr>
          <p:nvPr/>
        </p:nvSpPr>
        <p:spPr>
          <a:xfrm xmlns:a="http://schemas.openxmlformats.org/drawingml/2006/main">
            <a:off x="904875" y="1857375"/>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① kind = preference かつ本文あり</a:t>
            </a:r>
          </a:p>
        </p:txBody>
      </p:sp>
      <p:sp>
        <p:nvSpPr>
          <p:cNvPr id="5" name="ret-step2">
            <a:extLst xmlns:a="http://schemas.openxmlformats.org/drawingml/2006/main">
              <a:ext uri="{FF2B5EF4-FFF2-40B4-BE49-F238E27FC236}">
                <a16:creationId xmlns:a16="http://schemas.microsoft.com/office/drawing/2014/main" id="{BDE89014-0344-4E0B-B9B3-5A9B29BAB9F9}"/>
              </a:ext>
            </a:extLst>
          </p:cNvPr>
          <p:cNvSpPr>
            <a:spLocks xmlns:a="http://schemas.openxmlformats.org/drawingml/2006/main" noGrp="1"/>
          </p:cNvSpPr>
          <p:nvPr/>
        </p:nvSpPr>
        <p:spPr>
          <a:xfrm xmlns:a="http://schemas.openxmlformats.org/drawingml/2006/main">
            <a:off x="904875" y="2333625"/>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② scopeが現在の条件と一致</a:t>
            </a:r>
          </a:p>
        </p:txBody>
      </p:sp>
      <p:sp>
        <p:nvSpPr>
          <p:cNvPr id="6" name="ret-step3">
            <a:extLst xmlns:a="http://schemas.openxmlformats.org/drawingml/2006/main">
              <a:ext uri="{FF2B5EF4-FFF2-40B4-BE49-F238E27FC236}">
                <a16:creationId xmlns:a16="http://schemas.microsoft.com/office/drawing/2014/main" id="{5837F8F9-5DBC-4587-886E-F132F05964BC}"/>
              </a:ext>
            </a:extLst>
          </p:cNvPr>
          <p:cNvSpPr>
            <a:spLocks xmlns:a="http://schemas.openxmlformats.org/drawingml/2006/main" noGrp="1"/>
          </p:cNvSpPr>
          <p:nvPr/>
        </p:nvSpPr>
        <p:spPr>
          <a:xfrm xmlns:a="http://schemas.openxmlformats.org/drawingml/2006/main">
            <a:off x="904875" y="2809875"/>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③ 文脈埋め込みの類似度で降順</a:t>
            </a:r>
          </a:p>
        </p:txBody>
      </p:sp>
      <p:sp>
        <p:nvSpPr>
          <p:cNvPr id="7" name="ret-step4">
            <a:extLst xmlns:a="http://schemas.openxmlformats.org/drawingml/2006/main">
              <a:ext uri="{FF2B5EF4-FFF2-40B4-BE49-F238E27FC236}">
                <a16:creationId xmlns:a16="http://schemas.microsoft.com/office/drawing/2014/main" id="{3ED3F081-06D6-4A53-AF27-7F5A1C54344F}"/>
              </a:ext>
            </a:extLst>
          </p:cNvPr>
          <p:cNvSpPr>
            <a:spLocks xmlns:a="http://schemas.openxmlformats.org/drawingml/2006/main" noGrp="1"/>
          </p:cNvSpPr>
          <p:nvPr/>
        </p:nvSpPr>
        <p:spPr>
          <a:xfrm xmlns:a="http://schemas.openxmlformats.org/drawingml/2006/main">
            <a:off x="904875" y="3286125"/>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④ 同値なら新しい履歴を優先</a:t>
            </a:r>
          </a:p>
        </p:txBody>
      </p:sp>
      <p:sp>
        <p:nvSpPr>
          <p:cNvPr id="8" name="ret-top">
            <a:extLst xmlns:a="http://schemas.openxmlformats.org/drawingml/2006/main">
              <a:ext uri="{FF2B5EF4-FFF2-40B4-BE49-F238E27FC236}">
                <a16:creationId xmlns:a16="http://schemas.microsoft.com/office/drawing/2014/main" id="{D77443B3-CCED-47B1-8068-73CBDEBF5562}"/>
              </a:ext>
            </a:extLst>
          </p:cNvPr>
          <p:cNvSpPr>
            <a:spLocks xmlns:a="http://schemas.openxmlformats.org/drawingml/2006/main" noGrp="1"/>
          </p:cNvSpPr>
          <p:nvPr/>
        </p:nvSpPr>
        <p:spPr>
          <a:xfrm xmlns:a="http://schemas.openxmlformats.org/drawingml/2006/main">
            <a:off x="904875" y="3905250"/>
            <a:ext cx="3619500" cy="666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9" name="ret-top-t">
            <a:extLst xmlns:a="http://schemas.openxmlformats.org/drawingml/2006/main">
              <a:ext uri="{FF2B5EF4-FFF2-40B4-BE49-F238E27FC236}">
                <a16:creationId xmlns:a16="http://schemas.microsoft.com/office/drawing/2014/main" id="{9CF5F20B-5DDD-4C98-B224-43C2FA2796AF}"/>
              </a:ext>
            </a:extLst>
          </p:cNvPr>
          <p:cNvSpPr>
            <a:spLocks xmlns:a="http://schemas.openxmlformats.org/drawingml/2006/main" noGrp="1"/>
          </p:cNvSpPr>
          <p:nvPr/>
        </p:nvSpPr>
        <p:spPr>
          <a:xfrm xmlns:a="http://schemas.openxmlformats.org/drawingml/2006/main">
            <a:off x="1095375" y="40957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上位8件を台本生成へ</a:t>
            </a:r>
          </a:p>
        </p:txBody>
      </p:sp>
      <p:sp>
        <p:nvSpPr>
          <p:cNvPr id="10" name="cos-formula">
            <a:extLst xmlns:a="http://schemas.openxmlformats.org/drawingml/2006/main">
              <a:ext uri="{FF2B5EF4-FFF2-40B4-BE49-F238E27FC236}">
                <a16:creationId xmlns:a16="http://schemas.microsoft.com/office/drawing/2014/main" id="{337E477D-1D40-4070-AFDD-2BE48BEBFA41}"/>
              </a:ext>
            </a:extLst>
          </p:cNvPr>
          <p:cNvSpPr>
            <a:spLocks xmlns:a="http://schemas.openxmlformats.org/drawingml/2006/main" noGrp="1"/>
          </p:cNvSpPr>
          <p:nvPr/>
        </p:nvSpPr>
        <p:spPr>
          <a:xfrm xmlns:a="http://schemas.openxmlformats.org/drawingml/2006/main">
            <a:off x="5810250" y="1381125"/>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sim(q,m) ＝ (q・m) ÷ (||q||₂ ||m||₂)</a:t>
            </a:r>
          </a:p>
        </p:txBody>
      </p:sp>
      <p:sp>
        <p:nvSpPr>
          <p:cNvPr id="11" name="cos-def">
            <a:extLst xmlns:a="http://schemas.openxmlformats.org/drawingml/2006/main">
              <a:ext uri="{FF2B5EF4-FFF2-40B4-BE49-F238E27FC236}">
                <a16:creationId xmlns:a16="http://schemas.microsoft.com/office/drawing/2014/main" id="{AFC098B3-FEFD-4370-964B-4B5EB0E0E913}"/>
              </a:ext>
            </a:extLst>
          </p:cNvPr>
          <p:cNvSpPr>
            <a:spLocks xmlns:a="http://schemas.openxmlformats.org/drawingml/2006/main" noGrp="1"/>
          </p:cNvSpPr>
          <p:nvPr/>
        </p:nvSpPr>
        <p:spPr>
          <a:xfrm xmlns:a="http://schemas.openxmlformats.org/drawingml/2006/main">
            <a:off x="6572250" y="2095500"/>
            <a:ext cx="3810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q：今回の生成条件の埋め込み</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m：保存された編集文脈の埋め込み</a:t>
            </a:r>
          </a:p>
        </p:txBody>
      </p:sp>
      <p:sp>
        <p:nvSpPr>
          <p:cNvPr id="12" name="embed">
            <a:extLst xmlns:a="http://schemas.openxmlformats.org/drawingml/2006/main">
              <a:ext uri="{FF2B5EF4-FFF2-40B4-BE49-F238E27FC236}">
                <a16:creationId xmlns:a16="http://schemas.microsoft.com/office/drawing/2014/main" id="{2797F695-63CB-490F-B18A-7F03FBEC5761}"/>
              </a:ext>
            </a:extLst>
          </p:cNvPr>
          <p:cNvSpPr>
            <a:spLocks xmlns:a="http://schemas.openxmlformats.org/drawingml/2006/main" noGrp="1"/>
          </p:cNvSpPr>
          <p:nvPr/>
        </p:nvSpPr>
        <p:spPr>
          <a:xfrm xmlns:a="http://schemas.openxmlformats.org/drawingml/2006/main">
            <a:off x="5905500" y="3048000"/>
            <a:ext cx="5143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embed-t">
            <a:extLst xmlns:a="http://schemas.openxmlformats.org/drawingml/2006/main">
              <a:ext uri="{FF2B5EF4-FFF2-40B4-BE49-F238E27FC236}">
                <a16:creationId xmlns:a16="http://schemas.microsoft.com/office/drawing/2014/main" id="{148F83FD-27F0-448F-BF95-C89D25719A97}"/>
              </a:ext>
            </a:extLst>
          </p:cNvPr>
          <p:cNvSpPr>
            <a:spLocks xmlns:a="http://schemas.openxmlformats.org/drawingml/2006/main" noGrp="1"/>
          </p:cNvSpPr>
          <p:nvPr/>
        </p:nvSpPr>
        <p:spPr>
          <a:xfrm xmlns:a="http://schemas.openxmlformats.org/drawingml/2006/main">
            <a:off x="6143625" y="3305175"/>
            <a:ext cx="466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62"/>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Embedding model：text-embedding-3-small</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mode・difficulty・detail・usage_context等をベクトル化</a:t>
            </a:r>
          </a:p>
        </p:txBody>
      </p:sp>
      <p:sp>
        <p:nvSpPr>
          <p:cNvPr id="14" name="ret-limit">
            <a:extLst xmlns:a="http://schemas.openxmlformats.org/drawingml/2006/main">
              <a:ext uri="{FF2B5EF4-FFF2-40B4-BE49-F238E27FC236}">
                <a16:creationId xmlns:a16="http://schemas.microsoft.com/office/drawing/2014/main" id="{9ABFDED4-9036-409A-807C-5352B15FB403}"/>
              </a:ext>
            </a:extLst>
          </p:cNvPr>
          <p:cNvSpPr>
            <a:spLocks xmlns:a="http://schemas.openxmlformats.org/drawingml/2006/main" noGrp="1"/>
          </p:cNvSpPr>
          <p:nvPr/>
        </p:nvSpPr>
        <p:spPr>
          <a:xfrm xmlns:a="http://schemas.openxmlformats.org/drawingml/2006/main">
            <a:off x="5905500" y="4476750"/>
            <a:ext cx="5143500" cy="952500"/>
          </a:xfrm>
          <a:prstGeom xmlns:a="http://schemas.openxmlformats.org/drawingml/2006/main" prst="rect">
            <a:avLst/>
          </a:prstGeom>
          <a:solidFill xmlns:a="http://schemas.openxmlformats.org/drawingml/2006/main">
            <a:srgbClr val="F9E6C8"/>
          </a:solidFill>
          <a:ln xmlns:a="http://schemas.openxmlformats.org/drawingml/2006/main" w="0">
            <a:noFill/>
            <a:prstDash val="solid"/>
          </a:ln>
        </p:spPr>
      </p:sp>
      <p:sp>
        <p:nvSpPr>
          <p:cNvPr id="15" name="ret-limit-t">
            <a:extLst xmlns:a="http://schemas.openxmlformats.org/drawingml/2006/main">
              <a:ext uri="{FF2B5EF4-FFF2-40B4-BE49-F238E27FC236}">
                <a16:creationId xmlns:a16="http://schemas.microsoft.com/office/drawing/2014/main" id="{195CB5DA-E0E8-47EA-8A91-DCD04FC556F5}"/>
              </a:ext>
            </a:extLst>
          </p:cNvPr>
          <p:cNvSpPr>
            <a:spLocks xmlns:a="http://schemas.openxmlformats.org/drawingml/2006/main" noGrp="1"/>
          </p:cNvSpPr>
          <p:nvPr/>
        </p:nvSpPr>
        <p:spPr>
          <a:xfrm xmlns:a="http://schemas.openxmlformats.org/drawingml/2006/main">
            <a:off x="6143625" y="4695825"/>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D66A5E"/>
                </a:solidFill>
                <a:latin typeface="Helvetica Neue"/>
                <a:ea typeface="Helvetica Neue"/>
                <a:cs typeface="Helvetica Neue"/>
              </a:defRPr>
            </a:pPr>
            <a:r>
              <a:rPr sz="1575" b="1">
                <a:solidFill>
                  <a:srgbClr val="D66A5E"/>
                </a:solidFill>
                <a:latin typeface="Helvetica Neue"/>
                <a:ea typeface="Helvetica Neue"/>
                <a:cs typeface="Helvetica Neue"/>
              </a:rPr>
              <a:t>現在は類似度の採用閾値なし</a:t>
            </a:r>
          </a:p>
          <a:p xmlns:a="http://schemas.openxmlformats.org/drawingml/2006/main">
            <a:pPr algn="ctr">
              <a:defRPr sz="1575" b="1">
                <a:solidFill>
                  <a:srgbClr val="D66A5E"/>
                </a:solidFill>
                <a:latin typeface="Helvetica Neue"/>
                <a:ea typeface="Helvetica Neue"/>
                <a:cs typeface="Helvetica Neue"/>
              </a:defRPr>
            </a:pPr>
            <a:r>
              <a:rPr sz="1575" b="1">
                <a:solidFill>
                  <a:srgbClr val="D66A5E"/>
                </a:solidFill>
                <a:latin typeface="Helvetica Neue"/>
                <a:ea typeface="Helvetica Neue"/>
                <a:cs typeface="Helvetica Neue"/>
              </a:rPr>
              <a:t>候補が少なければ、類似度が低い好みも選ばれ得る</a:t>
            </a:r>
          </a:p>
        </p:txBody>
      </p:sp>
    </p:spTree>
    <p:extLst>
      <p:ext uri="{BB962C8B-B14F-4D97-AF65-F5344CB8AC3E}">
        <p14:creationId xmlns:p14="http://schemas.microsoft.com/office/powerpoint/2010/main" val="82074229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16">
            <a:extLst xmlns:a="http://schemas.openxmlformats.org/drawingml/2006/main">
              <a:ext uri="{FF2B5EF4-FFF2-40B4-BE49-F238E27FC236}">
                <a16:creationId xmlns:a16="http://schemas.microsoft.com/office/drawing/2014/main" id="{11EE48B9-9826-4DF2-B3D0-C5E6039FC0ED}"/>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補足：検索結果を統合し、生成コンテキストへ追加する</a:t>
            </a:r>
          </a:p>
        </p:txBody>
      </p:sp>
      <p:sp>
        <p:nvSpPr>
          <p:cNvPr id="2" name="page-16">
            <a:extLst xmlns:a="http://schemas.openxmlformats.org/drawingml/2006/main">
              <a:ext uri="{FF2B5EF4-FFF2-40B4-BE49-F238E27FC236}">
                <a16:creationId xmlns:a16="http://schemas.microsoft.com/office/drawing/2014/main" id="{C6F7A411-2494-42DC-80DB-0DB050999979}"/>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16</a:t>
            </a:r>
          </a:p>
        </p:txBody>
      </p:sp>
      <p:sp>
        <p:nvSpPr>
          <p:cNvPr id="3" name="con-before-h">
            <a:extLst xmlns:a="http://schemas.openxmlformats.org/drawingml/2006/main">
              <a:ext uri="{FF2B5EF4-FFF2-40B4-BE49-F238E27FC236}">
                <a16:creationId xmlns:a16="http://schemas.microsoft.com/office/drawing/2014/main" id="{341CE442-BD53-4E38-B81C-744B534DEB00}"/>
              </a:ext>
            </a:extLst>
          </p:cNvPr>
          <p:cNvSpPr>
            <a:spLocks xmlns:a="http://schemas.openxmlformats.org/drawingml/2006/main" noGrp="1"/>
          </p:cNvSpPr>
          <p:nvPr/>
        </p:nvSpPr>
        <p:spPr>
          <a:xfrm xmlns:a="http://schemas.openxmlformats.org/drawingml/2006/main">
            <a:off x="619125" y="11906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検索された好み（最大8件）</a:t>
            </a:r>
          </a:p>
        </p:txBody>
      </p:sp>
      <p:sp>
        <p:nvSpPr>
          <p:cNvPr id="4" name="con-before">
            <a:extLst xmlns:a="http://schemas.openxmlformats.org/drawingml/2006/main">
              <a:ext uri="{FF2B5EF4-FFF2-40B4-BE49-F238E27FC236}">
                <a16:creationId xmlns:a16="http://schemas.microsoft.com/office/drawing/2014/main" id="{708DE2FF-F5B1-45E2-B7E1-81E98AE9A6BD}"/>
              </a:ext>
            </a:extLst>
          </p:cNvPr>
          <p:cNvSpPr>
            <a:spLocks xmlns:a="http://schemas.openxmlformats.org/drawingml/2006/main" noGrp="1"/>
          </p:cNvSpPr>
          <p:nvPr/>
        </p:nvSpPr>
        <p:spPr>
          <a:xfrm xmlns:a="http://schemas.openxmlformats.org/drawingml/2006/main">
            <a:off x="619125" y="1714500"/>
            <a:ext cx="4572000" cy="22383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con-before-t">
            <a:extLst xmlns:a="http://schemas.openxmlformats.org/drawingml/2006/main">
              <a:ext uri="{FF2B5EF4-FFF2-40B4-BE49-F238E27FC236}">
                <a16:creationId xmlns:a16="http://schemas.microsoft.com/office/drawing/2014/main" id="{83A7B0C3-541D-47CD-8879-1F860A5CA5B5}"/>
              </a:ext>
            </a:extLst>
          </p:cNvPr>
          <p:cNvSpPr>
            <a:spLocks xmlns:a="http://schemas.openxmlformats.org/drawingml/2006/main" noGrp="1"/>
          </p:cNvSpPr>
          <p:nvPr/>
        </p:nvSpPr>
        <p:spPr>
          <a:xfrm xmlns:a="http://schemas.openxmlformats.org/drawingml/2006/main">
            <a:off x="904875" y="2095500"/>
            <a:ext cx="4000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・抽象説明には具体例を加える</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・身近な例を一つ添える</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・実務的な例で補足する</a:t>
            </a:r>
          </a:p>
        </p:txBody>
      </p:sp>
      <p:sp>
        <p:nvSpPr>
          <p:cNvPr id="6" name="con-arrow">
            <a:extLst xmlns:a="http://schemas.openxmlformats.org/drawingml/2006/main">
              <a:ext uri="{FF2B5EF4-FFF2-40B4-BE49-F238E27FC236}">
                <a16:creationId xmlns:a16="http://schemas.microsoft.com/office/drawing/2014/main" id="{8529C9C4-2D3E-4033-B7B5-70A7EC4C7646}"/>
              </a:ext>
            </a:extLst>
          </p:cNvPr>
          <p:cNvSpPr>
            <a:spLocks xmlns:a="http://schemas.openxmlformats.org/drawingml/2006/main" noGrp="1"/>
          </p:cNvSpPr>
          <p:nvPr/>
        </p:nvSpPr>
        <p:spPr>
          <a:xfrm xmlns:a="http://schemas.openxmlformats.org/drawingml/2006/main">
            <a:off x="5429250" y="2781300"/>
            <a:ext cx="6667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con-model">
            <a:extLst xmlns:a="http://schemas.openxmlformats.org/drawingml/2006/main">
              <a:ext uri="{FF2B5EF4-FFF2-40B4-BE49-F238E27FC236}">
                <a16:creationId xmlns:a16="http://schemas.microsoft.com/office/drawing/2014/main" id="{341F1D9F-9E49-40E0-B118-818D7FD3A4B9}"/>
              </a:ext>
            </a:extLst>
          </p:cNvPr>
          <p:cNvSpPr>
            <a:spLocks xmlns:a="http://schemas.openxmlformats.org/drawingml/2006/main" noGrp="1"/>
          </p:cNvSpPr>
          <p:nvPr/>
        </p:nvSpPr>
        <p:spPr>
          <a:xfrm xmlns:a="http://schemas.openxmlformats.org/drawingml/2006/main">
            <a:off x="6286500" y="1952625"/>
            <a:ext cx="2000250" cy="1714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on-model-t">
            <a:extLst xmlns:a="http://schemas.openxmlformats.org/drawingml/2006/main">
              <a:ext uri="{FF2B5EF4-FFF2-40B4-BE49-F238E27FC236}">
                <a16:creationId xmlns:a16="http://schemas.microsoft.com/office/drawing/2014/main" id="{5B7CF0A8-C9CB-45F1-B575-EE8E7CEECEB3}"/>
              </a:ext>
            </a:extLst>
          </p:cNvPr>
          <p:cNvSpPr>
            <a:spLocks xmlns:a="http://schemas.openxmlformats.org/drawingml/2006/main" noGrp="1"/>
          </p:cNvSpPr>
          <p:nvPr/>
        </p:nvSpPr>
        <p:spPr>
          <a:xfrm xmlns:a="http://schemas.openxmlformats.org/drawingml/2006/main">
            <a:off x="6429375" y="2266950"/>
            <a:ext cx="1714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LLMによる統合</a:t>
            </a:r>
          </a:p>
          <a:p xmlns:a="http://schemas.openxmlformats.org/drawingml/2006/main">
            <a:r>
              <a:t/>
            </a:r>
          </a:p>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共通する好みを優先</a:t>
            </a:r>
          </a:p>
          <a:p xmlns:a="http://schemas.openxmlformats.org/drawingml/2006/main">
            <a:pPr algn="ct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重複・矛盾を除去</a:t>
            </a:r>
          </a:p>
        </p:txBody>
      </p:sp>
      <p:sp>
        <p:nvSpPr>
          <p:cNvPr id="9" name="con-arrow2">
            <a:extLst xmlns:a="http://schemas.openxmlformats.org/drawingml/2006/main">
              <a:ext uri="{FF2B5EF4-FFF2-40B4-BE49-F238E27FC236}">
                <a16:creationId xmlns:a16="http://schemas.microsoft.com/office/drawing/2014/main" id="{067C27D9-EA6E-4796-B0D3-7E5E031BE352}"/>
              </a:ext>
            </a:extLst>
          </p:cNvPr>
          <p:cNvSpPr>
            <a:spLocks xmlns:a="http://schemas.openxmlformats.org/drawingml/2006/main" noGrp="1"/>
          </p:cNvSpPr>
          <p:nvPr/>
        </p:nvSpPr>
        <p:spPr>
          <a:xfrm xmlns:a="http://schemas.openxmlformats.org/drawingml/2006/main">
            <a:off x="8524875" y="2781300"/>
            <a:ext cx="57150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con-after">
            <a:extLst xmlns:a="http://schemas.openxmlformats.org/drawingml/2006/main">
              <a:ext uri="{FF2B5EF4-FFF2-40B4-BE49-F238E27FC236}">
                <a16:creationId xmlns:a16="http://schemas.microsoft.com/office/drawing/2014/main" id="{07B05F18-0A28-41E7-B7FD-FA1F6357EC97}"/>
              </a:ext>
            </a:extLst>
          </p:cNvPr>
          <p:cNvSpPr>
            <a:spLocks xmlns:a="http://schemas.openxmlformats.org/drawingml/2006/main" noGrp="1"/>
          </p:cNvSpPr>
          <p:nvPr/>
        </p:nvSpPr>
        <p:spPr>
          <a:xfrm xmlns:a="http://schemas.openxmlformats.org/drawingml/2006/main">
            <a:off x="9286875" y="1714500"/>
            <a:ext cx="2286000" cy="2238375"/>
          </a:xfrm>
          <a:prstGeom xmlns:a="http://schemas.openxmlformats.org/drawingml/2006/main" prst="rect">
            <a:avLst/>
          </a:prstGeom>
          <a:solidFill xmlns:a="http://schemas.openxmlformats.org/drawingml/2006/main">
            <a:srgbClr val="F9E6C8"/>
          </a:solidFill>
          <a:ln xmlns:a="http://schemas.openxmlformats.org/drawingml/2006/main" w="0">
            <a:noFill/>
            <a:prstDash val="solid"/>
          </a:ln>
        </p:spPr>
      </p:sp>
      <p:sp>
        <p:nvSpPr>
          <p:cNvPr id="11" name="con-after-t">
            <a:extLst xmlns:a="http://schemas.openxmlformats.org/drawingml/2006/main">
              <a:ext uri="{FF2B5EF4-FFF2-40B4-BE49-F238E27FC236}">
                <a16:creationId xmlns:a16="http://schemas.microsoft.com/office/drawing/2014/main" id="{73FE9D2F-CF8B-4699-8251-AC49AB4CB3E5}"/>
              </a:ext>
            </a:extLst>
          </p:cNvPr>
          <p:cNvSpPr>
            <a:spLocks xmlns:a="http://schemas.openxmlformats.org/drawingml/2006/main" noGrp="1"/>
          </p:cNvSpPr>
          <p:nvPr/>
        </p:nvSpPr>
        <p:spPr>
          <a:xfrm xmlns:a="http://schemas.openxmlformats.org/drawingml/2006/main">
            <a:off x="9477375" y="2047875"/>
            <a:ext cx="1905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[Learned Preferences]</a:t>
            </a:r>
          </a:p>
          <a:p xmlns:a="http://schemas.openxmlformats.org/drawingml/2006/main">
            <a:r>
              <a:t/>
            </a:r>
          </a:p>
          <a:p xmlns:a="http://schemas.openxmlformats.org/drawingml/2006/main">
            <a:pPr algn="ctr">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抽象概念には</a:t>
            </a:r>
          </a:p>
          <a:p xmlns:a="http://schemas.openxmlformats.org/drawingml/2006/main">
            <a:pPr algn="ctr">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内容に合う具体例を</a:t>
            </a:r>
          </a:p>
          <a:p xmlns:a="http://schemas.openxmlformats.org/drawingml/2006/main">
            <a:pPr algn="ctr">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一つ添える</a:t>
            </a:r>
          </a:p>
        </p:txBody>
      </p:sp>
      <p:sp>
        <p:nvSpPr>
          <p:cNvPr id="12" name="prompt-rule-h">
            <a:extLst xmlns:a="http://schemas.openxmlformats.org/drawingml/2006/main">
              <a:ext uri="{FF2B5EF4-FFF2-40B4-BE49-F238E27FC236}">
                <a16:creationId xmlns:a16="http://schemas.microsoft.com/office/drawing/2014/main" id="{08A86086-B895-442E-8872-FD1E361BE37E}"/>
              </a:ext>
            </a:extLst>
          </p:cNvPr>
          <p:cNvSpPr>
            <a:spLocks xmlns:a="http://schemas.openxmlformats.org/drawingml/2006/main" noGrp="1"/>
          </p:cNvSpPr>
          <p:nvPr/>
        </p:nvSpPr>
        <p:spPr>
          <a:xfrm xmlns:a="http://schemas.openxmlformats.org/drawingml/2006/main">
            <a:off x="762000" y="45720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生成時の優先規則</a:t>
            </a:r>
          </a:p>
        </p:txBody>
      </p:sp>
      <p:sp>
        <p:nvSpPr>
          <p:cNvPr id="13" name="prompt-rule">
            <a:extLst xmlns:a="http://schemas.openxmlformats.org/drawingml/2006/main">
              <a:ext uri="{FF2B5EF4-FFF2-40B4-BE49-F238E27FC236}">
                <a16:creationId xmlns:a16="http://schemas.microsoft.com/office/drawing/2014/main" id="{AE1ADEB9-53EB-40A1-AA5D-36540A1A1453}"/>
              </a:ext>
            </a:extLst>
          </p:cNvPr>
          <p:cNvSpPr>
            <a:spLocks xmlns:a="http://schemas.openxmlformats.org/drawingml/2006/main" noGrp="1"/>
          </p:cNvSpPr>
          <p:nvPr/>
        </p:nvSpPr>
        <p:spPr>
          <a:xfrm xmlns:a="http://schemas.openxmlformats.org/drawingml/2006/main">
            <a:off x="762000" y="5095875"/>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スライド内容への忠実性を最優先し、好みは該当する場合だけ説明順序・補足量・言い換え方へ反映する</a:t>
            </a:r>
          </a:p>
        </p:txBody>
      </p:sp>
      <p:sp>
        <p:nvSpPr>
          <p:cNvPr id="14" name="prompt-limit">
            <a:extLst xmlns:a="http://schemas.openxmlformats.org/drawingml/2006/main">
              <a:ext uri="{FF2B5EF4-FFF2-40B4-BE49-F238E27FC236}">
                <a16:creationId xmlns:a16="http://schemas.microsoft.com/office/drawing/2014/main" id="{D6ABCF8F-4BBE-4D72-835A-C5AF4D9EA77D}"/>
              </a:ext>
            </a:extLst>
          </p:cNvPr>
          <p:cNvSpPr>
            <a:spLocks xmlns:a="http://schemas.openxmlformats.org/drawingml/2006/main" noGrp="1"/>
          </p:cNvSpPr>
          <p:nvPr/>
        </p:nvSpPr>
        <p:spPr>
          <a:xfrm xmlns:a="http://schemas.openxmlformats.org/drawingml/2006/main">
            <a:off x="1238250" y="590550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a:solidFill>
                  <a:srgbClr val="D66A5E"/>
                </a:solidFill>
                <a:latin typeface="Helvetica Neue"/>
                <a:ea typeface="Helvetica Neue"/>
                <a:cs typeface="Helvetica Neue"/>
              </a:defRPr>
            </a:pPr>
            <a:r>
              <a:rPr sz="1425" b="1">
                <a:solidFill>
                  <a:srgbClr val="D66A5E"/>
                </a:solidFill>
                <a:latin typeface="Helvetica Neue"/>
                <a:ea typeface="Helvetica Neue"/>
                <a:cs typeface="Helvetica Neue"/>
              </a:rPr>
              <a:t>制限：決定論的な統合ではなく、元の好みもEvidenceとして併記されるため重複が残る可能性がある</a:t>
            </a:r>
          </a:p>
        </p:txBody>
      </p:sp>
    </p:spTree>
    <p:extLst>
      <p:ext uri="{BB962C8B-B14F-4D97-AF65-F5344CB8AC3E}">
        <p14:creationId xmlns:p14="http://schemas.microsoft.com/office/powerpoint/2010/main" val="16869836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2026-08-17T03:17:41.5960000Z</dcterms:created>
  <dcterms:modified xsi:type="dcterms:W3CDTF">2026-08-17T03:17:41.5960000Z</dcterms:modified>
</coreProperties>
</file>